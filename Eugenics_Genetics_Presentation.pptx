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follows the required sections from introduction to references. The topic is discussed through two research papers on polygenic embryo selection. No calendar date or time is displayed.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inheritance is real, but inherited differences do not rank the value of people. Voluntary medical testing and coercive population programmes must be assessed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cases show how institutions used authority over people with little power to refuse. Different national programmes were not identical. Nazi persecution also had causes and goals beyond eugenics.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HEXA encodes the alpha subunit of beta-hexosaminidase A. This example illustrates one molecular mechanism of inherited disease. It does not imply that eugenics itself is a molecular pathway or that every condition follows this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assumes classic recessive inheritance and a well-understood pathogenic variant. Carriers generally do not have the classic recessive condition. Do not present these percentages as an IVF live-birth rate or as an exact family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PGT means preimplantation genetic testing; IVF means in vitro fertilization. PGT-M is for monogenic conditions. Polygenic scores are probabilistic and their clinical benefit depends on context. Somatic gene editing treats the person; heritable editing can affect descendants. A negative test is not a guarantee of a healthy child.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polygenic score combines many genetic associations. This paper evaluated quantitative traits through modelling and empirical family analyses. Its conclusions should not automatically be extended to all future scores, every disease, or every IVF situation. The title and modelling purpose were corroborated in the authors’ research repository and the second paper.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text was inspected in eLife’s official XML archive. Excluding high-risk embryos gave relatively modest reductions, while prioritizing the lowest-risk embryo could yield substantial relative reductions under assumptions. The real-data analysis simulated offspring from case-control genomes; it did not follow children born after screening. The model considered one target disease at a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in the example are invented only to explain absolute and relative risk. They are not a result from either paper. Different findings are compatible because selecting for a quantitative trait and reducing disease risk involve different outcomes.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Benefits should be assessed for the whole reproductive pathway, including the burdens and alternatives. Avoid claiming that all reproductive selection has the same benefit or that families have a duty to use a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questions concern both individual choice and the social setting. Even a test called optional may create pressure if support is withdrawn from families who refuse. Explain uncertainty and different moral views without devaluing disabled people.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teaching framework, not a medical guideline. Passing these checks is not automatic approval. Heritable genome editing needs additional safety evidence and independent oversight. Voluntary PGT-M can be permissible without becoming a duty.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improvements could change technical possibilities but cannot decide what society should value. Clinical utility must be shown with realistic comparisons, and long-term monitoring must protect privacy.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title directly. Distinguish a bounded reproductive option from a population eugenics programme. Respect both families who choose testing and families who do not. Support for people living with genetic conditions must continue.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main research papers are references 1 and 2. The full text of reference 2 was inspected in eLife’s official publication archive. Reference 1 was corroborated using the authors’ code repository and its discussion in reference 2. Other sources provide background and clinical or ethical guidance. Some original websites were blocked by the environment, as disclosed in the earlier report. Bibliographic years and cover dates are omitted to follow the request for no dates or times.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cell.2019.10.033" TargetMode="External"/><Relationship Id="rId3" Type="http://schemas.openxmlformats.org/officeDocument/2006/relationships/hyperlink" Target="https://doi.org/10.7554/eLife.64716" TargetMode="External"/><Relationship Id="rId4" Type="http://schemas.openxmlformats.org/officeDocument/2006/relationships/hyperlink" Target="https://www.ncbi.nlm.nih.gov/books/NBK1218/" TargetMode="External"/><Relationship Id="rId5" Type="http://schemas.openxmlformats.org/officeDocument/2006/relationships/hyperlink" Target="https://www.hfea.gov.uk/treatments/embryo-testing-and-treatments-for-disease/pre-implantation-genetic-testing-for-monogenic-disorders-pgt-m-and-pre-implantation-genetic-testing-for-chromosomal-structural-rearrangements-pgt-sr/" TargetMode="External"/><Relationship Id="rId6" Type="http://schemas.openxmlformats.org/officeDocument/2006/relationships/hyperlink" Target="https://www.who.int/publications/i/item/9789240030381" TargetMode="External"/><Relationship Id="rId7" Type="http://schemas.openxmlformats.org/officeDocument/2006/relationships/hyperlink" Target="https://encyclopedia.ushmm.org/content/en/article/eugenics" TargetMode="External"/><Relationship Id="rId8" Type="http://schemas.openxmlformats.org/officeDocument/2006/relationships/hyperlink" Target="https://www.ohchr.org/en/instruments-mechanisms/instruments/convention-rights-persons-disabilities" TargetMode="External"/><Relationship Id="rId9"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8"/>
        </a:solidFill>
        <a:effectLst/>
      </p:bgPr>
    </p:bg>
    <p:spTree>
      <p:nvGrpSpPr>
        <p:cNvPr id="1" name=""/>
        <p:cNvGrpSpPr/>
        <p:nvPr/>
      </p:nvGrpSpPr>
      <p:grpSpPr/>
      <p:sp>
        <p:nvSpPr>
          <p:cNvPr id="2" name="Rectangle 1"/>
          <p:cNvSpPr/>
          <p:nvPr/>
        </p:nvSpPr>
        <p:spPr>
          <a:xfrm>
            <a:off x="0" y="0"/>
            <a:ext cx="12191999" cy="155448"/>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77240" y="393192"/>
            <a:ext cx="10643616" cy="411480"/>
          </a:xfrm>
          <a:prstGeom prst="rect">
            <a:avLst/>
          </a:prstGeom>
          <a:noFill/>
        </p:spPr>
        <p:txBody>
          <a:bodyPr wrap="square" lIns="0" rIns="0" tIns="0" bIns="0" anchor="t">
            <a:spAutoFit/>
          </a:bodyPr>
          <a:lstStyle/>
          <a:p>
            <a:pPr algn="ctr">
              <a:lnSpc>
                <a:spcPts val="2950"/>
              </a:lnSpc>
              <a:spcAft>
                <a:spcPts val="800"/>
              </a:spcAft>
            </a:pPr>
            <a:r>
              <a:rPr sz="2500" b="1">
                <a:solidFill>
                  <a:srgbClr val="276452"/>
                </a:solidFill>
                <a:latin typeface="Liberation Sans"/>
              </a:rPr>
              <a:t>Bhaskaracharya College of Applied Science</a:t>
            </a:r>
          </a:p>
        </p:txBody>
      </p:sp>
      <p:sp>
        <p:nvSpPr>
          <p:cNvPr id="4" name="TextBox 3"/>
          <p:cNvSpPr txBox="1"/>
          <p:nvPr/>
        </p:nvSpPr>
        <p:spPr>
          <a:xfrm>
            <a:off x="914400" y="905256"/>
            <a:ext cx="10360152" cy="347472"/>
          </a:xfrm>
          <a:prstGeom prst="rect">
            <a:avLst/>
          </a:prstGeom>
          <a:noFill/>
        </p:spPr>
        <p:txBody>
          <a:bodyPr wrap="square" lIns="0" rIns="0" tIns="0" bIns="0" anchor="t">
            <a:spAutoFit/>
          </a:bodyPr>
          <a:lstStyle/>
          <a:p>
            <a:pPr algn="ctr">
              <a:lnSpc>
                <a:spcPts val="2595"/>
              </a:lnSpc>
              <a:spcAft>
                <a:spcPts val="800"/>
              </a:spcAft>
            </a:pPr>
            <a:r>
              <a:rPr sz="2200" b="0">
                <a:solidFill>
                  <a:srgbClr val="24312E"/>
                </a:solidFill>
                <a:latin typeface="Liberation Sans"/>
              </a:rPr>
              <a:t>University of Delhi</a:t>
            </a:r>
          </a:p>
        </p:txBody>
      </p:sp>
      <p:cxnSp>
        <p:nvCxnSpPr>
          <p:cNvPr id="5" name="Connector 4"/>
          <p:cNvCxnSpPr/>
          <p:nvPr/>
        </p:nvCxnSpPr>
        <p:spPr>
          <a:xfrm>
            <a:off x="1280160" y="1472184"/>
            <a:ext cx="9628632" cy="0"/>
          </a:xfrm>
          <a:prstGeom prst="line">
            <a:avLst/>
          </a:prstGeom>
          <a:ln w="1651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914400" y="1755648"/>
            <a:ext cx="10360152" cy="420624"/>
          </a:xfrm>
          <a:prstGeom prst="rect">
            <a:avLst/>
          </a:prstGeom>
          <a:noFill/>
        </p:spPr>
        <p:txBody>
          <a:bodyPr wrap="square" lIns="0" rIns="0" tIns="0" bIns="0" anchor="t">
            <a:spAutoFit/>
          </a:bodyPr>
          <a:lstStyle/>
          <a:p>
            <a:pPr algn="ctr">
              <a:lnSpc>
                <a:spcPts val="2950"/>
              </a:lnSpc>
              <a:spcAft>
                <a:spcPts val="800"/>
              </a:spcAft>
            </a:pPr>
            <a:r>
              <a:rPr sz="2500" b="1">
                <a:solidFill>
                  <a:srgbClr val="24312E"/>
                </a:solidFill>
                <a:latin typeface="Liberation Sans"/>
              </a:rPr>
              <a:t>Fundamental of Genetics report file</a:t>
            </a:r>
          </a:p>
        </p:txBody>
      </p:sp>
      <p:sp>
        <p:nvSpPr>
          <p:cNvPr id="7" name="Rectangle 6"/>
          <p:cNvSpPr/>
          <p:nvPr/>
        </p:nvSpPr>
        <p:spPr>
          <a:xfrm>
            <a:off x="1051560" y="2468880"/>
            <a:ext cx="10085832" cy="1673352"/>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353312" y="2688336"/>
            <a:ext cx="9491472" cy="402336"/>
          </a:xfrm>
          <a:prstGeom prst="rect">
            <a:avLst/>
          </a:prstGeom>
          <a:noFill/>
        </p:spPr>
        <p:txBody>
          <a:bodyPr wrap="square" lIns="0" rIns="0" tIns="0" bIns="0" anchor="t">
            <a:spAutoFit/>
          </a:bodyPr>
          <a:lstStyle/>
          <a:p>
            <a:pPr algn="ctr">
              <a:lnSpc>
                <a:spcPts val="3304"/>
              </a:lnSpc>
              <a:spcAft>
                <a:spcPts val="800"/>
              </a:spcAft>
            </a:pPr>
            <a:r>
              <a:rPr sz="2800" b="1">
                <a:solidFill>
                  <a:srgbClr val="276452"/>
                </a:solidFill>
                <a:latin typeface="Liberation Sans"/>
              </a:rPr>
              <a:t>Topic: Eugenics</a:t>
            </a:r>
          </a:p>
        </p:txBody>
      </p:sp>
      <p:sp>
        <p:nvSpPr>
          <p:cNvPr id="9" name="TextBox 8"/>
          <p:cNvSpPr txBox="1"/>
          <p:nvPr/>
        </p:nvSpPr>
        <p:spPr>
          <a:xfrm>
            <a:off x="1444752" y="3246120"/>
            <a:ext cx="9308592" cy="676656"/>
          </a:xfrm>
          <a:prstGeom prst="rect">
            <a:avLst/>
          </a:prstGeom>
          <a:noFill/>
        </p:spPr>
        <p:txBody>
          <a:bodyPr wrap="square" lIns="0" rIns="0" tIns="0" bIns="0" anchor="t">
            <a:spAutoFit/>
          </a:bodyPr>
          <a:lstStyle/>
          <a:p>
            <a:pPr algn="ctr">
              <a:lnSpc>
                <a:spcPts val="2950"/>
              </a:lnSpc>
              <a:spcAft>
                <a:spcPts val="800"/>
              </a:spcAft>
            </a:pPr>
            <a:r>
              <a:rPr sz="2500" b="0">
                <a:solidFill>
                  <a:srgbClr val="24312E"/>
                </a:solidFill>
                <a:latin typeface="Liberation Sans"/>
              </a:rPr>
              <a:t>Can selective reproduction ever be scientifically
or ethically justified?</a:t>
            </a:r>
          </a:p>
        </p:txBody>
      </p:sp>
      <p:sp>
        <p:nvSpPr>
          <p:cNvPr id="10" name="TextBox 9"/>
          <p:cNvSpPr txBox="1"/>
          <p:nvPr/>
        </p:nvSpPr>
        <p:spPr>
          <a:xfrm>
            <a:off x="1417320" y="4736592"/>
            <a:ext cx="4572000" cy="329184"/>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Submitted to</a:t>
            </a:r>
          </a:p>
        </p:txBody>
      </p:sp>
      <p:sp>
        <p:nvSpPr>
          <p:cNvPr id="11" name="TextBox 10"/>
          <p:cNvSpPr txBox="1"/>
          <p:nvPr/>
        </p:nvSpPr>
        <p:spPr>
          <a:xfrm>
            <a:off x="1417320" y="5257800"/>
            <a:ext cx="4937760" cy="813816"/>
          </a:xfrm>
          <a:prstGeom prst="rect">
            <a:avLst/>
          </a:prstGeom>
          <a:noFill/>
        </p:spPr>
        <p:txBody>
          <a:bodyPr wrap="square" lIns="0" rIns="0" tIns="0" bIns="0" anchor="t">
            <a:spAutoFit/>
          </a:bodyPr>
          <a:lstStyle/>
          <a:p>
            <a:pPr algn="l">
              <a:lnSpc>
                <a:spcPts val="2477"/>
              </a:lnSpc>
              <a:spcAft>
                <a:spcPts val="800"/>
              </a:spcAft>
            </a:pPr>
            <a:r>
              <a:rPr sz="2100" b="0">
                <a:solidFill>
                  <a:srgbClr val="24312E"/>
                </a:solidFill>
                <a:latin typeface="Liberation Sans"/>
              </a:rPr>
              <a:t>Dr Anjali mam</a:t>
            </a:r>
          </a:p>
          <a:p>
            <a:pPr algn="l">
              <a:lnSpc>
                <a:spcPts val="2477"/>
              </a:lnSpc>
              <a:spcAft>
                <a:spcPts val="800"/>
              </a:spcAft>
            </a:pPr>
            <a:r>
              <a:rPr sz="2100" b="0">
                <a:solidFill>
                  <a:srgbClr val="24312E"/>
                </a:solidFill>
                <a:latin typeface="Liberation Sans"/>
              </a:rPr>
              <a:t>Dr Rishikesh K. Laxmi</a:t>
            </a:r>
          </a:p>
        </p:txBody>
      </p:sp>
      <p:sp>
        <p:nvSpPr>
          <p:cNvPr id="12" name="TextBox 11"/>
          <p:cNvSpPr txBox="1"/>
          <p:nvPr/>
        </p:nvSpPr>
        <p:spPr>
          <a:xfrm>
            <a:off x="7315200" y="4736592"/>
            <a:ext cx="3474720" cy="329184"/>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Submitted by</a:t>
            </a:r>
          </a:p>
        </p:txBody>
      </p:sp>
      <p:sp>
        <p:nvSpPr>
          <p:cNvPr id="13" name="TextBox 12"/>
          <p:cNvSpPr txBox="1"/>
          <p:nvPr/>
        </p:nvSpPr>
        <p:spPr>
          <a:xfrm>
            <a:off x="7315200" y="5257800"/>
            <a:ext cx="3566160" cy="813816"/>
          </a:xfrm>
          <a:prstGeom prst="rect">
            <a:avLst/>
          </a:prstGeom>
          <a:noFill/>
        </p:spPr>
        <p:txBody>
          <a:bodyPr wrap="square" lIns="0" rIns="0" tIns="0" bIns="0" anchor="t">
            <a:spAutoFit/>
          </a:bodyPr>
          <a:lstStyle/>
          <a:p>
            <a:pPr algn="l">
              <a:lnSpc>
                <a:spcPts val="2477"/>
              </a:lnSpc>
              <a:spcAft>
                <a:spcPts val="800"/>
              </a:spcAft>
            </a:pPr>
            <a:r>
              <a:rPr sz="2100" b="0">
                <a:solidFill>
                  <a:srgbClr val="24312E"/>
                </a:solidFill>
                <a:latin typeface="Liberation Sans"/>
              </a:rPr>
              <a:t>Prachi Yadav</a:t>
            </a:r>
          </a:p>
          <a:p>
            <a:pPr algn="l">
              <a:lnSpc>
                <a:spcPts val="2477"/>
              </a:lnSpc>
              <a:spcAft>
                <a:spcPts val="800"/>
              </a:spcAft>
            </a:pPr>
            <a:r>
              <a:rPr sz="2100" b="0">
                <a:solidFill>
                  <a:srgbClr val="24312E"/>
                </a:solidFill>
                <a:latin typeface="Liberation Sans"/>
              </a:rPr>
              <a:t>2411024</a:t>
            </a:r>
          </a:p>
        </p:txBody>
      </p:sp>
      <p:cxnSp>
        <p:nvCxnSpPr>
          <p:cNvPr id="14" name="Connector 13"/>
          <p:cNvCxnSpPr/>
          <p:nvPr/>
        </p:nvCxnSpPr>
        <p:spPr>
          <a:xfrm>
            <a:off x="6537960" y="4718304"/>
            <a:ext cx="0" cy="1344168"/>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a. Introduction</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Concept, scientific background, and relevance</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 [6]</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2</a:t>
            </a:r>
          </a:p>
        </p:txBody>
      </p:sp>
      <p:sp>
        <p:nvSpPr>
          <p:cNvPr id="9" name="Rectangle 8"/>
          <p:cNvSpPr/>
          <p:nvPr/>
        </p:nvSpPr>
        <p:spPr>
          <a:xfrm>
            <a:off x="594360" y="1417320"/>
            <a:ext cx="3547872" cy="3447288"/>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1581912"/>
            <a:ext cx="31455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What is eugenics?</a:t>
            </a:r>
          </a:p>
        </p:txBody>
      </p:sp>
      <p:sp>
        <p:nvSpPr>
          <p:cNvPr id="11" name="TextBox 10"/>
          <p:cNvSpPr txBox="1"/>
          <p:nvPr/>
        </p:nvSpPr>
        <p:spPr>
          <a:xfrm>
            <a:off x="795528" y="2020824"/>
            <a:ext cx="3145536" cy="2688336"/>
          </a:xfrm>
          <a:prstGeom prst="rect">
            <a:avLst/>
          </a:prstGeom>
          <a:noFill/>
        </p:spPr>
        <p:txBody>
          <a:bodyPr wrap="square" lIns="0" rIns="0" tIns="0" bIns="0" anchor="t">
            <a:spAutoFit/>
          </a:bodyPr>
          <a:lstStyle/>
          <a:p>
            <a:pPr algn="l">
              <a:lnSpc>
                <a:spcPts val="2360"/>
              </a:lnSpc>
              <a:spcAft>
                <a:spcPts val="800"/>
              </a:spcAft>
            </a:pPr>
            <a:r>
              <a:rPr sz="2000" b="0">
                <a:solidFill>
                  <a:srgbClr val="24312E"/>
                </a:solidFill>
                <a:latin typeface="Liberation Sans"/>
              </a:rPr>
              <a:t>An attempt to change the inherited features of a population by influencing who reproduces.
It has often involved ideas about “desirable” and “undesirable” people.</a:t>
            </a:r>
          </a:p>
        </p:txBody>
      </p:sp>
      <p:sp>
        <p:nvSpPr>
          <p:cNvPr id="12" name="Rectangle 11"/>
          <p:cNvSpPr/>
          <p:nvPr/>
        </p:nvSpPr>
        <p:spPr>
          <a:xfrm>
            <a:off x="4315968" y="1417320"/>
            <a:ext cx="3547872" cy="3447288"/>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17136" y="1581912"/>
            <a:ext cx="31455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Scientific background</a:t>
            </a:r>
          </a:p>
        </p:txBody>
      </p:sp>
      <p:sp>
        <p:nvSpPr>
          <p:cNvPr id="14" name="TextBox 13"/>
          <p:cNvSpPr txBox="1"/>
          <p:nvPr/>
        </p:nvSpPr>
        <p:spPr>
          <a:xfrm>
            <a:off x="4517136" y="2020824"/>
            <a:ext cx="3145536" cy="2688336"/>
          </a:xfrm>
          <a:prstGeom prst="rect">
            <a:avLst/>
          </a:prstGeom>
          <a:noFill/>
        </p:spPr>
        <p:txBody>
          <a:bodyPr wrap="square" lIns="0" rIns="0" tIns="0" bIns="0" anchor="t">
            <a:spAutoFit/>
          </a:bodyPr>
          <a:lstStyle/>
          <a:p>
            <a:pPr algn="l">
              <a:lnSpc>
                <a:spcPts val="2360"/>
              </a:lnSpc>
              <a:spcAft>
                <a:spcPts val="800"/>
              </a:spcAft>
            </a:pPr>
            <a:r>
              <a:rPr sz="2000" b="0">
                <a:solidFill>
                  <a:srgbClr val="24312E"/>
                </a:solidFill>
                <a:latin typeface="Liberation Sans"/>
              </a:rPr>
              <a:t>Traits can be inherited through genes. Francis Galton introduced the term eugenics.
But many traits also depend on environment and cannot be predicted by one gene.</a:t>
            </a:r>
          </a:p>
        </p:txBody>
      </p:sp>
      <p:sp>
        <p:nvSpPr>
          <p:cNvPr id="15" name="Rectangle 14"/>
          <p:cNvSpPr/>
          <p:nvPr/>
        </p:nvSpPr>
        <p:spPr>
          <a:xfrm>
            <a:off x="8037575" y="1417320"/>
            <a:ext cx="3547872" cy="3447288"/>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238744" y="1581912"/>
            <a:ext cx="31455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Why is it relevant?</a:t>
            </a:r>
          </a:p>
        </p:txBody>
      </p:sp>
      <p:sp>
        <p:nvSpPr>
          <p:cNvPr id="17" name="TextBox 16"/>
          <p:cNvSpPr txBox="1"/>
          <p:nvPr/>
        </p:nvSpPr>
        <p:spPr>
          <a:xfrm>
            <a:off x="8238744" y="2020824"/>
            <a:ext cx="3145536" cy="2688336"/>
          </a:xfrm>
          <a:prstGeom prst="rect">
            <a:avLst/>
          </a:prstGeom>
          <a:noFill/>
        </p:spPr>
        <p:txBody>
          <a:bodyPr wrap="square" lIns="0" rIns="0" tIns="0" bIns="0" anchor="t">
            <a:spAutoFit/>
          </a:bodyPr>
          <a:lstStyle/>
          <a:p>
            <a:pPr algn="l">
              <a:lnSpc>
                <a:spcPts val="2360"/>
              </a:lnSpc>
              <a:spcAft>
                <a:spcPts val="800"/>
              </a:spcAft>
            </a:pPr>
            <a:r>
              <a:rPr sz="2000" b="0">
                <a:solidFill>
                  <a:srgbClr val="24312E"/>
                </a:solidFill>
                <a:latin typeface="Liberation Sans"/>
              </a:rPr>
              <a:t>Genetic testing can help families understand inherited disease risks.
It also raises questions about choice, disability, fairness, and pressure on parents.</a:t>
            </a:r>
          </a:p>
        </p:txBody>
      </p:sp>
      <p:sp>
        <p:nvSpPr>
          <p:cNvPr id="18" name="Rectangle 17"/>
          <p:cNvSpPr/>
          <p:nvPr/>
        </p:nvSpPr>
        <p:spPr>
          <a:xfrm>
            <a:off x="594360" y="5285232"/>
            <a:ext cx="11000232" cy="58521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86384" y="5404104"/>
            <a:ext cx="10607040" cy="365760"/>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Key question: When does reducing disease risk become control over reproduction?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a. A short history</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Why the past matters</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[6], [7]</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3</a:t>
            </a:r>
          </a:p>
        </p:txBody>
      </p:sp>
      <p:sp>
        <p:nvSpPr>
          <p:cNvPr id="9" name="Oval 8"/>
          <p:cNvSpPr/>
          <p:nvPr/>
        </p:nvSpPr>
        <p:spPr>
          <a:xfrm>
            <a:off x="694944" y="1508760"/>
            <a:ext cx="365760" cy="365760"/>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94944" y="1559052"/>
            <a:ext cx="365760" cy="182880"/>
          </a:xfrm>
          <a:prstGeom prst="rect">
            <a:avLst/>
          </a:prstGeom>
          <a:noFill/>
        </p:spPr>
        <p:txBody>
          <a:bodyPr wrap="square" lIns="0" rIns="0" tIns="0" bIns="0" anchor="t">
            <a:spAutoFit/>
          </a:bodyPr>
          <a:lstStyle/>
          <a:p>
            <a:pPr algn="ctr">
              <a:lnSpc>
                <a:spcPts val="1416"/>
              </a:lnSpc>
              <a:spcAft>
                <a:spcPts val="800"/>
              </a:spcAft>
            </a:pPr>
            <a:r>
              <a:rPr sz="1200" b="1">
                <a:solidFill>
                  <a:srgbClr val="FFFFFF"/>
                </a:solidFill>
                <a:latin typeface="Liberation Sans"/>
              </a:rPr>
              <a:t>1</a:t>
            </a:r>
          </a:p>
        </p:txBody>
      </p:sp>
      <p:sp>
        <p:nvSpPr>
          <p:cNvPr id="11" name="TextBox 10"/>
          <p:cNvSpPr txBox="1"/>
          <p:nvPr/>
        </p:nvSpPr>
        <p:spPr>
          <a:xfrm>
            <a:off x="1280160" y="1463040"/>
            <a:ext cx="9966960" cy="365760"/>
          </a:xfrm>
          <a:prstGeom prst="rect">
            <a:avLst/>
          </a:prstGeom>
          <a:noFill/>
        </p:spPr>
        <p:txBody>
          <a:bodyPr wrap="square" lIns="0" rIns="0" tIns="0" bIns="0" anchor="t">
            <a:spAutoFit/>
          </a:bodyPr>
          <a:lstStyle/>
          <a:p>
            <a:pPr algn="l">
              <a:lnSpc>
                <a:spcPts val="2595"/>
              </a:lnSpc>
              <a:spcAft>
                <a:spcPts val="800"/>
              </a:spcAft>
            </a:pPr>
            <a:r>
              <a:rPr sz="2200" b="1">
                <a:solidFill>
                  <a:srgbClr val="276452"/>
                </a:solidFill>
                <a:latin typeface="Liberation Sans"/>
              </a:rPr>
              <a:t>Galton’s ideas</a:t>
            </a:r>
          </a:p>
        </p:txBody>
      </p:sp>
      <p:sp>
        <p:nvSpPr>
          <p:cNvPr id="12" name="TextBox 11"/>
          <p:cNvSpPr txBox="1"/>
          <p:nvPr/>
        </p:nvSpPr>
        <p:spPr>
          <a:xfrm>
            <a:off x="1280160" y="1929384"/>
            <a:ext cx="9646920" cy="658368"/>
          </a:xfrm>
          <a:prstGeom prst="rect">
            <a:avLst/>
          </a:prstGeom>
          <a:noFill/>
        </p:spPr>
        <p:txBody>
          <a:bodyPr wrap="square" lIns="0" rIns="0" tIns="0" bIns="0" anchor="t">
            <a:spAutoFit/>
          </a:bodyPr>
          <a:lstStyle/>
          <a:p>
            <a:pPr algn="l">
              <a:lnSpc>
                <a:spcPts val="2477"/>
              </a:lnSpc>
              <a:spcAft>
                <a:spcPts val="800"/>
              </a:spcAft>
            </a:pPr>
            <a:r>
              <a:rPr sz="2100" b="0">
                <a:solidFill>
                  <a:srgbClr val="24312E"/>
                </a:solidFill>
                <a:latin typeface="Liberation Sans"/>
              </a:rPr>
              <a:t>He proposed encouraging the reproduction of people considered to have desirable inherited traits.</a:t>
            </a:r>
          </a:p>
        </p:txBody>
      </p:sp>
      <p:sp>
        <p:nvSpPr>
          <p:cNvPr id="13" name="Oval 12"/>
          <p:cNvSpPr/>
          <p:nvPr/>
        </p:nvSpPr>
        <p:spPr>
          <a:xfrm>
            <a:off x="694944" y="2788920"/>
            <a:ext cx="365760" cy="365760"/>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94944" y="2839212"/>
            <a:ext cx="365760" cy="182880"/>
          </a:xfrm>
          <a:prstGeom prst="rect">
            <a:avLst/>
          </a:prstGeom>
          <a:noFill/>
        </p:spPr>
        <p:txBody>
          <a:bodyPr wrap="square" lIns="0" rIns="0" tIns="0" bIns="0" anchor="t">
            <a:spAutoFit/>
          </a:bodyPr>
          <a:lstStyle/>
          <a:p>
            <a:pPr algn="ctr">
              <a:lnSpc>
                <a:spcPts val="1416"/>
              </a:lnSpc>
              <a:spcAft>
                <a:spcPts val="800"/>
              </a:spcAft>
            </a:pPr>
            <a:r>
              <a:rPr sz="1200" b="1">
                <a:solidFill>
                  <a:srgbClr val="FFFFFF"/>
                </a:solidFill>
                <a:latin typeface="Liberation Sans"/>
              </a:rPr>
              <a:t>2</a:t>
            </a:r>
          </a:p>
        </p:txBody>
      </p:sp>
      <p:sp>
        <p:nvSpPr>
          <p:cNvPr id="15" name="TextBox 14"/>
          <p:cNvSpPr txBox="1"/>
          <p:nvPr/>
        </p:nvSpPr>
        <p:spPr>
          <a:xfrm>
            <a:off x="1280160" y="2743200"/>
            <a:ext cx="9966960" cy="365760"/>
          </a:xfrm>
          <a:prstGeom prst="rect">
            <a:avLst/>
          </a:prstGeom>
          <a:noFill/>
        </p:spPr>
        <p:txBody>
          <a:bodyPr wrap="square" lIns="0" rIns="0" tIns="0" bIns="0" anchor="t">
            <a:spAutoFit/>
          </a:bodyPr>
          <a:lstStyle/>
          <a:p>
            <a:pPr algn="l">
              <a:lnSpc>
                <a:spcPts val="2595"/>
              </a:lnSpc>
              <a:spcAft>
                <a:spcPts val="800"/>
              </a:spcAft>
            </a:pPr>
            <a:r>
              <a:rPr sz="2200" b="1">
                <a:solidFill>
                  <a:srgbClr val="276452"/>
                </a:solidFill>
                <a:latin typeface="Liberation Sans"/>
              </a:rPr>
              <a:t>Forced sterilization</a:t>
            </a:r>
          </a:p>
        </p:txBody>
      </p:sp>
      <p:sp>
        <p:nvSpPr>
          <p:cNvPr id="16" name="TextBox 15"/>
          <p:cNvSpPr txBox="1"/>
          <p:nvPr/>
        </p:nvSpPr>
        <p:spPr>
          <a:xfrm>
            <a:off x="1280160" y="3209544"/>
            <a:ext cx="9646920" cy="658368"/>
          </a:xfrm>
          <a:prstGeom prst="rect">
            <a:avLst/>
          </a:prstGeom>
          <a:noFill/>
        </p:spPr>
        <p:txBody>
          <a:bodyPr wrap="square" lIns="0" rIns="0" tIns="0" bIns="0" anchor="t">
            <a:spAutoFit/>
          </a:bodyPr>
          <a:lstStyle/>
          <a:p>
            <a:pPr algn="l">
              <a:lnSpc>
                <a:spcPts val="2477"/>
              </a:lnSpc>
              <a:spcAft>
                <a:spcPts val="800"/>
              </a:spcAft>
            </a:pPr>
            <a:r>
              <a:rPr sz="2100" b="0">
                <a:solidFill>
                  <a:srgbClr val="24312E"/>
                </a:solidFill>
                <a:latin typeface="Liberation Sans"/>
              </a:rPr>
              <a:t>Laws in the United States and other countries stopped some people from having children without free consent.</a:t>
            </a:r>
          </a:p>
        </p:txBody>
      </p:sp>
      <p:sp>
        <p:nvSpPr>
          <p:cNvPr id="17" name="Oval 16"/>
          <p:cNvSpPr/>
          <p:nvPr/>
        </p:nvSpPr>
        <p:spPr>
          <a:xfrm>
            <a:off x="694944" y="4069080"/>
            <a:ext cx="365760" cy="365760"/>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94944" y="4119372"/>
            <a:ext cx="365760" cy="182880"/>
          </a:xfrm>
          <a:prstGeom prst="rect">
            <a:avLst/>
          </a:prstGeom>
          <a:noFill/>
        </p:spPr>
        <p:txBody>
          <a:bodyPr wrap="square" lIns="0" rIns="0" tIns="0" bIns="0" anchor="t">
            <a:spAutoFit/>
          </a:bodyPr>
          <a:lstStyle/>
          <a:p>
            <a:pPr algn="ctr">
              <a:lnSpc>
                <a:spcPts val="1416"/>
              </a:lnSpc>
              <a:spcAft>
                <a:spcPts val="800"/>
              </a:spcAft>
            </a:pPr>
            <a:r>
              <a:rPr sz="1200" b="1">
                <a:solidFill>
                  <a:srgbClr val="FFFFFF"/>
                </a:solidFill>
                <a:latin typeface="Liberation Sans"/>
              </a:rPr>
              <a:t>3</a:t>
            </a:r>
          </a:p>
        </p:txBody>
      </p:sp>
      <p:sp>
        <p:nvSpPr>
          <p:cNvPr id="19" name="TextBox 18"/>
          <p:cNvSpPr txBox="1"/>
          <p:nvPr/>
        </p:nvSpPr>
        <p:spPr>
          <a:xfrm>
            <a:off x="1280160" y="4023360"/>
            <a:ext cx="9966960" cy="365760"/>
          </a:xfrm>
          <a:prstGeom prst="rect">
            <a:avLst/>
          </a:prstGeom>
          <a:noFill/>
        </p:spPr>
        <p:txBody>
          <a:bodyPr wrap="square" lIns="0" rIns="0" tIns="0" bIns="0" anchor="t">
            <a:spAutoFit/>
          </a:bodyPr>
          <a:lstStyle/>
          <a:p>
            <a:pPr algn="l">
              <a:lnSpc>
                <a:spcPts val="2595"/>
              </a:lnSpc>
              <a:spcAft>
                <a:spcPts val="800"/>
              </a:spcAft>
            </a:pPr>
            <a:r>
              <a:rPr sz="2200" b="1">
                <a:solidFill>
                  <a:srgbClr val="276452"/>
                </a:solidFill>
                <a:latin typeface="Liberation Sans"/>
              </a:rPr>
              <a:t>Nazi Germany</a:t>
            </a:r>
          </a:p>
        </p:txBody>
      </p:sp>
      <p:sp>
        <p:nvSpPr>
          <p:cNvPr id="20" name="TextBox 19"/>
          <p:cNvSpPr txBox="1"/>
          <p:nvPr/>
        </p:nvSpPr>
        <p:spPr>
          <a:xfrm>
            <a:off x="1280160" y="4489704"/>
            <a:ext cx="9646920" cy="658368"/>
          </a:xfrm>
          <a:prstGeom prst="rect">
            <a:avLst/>
          </a:prstGeom>
          <a:noFill/>
        </p:spPr>
        <p:txBody>
          <a:bodyPr wrap="square" lIns="0" rIns="0" tIns="0" bIns="0" anchor="t">
            <a:spAutoFit/>
          </a:bodyPr>
          <a:lstStyle/>
          <a:p>
            <a:pPr algn="l">
              <a:lnSpc>
                <a:spcPts val="2477"/>
              </a:lnSpc>
              <a:spcAft>
                <a:spcPts val="800"/>
              </a:spcAft>
            </a:pPr>
            <a:r>
              <a:rPr sz="2100" b="0">
                <a:solidFill>
                  <a:srgbClr val="24312E"/>
                </a:solidFill>
                <a:latin typeface="Liberation Sans"/>
              </a:rPr>
              <a:t>Racial ideas and claims about inherited “defects” were used to support compulsory sterilization and persecution.</a:t>
            </a:r>
          </a:p>
        </p:txBody>
      </p:sp>
      <p:sp>
        <p:nvSpPr>
          <p:cNvPr id="21" name="Rectangle 20"/>
          <p:cNvSpPr/>
          <p:nvPr/>
        </p:nvSpPr>
        <p:spPr>
          <a:xfrm>
            <a:off x="594360" y="5596128"/>
            <a:ext cx="11000232" cy="585216"/>
          </a:xfrm>
          <a:prstGeom prst="rect">
            <a:avLst/>
          </a:prstGeom>
          <a:solidFill>
            <a:srgbClr val="FAF0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5715000"/>
            <a:ext cx="10607040" cy="365760"/>
          </a:xfrm>
          <a:prstGeom prst="rect">
            <a:avLst/>
          </a:prstGeom>
          <a:noFill/>
        </p:spPr>
        <p:txBody>
          <a:bodyPr wrap="square" lIns="0" rIns="0" tIns="0" bIns="0" anchor="t">
            <a:spAutoFit/>
          </a:bodyPr>
          <a:lstStyle/>
          <a:p>
            <a:pPr algn="l">
              <a:lnSpc>
                <a:spcPts val="2183"/>
              </a:lnSpc>
              <a:spcAft>
                <a:spcPts val="800"/>
              </a:spcAft>
            </a:pPr>
            <a:r>
              <a:rPr sz="1850" b="1">
                <a:solidFill>
                  <a:srgbClr val="9B5F42"/>
                </a:solidFill>
                <a:latin typeface="Liberation Sans"/>
              </a:rPr>
              <a:t>Lesson: Scientific language cannot justify discrimination or forced reproduction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b. Scientific basis: genes and molecules</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How inherited differences can affect the body</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 [3]</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4</a:t>
            </a:r>
          </a:p>
        </p:txBody>
      </p:sp>
      <p:sp>
        <p:nvSpPr>
          <p:cNvPr id="9" name="TextBox 8"/>
          <p:cNvSpPr txBox="1"/>
          <p:nvPr/>
        </p:nvSpPr>
        <p:spPr>
          <a:xfrm>
            <a:off x="658368" y="1353312"/>
            <a:ext cx="10881360" cy="768096"/>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DNA contains genes. Gene variants can change how proteins work and influence a trait or disease.</a:t>
            </a:r>
          </a:p>
        </p:txBody>
      </p:sp>
      <p:sp>
        <p:nvSpPr>
          <p:cNvPr id="10" name="Rectangle 9"/>
          <p:cNvSpPr/>
          <p:nvPr/>
        </p:nvSpPr>
        <p:spPr>
          <a:xfrm>
            <a:off x="658368" y="2167128"/>
            <a:ext cx="2386584" cy="1335024"/>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68096" y="2350008"/>
            <a:ext cx="2167128" cy="356616"/>
          </a:xfrm>
          <a:prstGeom prst="rect">
            <a:avLst/>
          </a:prstGeom>
          <a:noFill/>
        </p:spPr>
        <p:txBody>
          <a:bodyPr wrap="square" lIns="0" rIns="0" tIns="0" bIns="0" anchor="t">
            <a:spAutoFit/>
          </a:bodyPr>
          <a:lstStyle/>
          <a:p>
            <a:pPr algn="ctr">
              <a:lnSpc>
                <a:spcPts val="2360"/>
              </a:lnSpc>
              <a:spcAft>
                <a:spcPts val="800"/>
              </a:spcAft>
            </a:pPr>
            <a:r>
              <a:rPr sz="2000" b="1">
                <a:solidFill>
                  <a:srgbClr val="276452"/>
                </a:solidFill>
                <a:latin typeface="Liberation Sans"/>
              </a:rPr>
              <a:t>DNA / gene</a:t>
            </a:r>
          </a:p>
        </p:txBody>
      </p:sp>
      <p:sp>
        <p:nvSpPr>
          <p:cNvPr id="12" name="TextBox 11"/>
          <p:cNvSpPr txBox="1"/>
          <p:nvPr/>
        </p:nvSpPr>
        <p:spPr>
          <a:xfrm>
            <a:off x="768096" y="2816352"/>
            <a:ext cx="2167128" cy="603504"/>
          </a:xfrm>
          <a:prstGeom prst="rect">
            <a:avLst/>
          </a:prstGeom>
          <a:noFill/>
        </p:spPr>
        <p:txBody>
          <a:bodyPr wrap="square" lIns="0" rIns="0" tIns="0" bIns="0" anchor="t">
            <a:spAutoFit/>
          </a:bodyPr>
          <a:lstStyle/>
          <a:p>
            <a:pPr algn="ctr">
              <a:lnSpc>
                <a:spcPts val="2124"/>
              </a:lnSpc>
              <a:spcAft>
                <a:spcPts val="800"/>
              </a:spcAft>
            </a:pPr>
            <a:r>
              <a:rPr sz="1800" b="0">
                <a:solidFill>
                  <a:srgbClr val="24312E"/>
                </a:solidFill>
                <a:latin typeface="Liberation Sans"/>
              </a:rPr>
              <a:t>Carries inherited
information</a:t>
            </a:r>
          </a:p>
        </p:txBody>
      </p:sp>
      <p:sp>
        <p:nvSpPr>
          <p:cNvPr id="13" name="Right Arrow 12"/>
          <p:cNvSpPr/>
          <p:nvPr/>
        </p:nvSpPr>
        <p:spPr>
          <a:xfrm>
            <a:off x="3145536" y="2734056"/>
            <a:ext cx="246888" cy="173736"/>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3483863" y="2167128"/>
            <a:ext cx="2386584" cy="1335024"/>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93591" y="2350008"/>
            <a:ext cx="2167128" cy="356616"/>
          </a:xfrm>
          <a:prstGeom prst="rect">
            <a:avLst/>
          </a:prstGeom>
          <a:noFill/>
        </p:spPr>
        <p:txBody>
          <a:bodyPr wrap="square" lIns="0" rIns="0" tIns="0" bIns="0" anchor="t">
            <a:spAutoFit/>
          </a:bodyPr>
          <a:lstStyle/>
          <a:p>
            <a:pPr algn="ctr">
              <a:lnSpc>
                <a:spcPts val="2360"/>
              </a:lnSpc>
              <a:spcAft>
                <a:spcPts val="800"/>
              </a:spcAft>
            </a:pPr>
            <a:r>
              <a:rPr sz="2000" b="1">
                <a:solidFill>
                  <a:srgbClr val="276452"/>
                </a:solidFill>
                <a:latin typeface="Liberation Sans"/>
              </a:rPr>
              <a:t>Gene variant</a:t>
            </a:r>
          </a:p>
        </p:txBody>
      </p:sp>
      <p:sp>
        <p:nvSpPr>
          <p:cNvPr id="16" name="TextBox 15"/>
          <p:cNvSpPr txBox="1"/>
          <p:nvPr/>
        </p:nvSpPr>
        <p:spPr>
          <a:xfrm>
            <a:off x="3593591" y="2816352"/>
            <a:ext cx="2167128" cy="603504"/>
          </a:xfrm>
          <a:prstGeom prst="rect">
            <a:avLst/>
          </a:prstGeom>
          <a:noFill/>
        </p:spPr>
        <p:txBody>
          <a:bodyPr wrap="square" lIns="0" rIns="0" tIns="0" bIns="0" anchor="t">
            <a:spAutoFit/>
          </a:bodyPr>
          <a:lstStyle/>
          <a:p>
            <a:pPr algn="ctr">
              <a:lnSpc>
                <a:spcPts val="2124"/>
              </a:lnSpc>
              <a:spcAft>
                <a:spcPts val="800"/>
              </a:spcAft>
            </a:pPr>
            <a:r>
              <a:rPr sz="1800" b="0">
                <a:solidFill>
                  <a:srgbClr val="24312E"/>
                </a:solidFill>
                <a:latin typeface="Liberation Sans"/>
              </a:rPr>
              <a:t>A change in
DNA sequence</a:t>
            </a:r>
          </a:p>
        </p:txBody>
      </p:sp>
      <p:sp>
        <p:nvSpPr>
          <p:cNvPr id="17" name="Right Arrow 16"/>
          <p:cNvSpPr/>
          <p:nvPr/>
        </p:nvSpPr>
        <p:spPr>
          <a:xfrm>
            <a:off x="5971031" y="2734056"/>
            <a:ext cx="246888" cy="173736"/>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309359" y="2167128"/>
            <a:ext cx="2386584" cy="1335024"/>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19088" y="2350008"/>
            <a:ext cx="2167128" cy="356616"/>
          </a:xfrm>
          <a:prstGeom prst="rect">
            <a:avLst/>
          </a:prstGeom>
          <a:noFill/>
        </p:spPr>
        <p:txBody>
          <a:bodyPr wrap="square" lIns="0" rIns="0" tIns="0" bIns="0" anchor="t">
            <a:spAutoFit/>
          </a:bodyPr>
          <a:lstStyle/>
          <a:p>
            <a:pPr algn="ctr">
              <a:lnSpc>
                <a:spcPts val="2360"/>
              </a:lnSpc>
              <a:spcAft>
                <a:spcPts val="800"/>
              </a:spcAft>
            </a:pPr>
            <a:r>
              <a:rPr sz="2000" b="1">
                <a:solidFill>
                  <a:srgbClr val="276452"/>
                </a:solidFill>
                <a:latin typeface="Liberation Sans"/>
              </a:rPr>
              <a:t>Protein</a:t>
            </a:r>
          </a:p>
        </p:txBody>
      </p:sp>
      <p:sp>
        <p:nvSpPr>
          <p:cNvPr id="20" name="TextBox 19"/>
          <p:cNvSpPr txBox="1"/>
          <p:nvPr/>
        </p:nvSpPr>
        <p:spPr>
          <a:xfrm>
            <a:off x="6419088" y="2816352"/>
            <a:ext cx="2167128" cy="603504"/>
          </a:xfrm>
          <a:prstGeom prst="rect">
            <a:avLst/>
          </a:prstGeom>
          <a:noFill/>
        </p:spPr>
        <p:txBody>
          <a:bodyPr wrap="square" lIns="0" rIns="0" tIns="0" bIns="0" anchor="t">
            <a:spAutoFit/>
          </a:bodyPr>
          <a:lstStyle/>
          <a:p>
            <a:pPr algn="ctr">
              <a:lnSpc>
                <a:spcPts val="2124"/>
              </a:lnSpc>
              <a:spcAft>
                <a:spcPts val="800"/>
              </a:spcAft>
            </a:pPr>
            <a:r>
              <a:rPr sz="1800" b="0">
                <a:solidFill>
                  <a:srgbClr val="24312E"/>
                </a:solidFill>
                <a:latin typeface="Liberation Sans"/>
              </a:rPr>
              <a:t>Its function may
be changed</a:t>
            </a:r>
          </a:p>
        </p:txBody>
      </p:sp>
      <p:sp>
        <p:nvSpPr>
          <p:cNvPr id="21" name="Right Arrow 20"/>
          <p:cNvSpPr/>
          <p:nvPr/>
        </p:nvSpPr>
        <p:spPr>
          <a:xfrm>
            <a:off x="8796528" y="2734056"/>
            <a:ext cx="246888" cy="173736"/>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9134856" y="2167128"/>
            <a:ext cx="2386584" cy="1335024"/>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244584" y="2350008"/>
            <a:ext cx="2167128" cy="356616"/>
          </a:xfrm>
          <a:prstGeom prst="rect">
            <a:avLst/>
          </a:prstGeom>
          <a:noFill/>
        </p:spPr>
        <p:txBody>
          <a:bodyPr wrap="square" lIns="0" rIns="0" tIns="0" bIns="0" anchor="t">
            <a:spAutoFit/>
          </a:bodyPr>
          <a:lstStyle/>
          <a:p>
            <a:pPr algn="ctr">
              <a:lnSpc>
                <a:spcPts val="2360"/>
              </a:lnSpc>
              <a:spcAft>
                <a:spcPts val="800"/>
              </a:spcAft>
            </a:pPr>
            <a:r>
              <a:rPr sz="2000" b="1">
                <a:solidFill>
                  <a:srgbClr val="276452"/>
                </a:solidFill>
                <a:latin typeface="Liberation Sans"/>
              </a:rPr>
              <a:t>Trait or condition</a:t>
            </a:r>
          </a:p>
        </p:txBody>
      </p:sp>
      <p:sp>
        <p:nvSpPr>
          <p:cNvPr id="24" name="TextBox 23"/>
          <p:cNvSpPr txBox="1"/>
          <p:nvPr/>
        </p:nvSpPr>
        <p:spPr>
          <a:xfrm>
            <a:off x="9244584" y="2816352"/>
            <a:ext cx="2167128" cy="603504"/>
          </a:xfrm>
          <a:prstGeom prst="rect">
            <a:avLst/>
          </a:prstGeom>
          <a:noFill/>
        </p:spPr>
        <p:txBody>
          <a:bodyPr wrap="square" lIns="0" rIns="0" tIns="0" bIns="0" anchor="t">
            <a:spAutoFit/>
          </a:bodyPr>
          <a:lstStyle/>
          <a:p>
            <a:pPr algn="ctr">
              <a:lnSpc>
                <a:spcPts val="2124"/>
              </a:lnSpc>
              <a:spcAft>
                <a:spcPts val="800"/>
              </a:spcAft>
            </a:pPr>
            <a:r>
              <a:rPr sz="1800" b="0">
                <a:solidFill>
                  <a:srgbClr val="24312E"/>
                </a:solidFill>
                <a:latin typeface="Liberation Sans"/>
              </a:rPr>
              <a:t>The effect depends
on the variant</a:t>
            </a:r>
          </a:p>
        </p:txBody>
      </p:sp>
      <p:sp>
        <p:nvSpPr>
          <p:cNvPr id="25" name="TextBox 24"/>
          <p:cNvSpPr txBox="1"/>
          <p:nvPr/>
        </p:nvSpPr>
        <p:spPr>
          <a:xfrm>
            <a:off x="704088" y="3895344"/>
            <a:ext cx="10698480" cy="356616"/>
          </a:xfrm>
          <a:prstGeom prst="rect">
            <a:avLst/>
          </a:prstGeom>
          <a:noFill/>
        </p:spPr>
        <p:txBody>
          <a:bodyPr wrap="square" lIns="0" rIns="0" tIns="0" bIns="0" anchor="t">
            <a:spAutoFit/>
          </a:bodyPr>
          <a:lstStyle/>
          <a:p>
            <a:pPr algn="l">
              <a:lnSpc>
                <a:spcPts val="2713"/>
              </a:lnSpc>
              <a:spcAft>
                <a:spcPts val="800"/>
              </a:spcAft>
            </a:pPr>
            <a:r>
              <a:rPr sz="2300" b="1">
                <a:solidFill>
                  <a:srgbClr val="276452"/>
                </a:solidFill>
                <a:latin typeface="Liberation Sans"/>
              </a:rPr>
              <a:t>Example: Tay–Sachs disease</a:t>
            </a:r>
          </a:p>
        </p:txBody>
      </p:sp>
      <p:sp>
        <p:nvSpPr>
          <p:cNvPr id="26" name="TextBox 25"/>
          <p:cNvSpPr txBox="1"/>
          <p:nvPr/>
        </p:nvSpPr>
        <p:spPr>
          <a:xfrm>
            <a:off x="704088" y="4434840"/>
            <a:ext cx="10698480" cy="932688"/>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Some harmful variants in HEXA reduce the activity of the enzyme beta-hexosaminidase A. GM2 ganglioside then builds up in nerve cells and causes damage.</a:t>
            </a:r>
          </a:p>
        </p:txBody>
      </p:sp>
      <p:sp>
        <p:nvSpPr>
          <p:cNvPr id="27" name="Rectangle 26"/>
          <p:cNvSpPr/>
          <p:nvPr/>
        </p:nvSpPr>
        <p:spPr>
          <a:xfrm>
            <a:off x="594360" y="5559552"/>
            <a:ext cx="11000232" cy="58521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678424"/>
            <a:ext cx="10607040" cy="365760"/>
          </a:xfrm>
          <a:prstGeom prst="rect">
            <a:avLst/>
          </a:prstGeom>
          <a:noFill/>
        </p:spPr>
        <p:txBody>
          <a:bodyPr wrap="square" lIns="0" rIns="0" tIns="0" bIns="0" anchor="t">
            <a:spAutoFit/>
          </a:bodyPr>
          <a:lstStyle/>
          <a:p>
            <a:pPr algn="l">
              <a:lnSpc>
                <a:spcPts val="2242"/>
              </a:lnSpc>
              <a:spcAft>
                <a:spcPts val="800"/>
              </a:spcAft>
            </a:pPr>
            <a:r>
              <a:rPr sz="1900" b="1">
                <a:solidFill>
                  <a:srgbClr val="276452"/>
                </a:solidFill>
                <a:latin typeface="Liberation Sans"/>
              </a:rPr>
              <a:t>Many common conditions involve many genes plus environment, not one simple pathway.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b. Mechanism: a simple inheritance example</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Two carriers of the same autosomal-recessive condition</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[3], [4]</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5</a:t>
            </a:r>
          </a:p>
        </p:txBody>
      </p:sp>
      <p:sp>
        <p:nvSpPr>
          <p:cNvPr id="9" name="TextBox 8"/>
          <p:cNvSpPr txBox="1"/>
          <p:nvPr/>
        </p:nvSpPr>
        <p:spPr>
          <a:xfrm>
            <a:off x="3044952" y="1810512"/>
            <a:ext cx="1527048" cy="365760"/>
          </a:xfrm>
          <a:prstGeom prst="rect">
            <a:avLst/>
          </a:prstGeom>
          <a:noFill/>
        </p:spPr>
        <p:txBody>
          <a:bodyPr wrap="square" lIns="0" rIns="0" tIns="0" bIns="0" anchor="t">
            <a:spAutoFit/>
          </a:bodyPr>
          <a:lstStyle/>
          <a:p>
            <a:pPr algn="ctr">
              <a:lnSpc>
                <a:spcPts val="3186"/>
              </a:lnSpc>
              <a:spcAft>
                <a:spcPts val="800"/>
              </a:spcAft>
            </a:pPr>
            <a:r>
              <a:rPr sz="2700" b="1">
                <a:solidFill>
                  <a:srgbClr val="276452"/>
                </a:solidFill>
                <a:latin typeface="Liberation Sans"/>
              </a:rPr>
              <a:t>A</a:t>
            </a:r>
          </a:p>
        </p:txBody>
      </p:sp>
      <p:sp>
        <p:nvSpPr>
          <p:cNvPr id="10" name="TextBox 9"/>
          <p:cNvSpPr txBox="1"/>
          <p:nvPr/>
        </p:nvSpPr>
        <p:spPr>
          <a:xfrm>
            <a:off x="4572000" y="1810512"/>
            <a:ext cx="1527048" cy="365760"/>
          </a:xfrm>
          <a:prstGeom prst="rect">
            <a:avLst/>
          </a:prstGeom>
          <a:noFill/>
        </p:spPr>
        <p:txBody>
          <a:bodyPr wrap="square" lIns="0" rIns="0" tIns="0" bIns="0" anchor="t">
            <a:spAutoFit/>
          </a:bodyPr>
          <a:lstStyle/>
          <a:p>
            <a:pPr algn="ctr">
              <a:lnSpc>
                <a:spcPts val="3186"/>
              </a:lnSpc>
              <a:spcAft>
                <a:spcPts val="800"/>
              </a:spcAft>
            </a:pPr>
            <a:r>
              <a:rPr sz="2700" b="1">
                <a:solidFill>
                  <a:srgbClr val="276452"/>
                </a:solidFill>
                <a:latin typeface="Liberation Sans"/>
              </a:rPr>
              <a:t>a</a:t>
            </a:r>
          </a:p>
        </p:txBody>
      </p:sp>
      <p:sp>
        <p:nvSpPr>
          <p:cNvPr id="11" name="TextBox 10"/>
          <p:cNvSpPr txBox="1"/>
          <p:nvPr/>
        </p:nvSpPr>
        <p:spPr>
          <a:xfrm>
            <a:off x="1499616" y="2724912"/>
            <a:ext cx="1389888" cy="365760"/>
          </a:xfrm>
          <a:prstGeom prst="rect">
            <a:avLst/>
          </a:prstGeom>
          <a:noFill/>
        </p:spPr>
        <p:txBody>
          <a:bodyPr wrap="square" lIns="0" rIns="0" tIns="0" bIns="0" anchor="t">
            <a:spAutoFit/>
          </a:bodyPr>
          <a:lstStyle/>
          <a:p>
            <a:pPr algn="ctr">
              <a:lnSpc>
                <a:spcPts val="3186"/>
              </a:lnSpc>
              <a:spcAft>
                <a:spcPts val="800"/>
              </a:spcAft>
            </a:pPr>
            <a:r>
              <a:rPr sz="2700" b="1">
                <a:solidFill>
                  <a:srgbClr val="276452"/>
                </a:solidFill>
                <a:latin typeface="Liberation Sans"/>
              </a:rPr>
              <a:t>A</a:t>
            </a:r>
          </a:p>
        </p:txBody>
      </p:sp>
      <p:sp>
        <p:nvSpPr>
          <p:cNvPr id="12" name="TextBox 11"/>
          <p:cNvSpPr txBox="1"/>
          <p:nvPr/>
        </p:nvSpPr>
        <p:spPr>
          <a:xfrm>
            <a:off x="1499616" y="3758184"/>
            <a:ext cx="1389888" cy="365760"/>
          </a:xfrm>
          <a:prstGeom prst="rect">
            <a:avLst/>
          </a:prstGeom>
          <a:noFill/>
        </p:spPr>
        <p:txBody>
          <a:bodyPr wrap="square" lIns="0" rIns="0" tIns="0" bIns="0" anchor="t">
            <a:spAutoFit/>
          </a:bodyPr>
          <a:lstStyle/>
          <a:p>
            <a:pPr algn="ctr">
              <a:lnSpc>
                <a:spcPts val="3186"/>
              </a:lnSpc>
              <a:spcAft>
                <a:spcPts val="800"/>
              </a:spcAft>
            </a:pPr>
            <a:r>
              <a:rPr sz="2700" b="1">
                <a:solidFill>
                  <a:srgbClr val="276452"/>
                </a:solidFill>
                <a:latin typeface="Liberation Sans"/>
              </a:rPr>
              <a:t>a</a:t>
            </a:r>
          </a:p>
        </p:txBody>
      </p:sp>
      <p:sp>
        <p:nvSpPr>
          <p:cNvPr id="13" name="Rectangle 12"/>
          <p:cNvSpPr/>
          <p:nvPr/>
        </p:nvSpPr>
        <p:spPr>
          <a:xfrm>
            <a:off x="3044952" y="2377440"/>
            <a:ext cx="1495044" cy="1001268"/>
          </a:xfrm>
          <a:prstGeom prst="rect">
            <a:avLst/>
          </a:prstGeom>
          <a:solidFill>
            <a:srgbClr val="EEF5F1"/>
          </a:solidFill>
          <a:ln w="1016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108960" y="2532888"/>
            <a:ext cx="1371600" cy="356616"/>
          </a:xfrm>
          <a:prstGeom prst="rect">
            <a:avLst/>
          </a:prstGeom>
          <a:noFill/>
        </p:spPr>
        <p:txBody>
          <a:bodyPr wrap="square" lIns="0" rIns="0" tIns="0" bIns="0" anchor="t">
            <a:spAutoFit/>
          </a:bodyPr>
          <a:lstStyle/>
          <a:p>
            <a:pPr algn="ctr">
              <a:lnSpc>
                <a:spcPts val="3304"/>
              </a:lnSpc>
              <a:spcAft>
                <a:spcPts val="800"/>
              </a:spcAft>
            </a:pPr>
            <a:r>
              <a:rPr sz="2800" b="1">
                <a:solidFill>
                  <a:srgbClr val="24312E"/>
                </a:solidFill>
                <a:latin typeface="Liberation Sans"/>
              </a:rPr>
              <a:t>AA</a:t>
            </a:r>
          </a:p>
        </p:txBody>
      </p:sp>
      <p:sp>
        <p:nvSpPr>
          <p:cNvPr id="15" name="TextBox 14"/>
          <p:cNvSpPr txBox="1"/>
          <p:nvPr/>
        </p:nvSpPr>
        <p:spPr>
          <a:xfrm>
            <a:off x="3099816" y="3054096"/>
            <a:ext cx="1380744" cy="219456"/>
          </a:xfrm>
          <a:prstGeom prst="rect">
            <a:avLst/>
          </a:prstGeom>
          <a:noFill/>
        </p:spPr>
        <p:txBody>
          <a:bodyPr wrap="square" lIns="0" rIns="0" tIns="0" bIns="0" anchor="t">
            <a:spAutoFit/>
          </a:bodyPr>
          <a:lstStyle/>
          <a:p>
            <a:pPr algn="ctr">
              <a:lnSpc>
                <a:spcPts val="1356"/>
              </a:lnSpc>
              <a:spcAft>
                <a:spcPts val="800"/>
              </a:spcAft>
            </a:pPr>
            <a:r>
              <a:rPr sz="1150" b="0">
                <a:solidFill>
                  <a:srgbClr val="24312E"/>
                </a:solidFill>
                <a:latin typeface="Liberation Sans"/>
              </a:rPr>
              <a:t>Without this variant</a:t>
            </a:r>
          </a:p>
        </p:txBody>
      </p:sp>
      <p:sp>
        <p:nvSpPr>
          <p:cNvPr id="16" name="Rectangle 15"/>
          <p:cNvSpPr/>
          <p:nvPr/>
        </p:nvSpPr>
        <p:spPr>
          <a:xfrm>
            <a:off x="4572000" y="2377440"/>
            <a:ext cx="1495044" cy="1001268"/>
          </a:xfrm>
          <a:prstGeom prst="rect">
            <a:avLst/>
          </a:prstGeom>
          <a:solidFill>
            <a:srgbClr val="EEF5F1"/>
          </a:solidFill>
          <a:ln w="1016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636008" y="2532888"/>
            <a:ext cx="1371600" cy="356616"/>
          </a:xfrm>
          <a:prstGeom prst="rect">
            <a:avLst/>
          </a:prstGeom>
          <a:noFill/>
        </p:spPr>
        <p:txBody>
          <a:bodyPr wrap="square" lIns="0" rIns="0" tIns="0" bIns="0" anchor="t">
            <a:spAutoFit/>
          </a:bodyPr>
          <a:lstStyle/>
          <a:p>
            <a:pPr algn="ctr">
              <a:lnSpc>
                <a:spcPts val="3304"/>
              </a:lnSpc>
              <a:spcAft>
                <a:spcPts val="800"/>
              </a:spcAft>
            </a:pPr>
            <a:r>
              <a:rPr sz="2800" b="1">
                <a:solidFill>
                  <a:srgbClr val="24312E"/>
                </a:solidFill>
                <a:latin typeface="Liberation Sans"/>
              </a:rPr>
              <a:t>Aa</a:t>
            </a:r>
          </a:p>
        </p:txBody>
      </p:sp>
      <p:sp>
        <p:nvSpPr>
          <p:cNvPr id="18" name="TextBox 17"/>
          <p:cNvSpPr txBox="1"/>
          <p:nvPr/>
        </p:nvSpPr>
        <p:spPr>
          <a:xfrm>
            <a:off x="4626864" y="3054096"/>
            <a:ext cx="1380744" cy="219456"/>
          </a:xfrm>
          <a:prstGeom prst="rect">
            <a:avLst/>
          </a:prstGeom>
          <a:noFill/>
        </p:spPr>
        <p:txBody>
          <a:bodyPr wrap="square" lIns="0" rIns="0" tIns="0" bIns="0" anchor="t">
            <a:spAutoFit/>
          </a:bodyPr>
          <a:lstStyle/>
          <a:p>
            <a:pPr algn="ctr">
              <a:lnSpc>
                <a:spcPts val="1356"/>
              </a:lnSpc>
              <a:spcAft>
                <a:spcPts val="800"/>
              </a:spcAft>
            </a:pPr>
            <a:r>
              <a:rPr sz="1150" b="0">
                <a:solidFill>
                  <a:srgbClr val="24312E"/>
                </a:solidFill>
                <a:latin typeface="Liberation Sans"/>
              </a:rPr>
              <a:t>Carrier</a:t>
            </a:r>
          </a:p>
        </p:txBody>
      </p:sp>
      <p:sp>
        <p:nvSpPr>
          <p:cNvPr id="19" name="Rectangle 18"/>
          <p:cNvSpPr/>
          <p:nvPr/>
        </p:nvSpPr>
        <p:spPr>
          <a:xfrm>
            <a:off x="3044952" y="3410712"/>
            <a:ext cx="1495044" cy="1001268"/>
          </a:xfrm>
          <a:prstGeom prst="rect">
            <a:avLst/>
          </a:prstGeom>
          <a:solidFill>
            <a:srgbClr val="EEF5F1"/>
          </a:solidFill>
          <a:ln w="1016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108960" y="3566160"/>
            <a:ext cx="1371600" cy="356616"/>
          </a:xfrm>
          <a:prstGeom prst="rect">
            <a:avLst/>
          </a:prstGeom>
          <a:noFill/>
        </p:spPr>
        <p:txBody>
          <a:bodyPr wrap="square" lIns="0" rIns="0" tIns="0" bIns="0" anchor="t">
            <a:spAutoFit/>
          </a:bodyPr>
          <a:lstStyle/>
          <a:p>
            <a:pPr algn="ctr">
              <a:lnSpc>
                <a:spcPts val="3304"/>
              </a:lnSpc>
              <a:spcAft>
                <a:spcPts val="800"/>
              </a:spcAft>
            </a:pPr>
            <a:r>
              <a:rPr sz="2800" b="1">
                <a:solidFill>
                  <a:srgbClr val="24312E"/>
                </a:solidFill>
                <a:latin typeface="Liberation Sans"/>
              </a:rPr>
              <a:t>Aa</a:t>
            </a:r>
          </a:p>
        </p:txBody>
      </p:sp>
      <p:sp>
        <p:nvSpPr>
          <p:cNvPr id="21" name="TextBox 20"/>
          <p:cNvSpPr txBox="1"/>
          <p:nvPr/>
        </p:nvSpPr>
        <p:spPr>
          <a:xfrm>
            <a:off x="3099816" y="4087368"/>
            <a:ext cx="1380744" cy="219456"/>
          </a:xfrm>
          <a:prstGeom prst="rect">
            <a:avLst/>
          </a:prstGeom>
          <a:noFill/>
        </p:spPr>
        <p:txBody>
          <a:bodyPr wrap="square" lIns="0" rIns="0" tIns="0" bIns="0" anchor="t">
            <a:spAutoFit/>
          </a:bodyPr>
          <a:lstStyle/>
          <a:p>
            <a:pPr algn="ctr">
              <a:lnSpc>
                <a:spcPts val="1356"/>
              </a:lnSpc>
              <a:spcAft>
                <a:spcPts val="800"/>
              </a:spcAft>
            </a:pPr>
            <a:r>
              <a:rPr sz="1150" b="0">
                <a:solidFill>
                  <a:srgbClr val="24312E"/>
                </a:solidFill>
                <a:latin typeface="Liberation Sans"/>
              </a:rPr>
              <a:t>Carrier</a:t>
            </a:r>
          </a:p>
        </p:txBody>
      </p:sp>
      <p:sp>
        <p:nvSpPr>
          <p:cNvPr id="22" name="Rectangle 21"/>
          <p:cNvSpPr/>
          <p:nvPr/>
        </p:nvSpPr>
        <p:spPr>
          <a:xfrm>
            <a:off x="4572000" y="3410712"/>
            <a:ext cx="1495044" cy="1001268"/>
          </a:xfrm>
          <a:prstGeom prst="rect">
            <a:avLst/>
          </a:prstGeom>
          <a:solidFill>
            <a:srgbClr val="FAF0E8"/>
          </a:solidFill>
          <a:ln w="1016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636008" y="3566160"/>
            <a:ext cx="1371600" cy="356616"/>
          </a:xfrm>
          <a:prstGeom prst="rect">
            <a:avLst/>
          </a:prstGeom>
          <a:noFill/>
        </p:spPr>
        <p:txBody>
          <a:bodyPr wrap="square" lIns="0" rIns="0" tIns="0" bIns="0" anchor="t">
            <a:spAutoFit/>
          </a:bodyPr>
          <a:lstStyle/>
          <a:p>
            <a:pPr algn="ctr">
              <a:lnSpc>
                <a:spcPts val="3304"/>
              </a:lnSpc>
              <a:spcAft>
                <a:spcPts val="800"/>
              </a:spcAft>
            </a:pPr>
            <a:r>
              <a:rPr sz="2800" b="1">
                <a:solidFill>
                  <a:srgbClr val="24312E"/>
                </a:solidFill>
                <a:latin typeface="Liberation Sans"/>
              </a:rPr>
              <a:t>aa</a:t>
            </a:r>
          </a:p>
        </p:txBody>
      </p:sp>
      <p:sp>
        <p:nvSpPr>
          <p:cNvPr id="24" name="TextBox 23"/>
          <p:cNvSpPr txBox="1"/>
          <p:nvPr/>
        </p:nvSpPr>
        <p:spPr>
          <a:xfrm>
            <a:off x="4626864" y="4087368"/>
            <a:ext cx="1380744" cy="219456"/>
          </a:xfrm>
          <a:prstGeom prst="rect">
            <a:avLst/>
          </a:prstGeom>
          <a:noFill/>
        </p:spPr>
        <p:txBody>
          <a:bodyPr wrap="square" lIns="0" rIns="0" tIns="0" bIns="0" anchor="t">
            <a:spAutoFit/>
          </a:bodyPr>
          <a:lstStyle/>
          <a:p>
            <a:pPr algn="ctr">
              <a:lnSpc>
                <a:spcPts val="1356"/>
              </a:lnSpc>
              <a:spcAft>
                <a:spcPts val="800"/>
              </a:spcAft>
            </a:pPr>
            <a:r>
              <a:rPr sz="1150" b="0">
                <a:solidFill>
                  <a:srgbClr val="24312E"/>
                </a:solidFill>
                <a:latin typeface="Liberation Sans"/>
              </a:rPr>
              <a:t>Affected genotype</a:t>
            </a:r>
          </a:p>
        </p:txBody>
      </p:sp>
      <p:sp>
        <p:nvSpPr>
          <p:cNvPr id="25" name="TextBox 24"/>
          <p:cNvSpPr txBox="1"/>
          <p:nvPr/>
        </p:nvSpPr>
        <p:spPr>
          <a:xfrm>
            <a:off x="2697480" y="1700784"/>
            <a:ext cx="3621024" cy="320040"/>
          </a:xfrm>
          <a:prstGeom prst="rect">
            <a:avLst/>
          </a:prstGeom>
          <a:noFill/>
        </p:spPr>
        <p:txBody>
          <a:bodyPr wrap="square" lIns="0" rIns="0" tIns="0" bIns="0" anchor="t">
            <a:spAutoFit/>
          </a:bodyPr>
          <a:lstStyle/>
          <a:p>
            <a:pPr algn="ctr">
              <a:lnSpc>
                <a:spcPts val="2242"/>
              </a:lnSpc>
              <a:spcAft>
                <a:spcPts val="800"/>
              </a:spcAft>
            </a:pPr>
            <a:r>
              <a:rPr sz="1900" b="1">
                <a:solidFill>
                  <a:srgbClr val="276452"/>
                </a:solidFill>
                <a:latin typeface="Liberation Sans"/>
              </a:rPr>
              <a:t>Parent 2: A / a</a:t>
            </a:r>
          </a:p>
        </p:txBody>
      </p:sp>
      <p:sp>
        <p:nvSpPr>
          <p:cNvPr id="26" name="TextBox 25"/>
          <p:cNvSpPr txBox="1"/>
          <p:nvPr/>
        </p:nvSpPr>
        <p:spPr>
          <a:xfrm>
            <a:off x="658368" y="2971800"/>
            <a:ext cx="1298448" cy="777240"/>
          </a:xfrm>
          <a:prstGeom prst="rect">
            <a:avLst/>
          </a:prstGeom>
          <a:noFill/>
        </p:spPr>
        <p:txBody>
          <a:bodyPr wrap="square" lIns="0" rIns="0" tIns="0" bIns="0" anchor="t">
            <a:spAutoFit/>
          </a:bodyPr>
          <a:lstStyle/>
          <a:p>
            <a:pPr algn="ctr">
              <a:lnSpc>
                <a:spcPts val="2242"/>
              </a:lnSpc>
              <a:spcAft>
                <a:spcPts val="800"/>
              </a:spcAft>
            </a:pPr>
            <a:r>
              <a:rPr sz="1900" b="1">
                <a:solidFill>
                  <a:srgbClr val="276452"/>
                </a:solidFill>
                <a:latin typeface="Liberation Sans"/>
              </a:rPr>
              <a:t>Parent 1:
A / a</a:t>
            </a:r>
          </a:p>
        </p:txBody>
      </p:sp>
      <p:sp>
        <p:nvSpPr>
          <p:cNvPr id="27" name="Rectangle 26"/>
          <p:cNvSpPr/>
          <p:nvPr/>
        </p:nvSpPr>
        <p:spPr>
          <a:xfrm>
            <a:off x="6986016" y="1618488"/>
            <a:ext cx="4498848" cy="3584448"/>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187183" y="1783080"/>
            <a:ext cx="4096511"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For each conception</a:t>
            </a:r>
          </a:p>
        </p:txBody>
      </p:sp>
      <p:sp>
        <p:nvSpPr>
          <p:cNvPr id="29" name="TextBox 28"/>
          <p:cNvSpPr txBox="1"/>
          <p:nvPr/>
        </p:nvSpPr>
        <p:spPr>
          <a:xfrm>
            <a:off x="7187183" y="2221992"/>
            <a:ext cx="4096511" cy="2825496"/>
          </a:xfrm>
          <a:prstGeom prst="rect">
            <a:avLst/>
          </a:prstGeom>
          <a:noFill/>
        </p:spPr>
        <p:txBody>
          <a:bodyPr wrap="square" lIns="0" rIns="0" tIns="0" bIns="0" anchor="t">
            <a:spAutoFit/>
          </a:bodyPr>
          <a:lstStyle/>
          <a:p>
            <a:pPr algn="l">
              <a:lnSpc>
                <a:spcPts val="2713"/>
              </a:lnSpc>
              <a:spcAft>
                <a:spcPts val="800"/>
              </a:spcAft>
            </a:pPr>
            <a:r>
              <a:rPr sz="2300" b="0">
                <a:solidFill>
                  <a:srgbClr val="24312E"/>
                </a:solidFill>
                <a:latin typeface="Liberation Sans"/>
              </a:rPr>
              <a:t>25%: affected genotype
50%: carrier
25%: without this variant</a:t>
            </a:r>
          </a:p>
        </p:txBody>
      </p:sp>
      <p:sp>
        <p:nvSpPr>
          <p:cNvPr id="30" name="TextBox 29"/>
          <p:cNvSpPr txBox="1"/>
          <p:nvPr/>
        </p:nvSpPr>
        <p:spPr>
          <a:xfrm>
            <a:off x="749808" y="5065776"/>
            <a:ext cx="5577840" cy="612648"/>
          </a:xfrm>
          <a:prstGeom prst="rect">
            <a:avLst/>
          </a:prstGeom>
          <a:noFill/>
        </p:spPr>
        <p:txBody>
          <a:bodyPr wrap="square" lIns="0" rIns="0" tIns="0" bIns="0" anchor="t">
            <a:spAutoFit/>
          </a:bodyPr>
          <a:lstStyle/>
          <a:p>
            <a:pPr algn="l">
              <a:lnSpc>
                <a:spcPts val="2124"/>
              </a:lnSpc>
              <a:spcAft>
                <a:spcPts val="800"/>
              </a:spcAft>
            </a:pPr>
            <a:r>
              <a:rPr sz="1800" b="0">
                <a:solidFill>
                  <a:srgbClr val="52635D"/>
                </a:solidFill>
                <a:latin typeface="Liberation Sans"/>
              </a:rPr>
              <a:t>A = reference allele
a = pathogenic allele in this example</a:t>
            </a:r>
          </a:p>
        </p:txBody>
      </p:sp>
      <p:sp>
        <p:nvSpPr>
          <p:cNvPr id="31" name="Rectangle 30"/>
          <p:cNvSpPr/>
          <p:nvPr/>
        </p:nvSpPr>
        <p:spPr>
          <a:xfrm>
            <a:off x="594360" y="5669280"/>
            <a:ext cx="11000232" cy="58521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5788152"/>
            <a:ext cx="10607040" cy="365760"/>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These are probabilities, not a fixed result for every four children.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b. Modern genetic technologies</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Testing, selection, and editing are different</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 [4], [5]</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6</a:t>
            </a:r>
          </a:p>
        </p:txBody>
      </p:sp>
      <p:sp>
        <p:nvSpPr>
          <p:cNvPr id="9" name="Rectangle 8"/>
          <p:cNvSpPr/>
          <p:nvPr/>
        </p:nvSpPr>
        <p:spPr>
          <a:xfrm>
            <a:off x="658368" y="1389888"/>
            <a:ext cx="5376672" cy="1335024"/>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9536" y="1554480"/>
            <a:ext cx="49743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Carrier screening</a:t>
            </a:r>
          </a:p>
        </p:txBody>
      </p:sp>
      <p:sp>
        <p:nvSpPr>
          <p:cNvPr id="11" name="TextBox 10"/>
          <p:cNvSpPr txBox="1"/>
          <p:nvPr/>
        </p:nvSpPr>
        <p:spPr>
          <a:xfrm>
            <a:off x="859536" y="1993392"/>
            <a:ext cx="4974336" cy="57607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Tests prospective parents
for inherited risks.</a:t>
            </a:r>
          </a:p>
        </p:txBody>
      </p:sp>
      <p:sp>
        <p:nvSpPr>
          <p:cNvPr id="12" name="Rectangle 11"/>
          <p:cNvSpPr/>
          <p:nvPr/>
        </p:nvSpPr>
        <p:spPr>
          <a:xfrm>
            <a:off x="6300216" y="1389888"/>
            <a:ext cx="5376672" cy="1335024"/>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501383" y="1554480"/>
            <a:ext cx="49743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PGT-M</a:t>
            </a:r>
          </a:p>
        </p:txBody>
      </p:sp>
      <p:sp>
        <p:nvSpPr>
          <p:cNvPr id="14" name="TextBox 13"/>
          <p:cNvSpPr txBox="1"/>
          <p:nvPr/>
        </p:nvSpPr>
        <p:spPr>
          <a:xfrm>
            <a:off x="6501383" y="1993392"/>
            <a:ext cx="4974336" cy="57607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Uses IVF to test embryos
for a known single-gene condition.</a:t>
            </a:r>
          </a:p>
        </p:txBody>
      </p:sp>
      <p:sp>
        <p:nvSpPr>
          <p:cNvPr id="15" name="Rectangle 14"/>
          <p:cNvSpPr/>
          <p:nvPr/>
        </p:nvSpPr>
        <p:spPr>
          <a:xfrm>
            <a:off x="658368" y="2916936"/>
            <a:ext cx="5376672" cy="1335024"/>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9536" y="3081528"/>
            <a:ext cx="49743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Polygenic screening</a:t>
            </a:r>
          </a:p>
        </p:txBody>
      </p:sp>
      <p:sp>
        <p:nvSpPr>
          <p:cNvPr id="17" name="TextBox 16"/>
          <p:cNvSpPr txBox="1"/>
          <p:nvPr/>
        </p:nvSpPr>
        <p:spPr>
          <a:xfrm>
            <a:off x="859536" y="3520440"/>
            <a:ext cx="4974336" cy="57607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Uses many variants to estimate
complex disease risk.</a:t>
            </a:r>
          </a:p>
        </p:txBody>
      </p:sp>
      <p:sp>
        <p:nvSpPr>
          <p:cNvPr id="18" name="Rectangle 17"/>
          <p:cNvSpPr/>
          <p:nvPr/>
        </p:nvSpPr>
        <p:spPr>
          <a:xfrm>
            <a:off x="6300216" y="2916936"/>
            <a:ext cx="5376672" cy="1335024"/>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01383" y="3081528"/>
            <a:ext cx="4974336"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Genome editing</a:t>
            </a:r>
          </a:p>
        </p:txBody>
      </p:sp>
      <p:sp>
        <p:nvSpPr>
          <p:cNvPr id="20" name="TextBox 19"/>
          <p:cNvSpPr txBox="1"/>
          <p:nvPr/>
        </p:nvSpPr>
        <p:spPr>
          <a:xfrm>
            <a:off x="6501383" y="3520440"/>
            <a:ext cx="4974336" cy="57607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Changes DNA; heritable changes
may reach future generations.</a:t>
            </a:r>
          </a:p>
        </p:txBody>
      </p:sp>
      <p:sp>
        <p:nvSpPr>
          <p:cNvPr id="21" name="TextBox 20"/>
          <p:cNvSpPr txBox="1"/>
          <p:nvPr/>
        </p:nvSpPr>
        <p:spPr>
          <a:xfrm>
            <a:off x="704088" y="4608576"/>
            <a:ext cx="10789920" cy="338328"/>
          </a:xfrm>
          <a:prstGeom prst="rect">
            <a:avLst/>
          </a:prstGeom>
          <a:noFill/>
        </p:spPr>
        <p:txBody>
          <a:bodyPr wrap="square" lIns="0" rIns="0" tIns="0" bIns="0" anchor="t">
            <a:spAutoFit/>
          </a:bodyPr>
          <a:lstStyle/>
          <a:p>
            <a:pPr algn="l">
              <a:lnSpc>
                <a:spcPts val="2477"/>
              </a:lnSpc>
              <a:spcAft>
                <a:spcPts val="800"/>
              </a:spcAft>
            </a:pPr>
            <a:r>
              <a:rPr sz="2100" b="1">
                <a:solidFill>
                  <a:srgbClr val="276452"/>
                </a:solidFill>
                <a:latin typeface="Liberation Sans"/>
              </a:rPr>
              <a:t>A simplified PGT-M pathway</a:t>
            </a:r>
          </a:p>
        </p:txBody>
      </p:sp>
      <p:sp>
        <p:nvSpPr>
          <p:cNvPr id="22" name="Rectangle 21"/>
          <p:cNvSpPr/>
          <p:nvPr/>
        </p:nvSpPr>
        <p:spPr>
          <a:xfrm>
            <a:off x="676656" y="5212080"/>
            <a:ext cx="2450592" cy="58521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31520" y="5404104"/>
            <a:ext cx="2340864" cy="256032"/>
          </a:xfrm>
          <a:prstGeom prst="rect">
            <a:avLst/>
          </a:prstGeom>
          <a:noFill/>
        </p:spPr>
        <p:txBody>
          <a:bodyPr wrap="square" lIns="0" rIns="0" tIns="0" bIns="0" anchor="t">
            <a:spAutoFit/>
          </a:bodyPr>
          <a:lstStyle/>
          <a:p>
            <a:pPr algn="ctr">
              <a:lnSpc>
                <a:spcPts val="1935"/>
              </a:lnSpc>
              <a:spcAft>
                <a:spcPts val="800"/>
              </a:spcAft>
            </a:pPr>
            <a:r>
              <a:rPr sz="1639" b="1">
                <a:solidFill>
                  <a:srgbClr val="276452"/>
                </a:solidFill>
                <a:latin typeface="Liberation Sans"/>
              </a:rPr>
              <a:t>Genetic counselling</a:t>
            </a:r>
          </a:p>
        </p:txBody>
      </p:sp>
      <p:sp>
        <p:nvSpPr>
          <p:cNvPr id="24" name="Right Arrow 23"/>
          <p:cNvSpPr/>
          <p:nvPr/>
        </p:nvSpPr>
        <p:spPr>
          <a:xfrm>
            <a:off x="3209544" y="5413248"/>
            <a:ext cx="219456" cy="164592"/>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3511296" y="5212080"/>
            <a:ext cx="2450592" cy="58521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566160" y="5404104"/>
            <a:ext cx="2340864" cy="256032"/>
          </a:xfrm>
          <a:prstGeom prst="rect">
            <a:avLst/>
          </a:prstGeom>
          <a:noFill/>
        </p:spPr>
        <p:txBody>
          <a:bodyPr wrap="square" lIns="0" rIns="0" tIns="0" bIns="0" anchor="t">
            <a:spAutoFit/>
          </a:bodyPr>
          <a:lstStyle/>
          <a:p>
            <a:pPr algn="ctr">
              <a:lnSpc>
                <a:spcPts val="1935"/>
              </a:lnSpc>
              <a:spcAft>
                <a:spcPts val="800"/>
              </a:spcAft>
            </a:pPr>
            <a:r>
              <a:rPr sz="1639" b="1">
                <a:solidFill>
                  <a:srgbClr val="276452"/>
                </a:solidFill>
                <a:latin typeface="Liberation Sans"/>
              </a:rPr>
              <a:t>IVF</a:t>
            </a:r>
          </a:p>
        </p:txBody>
      </p:sp>
      <p:sp>
        <p:nvSpPr>
          <p:cNvPr id="27" name="Right Arrow 26"/>
          <p:cNvSpPr/>
          <p:nvPr/>
        </p:nvSpPr>
        <p:spPr>
          <a:xfrm>
            <a:off x="6044183" y="5413248"/>
            <a:ext cx="219456" cy="164592"/>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345936" y="5212080"/>
            <a:ext cx="2450592" cy="58521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400800" y="5404104"/>
            <a:ext cx="2340864" cy="256032"/>
          </a:xfrm>
          <a:prstGeom prst="rect">
            <a:avLst/>
          </a:prstGeom>
          <a:noFill/>
        </p:spPr>
        <p:txBody>
          <a:bodyPr wrap="square" lIns="0" rIns="0" tIns="0" bIns="0" anchor="t">
            <a:spAutoFit/>
          </a:bodyPr>
          <a:lstStyle/>
          <a:p>
            <a:pPr algn="ctr">
              <a:lnSpc>
                <a:spcPts val="1935"/>
              </a:lnSpc>
              <a:spcAft>
                <a:spcPts val="800"/>
              </a:spcAft>
            </a:pPr>
            <a:r>
              <a:rPr sz="1639" b="1">
                <a:solidFill>
                  <a:srgbClr val="276452"/>
                </a:solidFill>
                <a:latin typeface="Liberation Sans"/>
              </a:rPr>
              <a:t>Embryo testing</a:t>
            </a:r>
          </a:p>
        </p:txBody>
      </p:sp>
      <p:sp>
        <p:nvSpPr>
          <p:cNvPr id="30" name="Right Arrow 29"/>
          <p:cNvSpPr/>
          <p:nvPr/>
        </p:nvSpPr>
        <p:spPr>
          <a:xfrm>
            <a:off x="8878824" y="5413248"/>
            <a:ext cx="219456" cy="164592"/>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9180576" y="5212080"/>
            <a:ext cx="2450592" cy="58521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235440" y="5404104"/>
            <a:ext cx="2340864" cy="256032"/>
          </a:xfrm>
          <a:prstGeom prst="rect">
            <a:avLst/>
          </a:prstGeom>
          <a:noFill/>
        </p:spPr>
        <p:txBody>
          <a:bodyPr wrap="square" lIns="0" rIns="0" tIns="0" bIns="0" anchor="t">
            <a:spAutoFit/>
          </a:bodyPr>
          <a:lstStyle/>
          <a:p>
            <a:pPr algn="ctr">
              <a:lnSpc>
                <a:spcPts val="1935"/>
              </a:lnSpc>
              <a:spcAft>
                <a:spcPts val="800"/>
              </a:spcAft>
            </a:pPr>
            <a:r>
              <a:rPr sz="1639" b="1">
                <a:solidFill>
                  <a:srgbClr val="276452"/>
                </a:solidFill>
                <a:latin typeface="Liberation Sans"/>
              </a:rPr>
              <a:t>Transfer decision</a:t>
            </a:r>
          </a:p>
        </p:txBody>
      </p:sp>
      <p:sp>
        <p:nvSpPr>
          <p:cNvPr id="33" name="TextBox 32"/>
          <p:cNvSpPr txBox="1"/>
          <p:nvPr/>
        </p:nvSpPr>
        <p:spPr>
          <a:xfrm>
            <a:off x="740664" y="6007608"/>
            <a:ext cx="10698480" cy="246888"/>
          </a:xfrm>
          <a:prstGeom prst="rect">
            <a:avLst/>
          </a:prstGeom>
          <a:noFill/>
        </p:spPr>
        <p:txBody>
          <a:bodyPr wrap="square" lIns="0" rIns="0" tIns="0" bIns="0" anchor="t">
            <a:spAutoFit/>
          </a:bodyPr>
          <a:lstStyle/>
          <a:p>
            <a:pPr algn="l">
              <a:lnSpc>
                <a:spcPts val="2005"/>
              </a:lnSpc>
              <a:spcAft>
                <a:spcPts val="800"/>
              </a:spcAft>
            </a:pPr>
            <a:r>
              <a:rPr sz="1700" b="0">
                <a:solidFill>
                  <a:srgbClr val="52635D"/>
                </a:solidFill>
                <a:latin typeface="Liberation Sans"/>
              </a:rPr>
              <a:t>Selection chooses among embryos; it does not repair their DNA.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c. Research paper 1</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Karavani and colleagues • Cell</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7</a:t>
            </a:r>
          </a:p>
        </p:txBody>
      </p:sp>
      <p:sp>
        <p:nvSpPr>
          <p:cNvPr id="9" name="TextBox 8"/>
          <p:cNvSpPr txBox="1"/>
          <p:nvPr/>
        </p:nvSpPr>
        <p:spPr>
          <a:xfrm>
            <a:off x="694944" y="1298448"/>
            <a:ext cx="10835640" cy="676656"/>
          </a:xfrm>
          <a:prstGeom prst="rect">
            <a:avLst/>
          </a:prstGeom>
          <a:noFill/>
        </p:spPr>
        <p:txBody>
          <a:bodyPr wrap="square" lIns="0" rIns="0" tIns="0" bIns="0" anchor="t">
            <a:spAutoFit/>
          </a:bodyPr>
          <a:lstStyle/>
          <a:p>
            <a:pPr algn="l">
              <a:lnSpc>
                <a:spcPts val="2713"/>
              </a:lnSpc>
              <a:spcAft>
                <a:spcPts val="800"/>
              </a:spcAft>
            </a:pPr>
            <a:r>
              <a:rPr sz="2300" b="1">
                <a:solidFill>
                  <a:srgbClr val="276452"/>
                </a:solidFill>
                <a:latin typeface="Liberation Sans"/>
              </a:rPr>
              <a:t>“Screening human embryos for polygenic traits has limited utility”</a:t>
            </a:r>
          </a:p>
        </p:txBody>
      </p:sp>
      <p:sp>
        <p:nvSpPr>
          <p:cNvPr id="10" name="Rectangle 9"/>
          <p:cNvSpPr/>
          <p:nvPr/>
        </p:nvSpPr>
        <p:spPr>
          <a:xfrm>
            <a:off x="658368" y="2240280"/>
            <a:ext cx="5367528" cy="149961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59536" y="2404872"/>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Aim</a:t>
            </a:r>
          </a:p>
        </p:txBody>
      </p:sp>
      <p:sp>
        <p:nvSpPr>
          <p:cNvPr id="12" name="TextBox 11"/>
          <p:cNvSpPr txBox="1"/>
          <p:nvPr/>
        </p:nvSpPr>
        <p:spPr>
          <a:xfrm>
            <a:off x="859536" y="2843784"/>
            <a:ext cx="4965192" cy="740664"/>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Can selecting embryos using polygenic scores reliably improve traits such as height?</a:t>
            </a:r>
          </a:p>
        </p:txBody>
      </p:sp>
      <p:sp>
        <p:nvSpPr>
          <p:cNvPr id="13" name="Rectangle 12"/>
          <p:cNvSpPr/>
          <p:nvPr/>
        </p:nvSpPr>
        <p:spPr>
          <a:xfrm>
            <a:off x="6190488" y="2240280"/>
            <a:ext cx="5367528" cy="149961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391655" y="2404872"/>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Method</a:t>
            </a:r>
          </a:p>
        </p:txBody>
      </p:sp>
      <p:sp>
        <p:nvSpPr>
          <p:cNvPr id="15" name="TextBox 14"/>
          <p:cNvSpPr txBox="1"/>
          <p:nvPr/>
        </p:nvSpPr>
        <p:spPr>
          <a:xfrm>
            <a:off x="6391655" y="2843784"/>
            <a:ext cx="4965192" cy="740664"/>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Statistical models were compared with genetic and family data.</a:t>
            </a:r>
          </a:p>
        </p:txBody>
      </p:sp>
      <p:sp>
        <p:nvSpPr>
          <p:cNvPr id="16" name="Rectangle 15"/>
          <p:cNvSpPr/>
          <p:nvPr/>
        </p:nvSpPr>
        <p:spPr>
          <a:xfrm>
            <a:off x="658368" y="3904487"/>
            <a:ext cx="5367528" cy="160020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9536" y="4069079"/>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Main finding</a:t>
            </a:r>
          </a:p>
        </p:txBody>
      </p:sp>
      <p:sp>
        <p:nvSpPr>
          <p:cNvPr id="18" name="TextBox 17"/>
          <p:cNvSpPr txBox="1"/>
          <p:nvPr/>
        </p:nvSpPr>
        <p:spPr>
          <a:xfrm>
            <a:off x="859536" y="4507992"/>
            <a:ext cx="4965192" cy="84124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Predicted gains were limited and uncertain. The top-scoring embryo was not guaranteed the top outcome.</a:t>
            </a:r>
          </a:p>
        </p:txBody>
      </p:sp>
      <p:sp>
        <p:nvSpPr>
          <p:cNvPr id="19" name="Rectangle 18"/>
          <p:cNvSpPr/>
          <p:nvPr/>
        </p:nvSpPr>
        <p:spPr>
          <a:xfrm>
            <a:off x="6190488" y="3904487"/>
            <a:ext cx="5367528" cy="160020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91655" y="4069079"/>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Limitations</a:t>
            </a:r>
          </a:p>
        </p:txBody>
      </p:sp>
      <p:sp>
        <p:nvSpPr>
          <p:cNvPr id="21" name="TextBox 20"/>
          <p:cNvSpPr txBox="1"/>
          <p:nvPr/>
        </p:nvSpPr>
        <p:spPr>
          <a:xfrm>
            <a:off x="6391655" y="4507992"/>
            <a:ext cx="4965192" cy="84124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Results depend on score accuracy, available embryos, and the trait. A score cannot predict a whole life.</a:t>
            </a:r>
          </a:p>
        </p:txBody>
      </p:sp>
      <p:sp>
        <p:nvSpPr>
          <p:cNvPr id="22" name="TextBox 21"/>
          <p:cNvSpPr txBox="1"/>
          <p:nvPr/>
        </p:nvSpPr>
        <p:spPr>
          <a:xfrm>
            <a:off x="768096" y="5843016"/>
            <a:ext cx="10607040" cy="347472"/>
          </a:xfrm>
          <a:prstGeom prst="rect">
            <a:avLst/>
          </a:prstGeom>
          <a:noFill/>
        </p:spPr>
        <p:txBody>
          <a:bodyPr wrap="square" lIns="0" rIns="0" tIns="0" bIns="0" anchor="t">
            <a:spAutoFit/>
          </a:bodyPr>
          <a:lstStyle/>
          <a:p>
            <a:pPr algn="l">
              <a:lnSpc>
                <a:spcPts val="2242"/>
              </a:lnSpc>
              <a:spcAft>
                <a:spcPts val="800"/>
              </a:spcAft>
            </a:pPr>
            <a:r>
              <a:rPr sz="1900" b="1">
                <a:solidFill>
                  <a:srgbClr val="276452"/>
                </a:solidFill>
                <a:latin typeface="Liberation Sans"/>
              </a:rPr>
              <a:t>Take-home point: A higher genetic score does not guarantee a “better” child.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c. Research paper 2</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Lencz and colleagues • eLife</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[2]</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8</a:t>
            </a:r>
          </a:p>
        </p:txBody>
      </p:sp>
      <p:sp>
        <p:nvSpPr>
          <p:cNvPr id="9" name="TextBox 8"/>
          <p:cNvSpPr txBox="1"/>
          <p:nvPr/>
        </p:nvSpPr>
        <p:spPr>
          <a:xfrm>
            <a:off x="694944" y="1280160"/>
            <a:ext cx="10844784" cy="768096"/>
          </a:xfrm>
          <a:prstGeom prst="rect">
            <a:avLst/>
          </a:prstGeom>
          <a:noFill/>
        </p:spPr>
        <p:txBody>
          <a:bodyPr wrap="square" lIns="0" rIns="0" tIns="0" bIns="0" anchor="t">
            <a:spAutoFit/>
          </a:bodyPr>
          <a:lstStyle/>
          <a:p>
            <a:pPr algn="l">
              <a:lnSpc>
                <a:spcPts val="2595"/>
              </a:lnSpc>
              <a:spcAft>
                <a:spcPts val="800"/>
              </a:spcAft>
            </a:pPr>
            <a:r>
              <a:rPr sz="2200" b="1">
                <a:solidFill>
                  <a:srgbClr val="276452"/>
                </a:solidFill>
                <a:latin typeface="Liberation Sans"/>
              </a:rPr>
              <a:t>“Utility of polygenic embryo screening for disease depends on the selection strategy”</a:t>
            </a:r>
          </a:p>
        </p:txBody>
      </p:sp>
      <p:sp>
        <p:nvSpPr>
          <p:cNvPr id="10" name="Rectangle 9"/>
          <p:cNvSpPr/>
          <p:nvPr/>
        </p:nvSpPr>
        <p:spPr>
          <a:xfrm>
            <a:off x="658368" y="2267712"/>
            <a:ext cx="5367528" cy="164592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59536" y="2432304"/>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Aim and method</a:t>
            </a:r>
          </a:p>
        </p:txBody>
      </p:sp>
      <p:sp>
        <p:nvSpPr>
          <p:cNvPr id="12" name="TextBox 11"/>
          <p:cNvSpPr txBox="1"/>
          <p:nvPr/>
        </p:nvSpPr>
        <p:spPr>
          <a:xfrm>
            <a:off x="859536" y="2871216"/>
            <a:ext cx="4965192" cy="88696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The study modelled disease risk and checked its predictions using virtual offspring based on real genetic data.</a:t>
            </a:r>
          </a:p>
        </p:txBody>
      </p:sp>
      <p:sp>
        <p:nvSpPr>
          <p:cNvPr id="13" name="Rectangle 12"/>
          <p:cNvSpPr/>
          <p:nvPr/>
        </p:nvSpPr>
        <p:spPr>
          <a:xfrm>
            <a:off x="6190488" y="2267712"/>
            <a:ext cx="5367528" cy="164592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391655" y="2432304"/>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Two strategies</a:t>
            </a:r>
          </a:p>
        </p:txBody>
      </p:sp>
      <p:sp>
        <p:nvSpPr>
          <p:cNvPr id="15" name="TextBox 14"/>
          <p:cNvSpPr txBox="1"/>
          <p:nvPr/>
        </p:nvSpPr>
        <p:spPr>
          <a:xfrm>
            <a:off x="6391655" y="2871216"/>
            <a:ext cx="4965192" cy="88696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1. Exclude only very high-risk embryos.
2. Prioritize the embryo with the lowest score.</a:t>
            </a:r>
          </a:p>
        </p:txBody>
      </p:sp>
      <p:sp>
        <p:nvSpPr>
          <p:cNvPr id="16" name="Rectangle 15"/>
          <p:cNvSpPr/>
          <p:nvPr/>
        </p:nvSpPr>
        <p:spPr>
          <a:xfrm>
            <a:off x="658368" y="4087368"/>
            <a:ext cx="5367528" cy="1609344"/>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9536" y="4251959"/>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Main finding</a:t>
            </a:r>
          </a:p>
        </p:txBody>
      </p:sp>
      <p:sp>
        <p:nvSpPr>
          <p:cNvPr id="18" name="TextBox 17"/>
          <p:cNvSpPr txBox="1"/>
          <p:nvPr/>
        </p:nvSpPr>
        <p:spPr>
          <a:xfrm>
            <a:off x="859536" y="4690872"/>
            <a:ext cx="4965192" cy="85039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Choosing the lowest-risk embryo could give larger relative risk reductions when enough viable embryos were available.</a:t>
            </a:r>
          </a:p>
        </p:txBody>
      </p:sp>
      <p:sp>
        <p:nvSpPr>
          <p:cNvPr id="19" name="Rectangle 18"/>
          <p:cNvSpPr/>
          <p:nvPr/>
        </p:nvSpPr>
        <p:spPr>
          <a:xfrm>
            <a:off x="6190488" y="4087368"/>
            <a:ext cx="5367528" cy="1609344"/>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91655" y="4251959"/>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Limitations</a:t>
            </a:r>
          </a:p>
        </p:txBody>
      </p:sp>
      <p:sp>
        <p:nvSpPr>
          <p:cNvPr id="21" name="TextBox 20"/>
          <p:cNvSpPr txBox="1"/>
          <p:nvPr/>
        </p:nvSpPr>
        <p:spPr>
          <a:xfrm>
            <a:off x="6391655" y="4690872"/>
            <a:ext cx="4965192" cy="85039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It was not a long-term clinical trial. Results depend on the model, score accuracy, disease, and embryo number.</a:t>
            </a:r>
          </a:p>
        </p:txBody>
      </p:sp>
      <p:sp>
        <p:nvSpPr>
          <p:cNvPr id="22" name="TextBox 21"/>
          <p:cNvSpPr txBox="1"/>
          <p:nvPr/>
        </p:nvSpPr>
        <p:spPr>
          <a:xfrm>
            <a:off x="777240" y="5916168"/>
            <a:ext cx="10698480" cy="274320"/>
          </a:xfrm>
          <a:prstGeom prst="rect">
            <a:avLst/>
          </a:prstGeom>
          <a:noFill/>
        </p:spPr>
        <p:txBody>
          <a:bodyPr wrap="square" lIns="0" rIns="0" tIns="0" bIns="0" anchor="t">
            <a:spAutoFit/>
          </a:bodyPr>
          <a:lstStyle/>
          <a:p>
            <a:pPr algn="l">
              <a:lnSpc>
                <a:spcPts val="2065"/>
              </a:lnSpc>
              <a:spcAft>
                <a:spcPts val="800"/>
              </a:spcAft>
            </a:pPr>
            <a:r>
              <a:rPr sz="1750" b="0">
                <a:solidFill>
                  <a:srgbClr val="52635D"/>
                </a:solidFill>
                <a:latin typeface="Liberation Sans"/>
              </a:rPr>
              <a:t>The paper studied complex diseases, including schizophrenia and Crohn’s disease.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c. What do the two papers tell us?</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Compare the findings carefully</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9</a:t>
            </a:r>
          </a:p>
        </p:txBody>
      </p:sp>
      <p:sp>
        <p:nvSpPr>
          <p:cNvPr id="9" name="Rectangle 8"/>
          <p:cNvSpPr/>
          <p:nvPr/>
        </p:nvSpPr>
        <p:spPr>
          <a:xfrm>
            <a:off x="658368" y="1417320"/>
            <a:ext cx="2331720" cy="57607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1536192"/>
            <a:ext cx="2057400" cy="374904"/>
          </a:xfrm>
          <a:prstGeom prst="rect">
            <a:avLst/>
          </a:prstGeom>
          <a:noFill/>
        </p:spPr>
        <p:txBody>
          <a:bodyPr wrap="square" lIns="0" rIns="0" tIns="0" bIns="0" anchor="t">
            <a:spAutoFit/>
          </a:bodyPr>
          <a:lstStyle/>
          <a:p>
            <a:pPr algn="l">
              <a:lnSpc>
                <a:spcPts val="2124"/>
              </a:lnSpc>
              <a:spcAft>
                <a:spcPts val="800"/>
              </a:spcAft>
            </a:pPr>
            <a:r>
              <a:rPr sz="1800" b="1">
                <a:solidFill>
                  <a:srgbClr val="FFFFFF"/>
                </a:solidFill>
                <a:latin typeface="Liberation Sans"/>
              </a:rPr>
              <a:t>Question</a:t>
            </a:r>
          </a:p>
        </p:txBody>
      </p:sp>
      <p:sp>
        <p:nvSpPr>
          <p:cNvPr id="11" name="Rectangle 10"/>
          <p:cNvSpPr/>
          <p:nvPr/>
        </p:nvSpPr>
        <p:spPr>
          <a:xfrm>
            <a:off x="3017520" y="1417320"/>
            <a:ext cx="4242816" cy="57607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154679" y="1536192"/>
            <a:ext cx="3968496" cy="374904"/>
          </a:xfrm>
          <a:prstGeom prst="rect">
            <a:avLst/>
          </a:prstGeom>
          <a:noFill/>
        </p:spPr>
        <p:txBody>
          <a:bodyPr wrap="square" lIns="0" rIns="0" tIns="0" bIns="0" anchor="t">
            <a:spAutoFit/>
          </a:bodyPr>
          <a:lstStyle/>
          <a:p>
            <a:pPr algn="l">
              <a:lnSpc>
                <a:spcPts val="2124"/>
              </a:lnSpc>
              <a:spcAft>
                <a:spcPts val="800"/>
              </a:spcAft>
            </a:pPr>
            <a:r>
              <a:rPr sz="1800" b="1">
                <a:solidFill>
                  <a:srgbClr val="FFFFFF"/>
                </a:solidFill>
                <a:latin typeface="Liberation Sans"/>
              </a:rPr>
              <a:t>Paper 1: traits</a:t>
            </a:r>
          </a:p>
        </p:txBody>
      </p:sp>
      <p:sp>
        <p:nvSpPr>
          <p:cNvPr id="13" name="Rectangle 12"/>
          <p:cNvSpPr/>
          <p:nvPr/>
        </p:nvSpPr>
        <p:spPr>
          <a:xfrm>
            <a:off x="7296912" y="1417320"/>
            <a:ext cx="4242816" cy="57607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434072" y="1536192"/>
            <a:ext cx="3968496" cy="374904"/>
          </a:xfrm>
          <a:prstGeom prst="rect">
            <a:avLst/>
          </a:prstGeom>
          <a:noFill/>
        </p:spPr>
        <p:txBody>
          <a:bodyPr wrap="square" lIns="0" rIns="0" tIns="0" bIns="0" anchor="t">
            <a:spAutoFit/>
          </a:bodyPr>
          <a:lstStyle/>
          <a:p>
            <a:pPr algn="l">
              <a:lnSpc>
                <a:spcPts val="2124"/>
              </a:lnSpc>
              <a:spcAft>
                <a:spcPts val="800"/>
              </a:spcAft>
            </a:pPr>
            <a:r>
              <a:rPr sz="1800" b="1">
                <a:solidFill>
                  <a:srgbClr val="FFFFFF"/>
                </a:solidFill>
                <a:latin typeface="Liberation Sans"/>
              </a:rPr>
              <a:t>Paper 2: disease risk</a:t>
            </a:r>
          </a:p>
        </p:txBody>
      </p:sp>
      <p:sp>
        <p:nvSpPr>
          <p:cNvPr id="15" name="Rectangle 14"/>
          <p:cNvSpPr/>
          <p:nvPr/>
        </p:nvSpPr>
        <p:spPr>
          <a:xfrm>
            <a:off x="658368" y="2048256"/>
            <a:ext cx="2331720" cy="95097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95528" y="2167128"/>
            <a:ext cx="2057400"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Main focus</a:t>
            </a:r>
          </a:p>
        </p:txBody>
      </p:sp>
      <p:sp>
        <p:nvSpPr>
          <p:cNvPr id="17" name="Rectangle 16"/>
          <p:cNvSpPr/>
          <p:nvPr/>
        </p:nvSpPr>
        <p:spPr>
          <a:xfrm>
            <a:off x="3017520" y="2048256"/>
            <a:ext cx="4242816" cy="95097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154679" y="2167128"/>
            <a:ext cx="3968496"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Predicted changes in traits such as height.</a:t>
            </a:r>
          </a:p>
        </p:txBody>
      </p:sp>
      <p:sp>
        <p:nvSpPr>
          <p:cNvPr id="19" name="Rectangle 18"/>
          <p:cNvSpPr/>
          <p:nvPr/>
        </p:nvSpPr>
        <p:spPr>
          <a:xfrm>
            <a:off x="7296912" y="2048256"/>
            <a:ext cx="4242816" cy="95097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434072" y="2167128"/>
            <a:ext cx="3968496"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Predicted reduction in one complex disease risk.</a:t>
            </a:r>
          </a:p>
        </p:txBody>
      </p:sp>
      <p:sp>
        <p:nvSpPr>
          <p:cNvPr id="21" name="Rectangle 20"/>
          <p:cNvSpPr/>
          <p:nvPr/>
        </p:nvSpPr>
        <p:spPr>
          <a:xfrm>
            <a:off x="658368" y="3054096"/>
            <a:ext cx="2331720" cy="950976"/>
          </a:xfrm>
          <a:prstGeom prst="rect">
            <a:avLst/>
          </a:prstGeom>
          <a:solidFill>
            <a:srgbClr val="FAFB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95528" y="3172968"/>
            <a:ext cx="2057400"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Main message</a:t>
            </a:r>
          </a:p>
        </p:txBody>
      </p:sp>
      <p:sp>
        <p:nvSpPr>
          <p:cNvPr id="23" name="Rectangle 22"/>
          <p:cNvSpPr/>
          <p:nvPr/>
        </p:nvSpPr>
        <p:spPr>
          <a:xfrm>
            <a:off x="3017520" y="3054096"/>
            <a:ext cx="4242816" cy="950976"/>
          </a:xfrm>
          <a:prstGeom prst="rect">
            <a:avLst/>
          </a:prstGeom>
          <a:solidFill>
            <a:srgbClr val="FAFB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154679" y="3172968"/>
            <a:ext cx="3968496"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Gains were limited and uncertain in the studied settings.</a:t>
            </a:r>
          </a:p>
        </p:txBody>
      </p:sp>
      <p:sp>
        <p:nvSpPr>
          <p:cNvPr id="25" name="Rectangle 24"/>
          <p:cNvSpPr/>
          <p:nvPr/>
        </p:nvSpPr>
        <p:spPr>
          <a:xfrm>
            <a:off x="7296912" y="3054096"/>
            <a:ext cx="4242816" cy="950976"/>
          </a:xfrm>
          <a:prstGeom prst="rect">
            <a:avLst/>
          </a:prstGeom>
          <a:solidFill>
            <a:srgbClr val="FAFB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434072" y="3172968"/>
            <a:ext cx="3968496"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The strategy can greatly change the predicted benefit.</a:t>
            </a:r>
          </a:p>
        </p:txBody>
      </p:sp>
      <p:sp>
        <p:nvSpPr>
          <p:cNvPr id="27" name="Rectangle 26"/>
          <p:cNvSpPr/>
          <p:nvPr/>
        </p:nvSpPr>
        <p:spPr>
          <a:xfrm>
            <a:off x="658368" y="4059936"/>
            <a:ext cx="2331720" cy="95097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95528" y="4178808"/>
            <a:ext cx="2057400"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Shared limit</a:t>
            </a:r>
          </a:p>
        </p:txBody>
      </p:sp>
      <p:sp>
        <p:nvSpPr>
          <p:cNvPr id="29" name="Rectangle 28"/>
          <p:cNvSpPr/>
          <p:nvPr/>
        </p:nvSpPr>
        <p:spPr>
          <a:xfrm>
            <a:off x="3017520" y="4059936"/>
            <a:ext cx="4242816" cy="95097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154679" y="4178808"/>
            <a:ext cx="3968496"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A prediction is not a guarantee for an individual child.</a:t>
            </a:r>
          </a:p>
        </p:txBody>
      </p:sp>
      <p:sp>
        <p:nvSpPr>
          <p:cNvPr id="31" name="Rectangle 30"/>
          <p:cNvSpPr/>
          <p:nvPr/>
        </p:nvSpPr>
        <p:spPr>
          <a:xfrm>
            <a:off x="7296912" y="4059936"/>
            <a:ext cx="4242816" cy="95097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434072" y="4178808"/>
            <a:ext cx="3968496" cy="749808"/>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A model is not proof of long-term clinical benefit.</a:t>
            </a:r>
          </a:p>
        </p:txBody>
      </p:sp>
      <p:sp>
        <p:nvSpPr>
          <p:cNvPr id="33" name="TextBox 32"/>
          <p:cNvSpPr txBox="1"/>
          <p:nvPr/>
        </p:nvSpPr>
        <p:spPr>
          <a:xfrm>
            <a:off x="777240" y="5340096"/>
            <a:ext cx="10698480" cy="338328"/>
          </a:xfrm>
          <a:prstGeom prst="rect">
            <a:avLst/>
          </a:prstGeom>
          <a:noFill/>
        </p:spPr>
        <p:txBody>
          <a:bodyPr wrap="square" lIns="0" rIns="0" tIns="0" bIns="0" anchor="t">
            <a:spAutoFit/>
          </a:bodyPr>
          <a:lstStyle/>
          <a:p>
            <a:pPr algn="l">
              <a:lnSpc>
                <a:spcPts val="2713"/>
              </a:lnSpc>
              <a:spcAft>
                <a:spcPts val="800"/>
              </a:spcAft>
            </a:pPr>
            <a:r>
              <a:rPr sz="2300" b="1">
                <a:solidFill>
                  <a:srgbClr val="276452"/>
                </a:solidFill>
                <a:latin typeface="Liberation Sans"/>
              </a:rPr>
              <a:t>Example only: 10% risk → 7% risk</a:t>
            </a:r>
          </a:p>
        </p:txBody>
      </p:sp>
      <p:sp>
        <p:nvSpPr>
          <p:cNvPr id="34" name="TextBox 33"/>
          <p:cNvSpPr txBox="1"/>
          <p:nvPr/>
        </p:nvSpPr>
        <p:spPr>
          <a:xfrm>
            <a:off x="777240" y="5824728"/>
            <a:ext cx="10698480" cy="356616"/>
          </a:xfrm>
          <a:prstGeom prst="rect">
            <a:avLst/>
          </a:prstGeom>
          <a:noFill/>
        </p:spPr>
        <p:txBody>
          <a:bodyPr wrap="square" lIns="0" rIns="0" tIns="0" bIns="0" anchor="t">
            <a:spAutoFit/>
          </a:bodyPr>
          <a:lstStyle/>
          <a:p>
            <a:pPr algn="l">
              <a:lnSpc>
                <a:spcPts val="2242"/>
              </a:lnSpc>
              <a:spcAft>
                <a:spcPts val="800"/>
              </a:spcAft>
            </a:pPr>
            <a:r>
              <a:rPr sz="1900" b="0">
                <a:solidFill>
                  <a:srgbClr val="24312E"/>
                </a:solidFill>
                <a:latin typeface="Liberation Sans"/>
              </a:rPr>
              <a:t>That is 3 percentage points lower, or a 30% relative reduction—not zero risk.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d. Benefits and limitations</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Possible benefits depend on the practice and the evidence</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 [4]</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10</a:t>
            </a:r>
          </a:p>
        </p:txBody>
      </p:sp>
      <p:sp>
        <p:nvSpPr>
          <p:cNvPr id="9" name="Rectangle 8"/>
          <p:cNvSpPr/>
          <p:nvPr/>
        </p:nvSpPr>
        <p:spPr>
          <a:xfrm>
            <a:off x="658368" y="1426464"/>
            <a:ext cx="5367528" cy="4233672"/>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9536" y="1591056"/>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Possible benefits</a:t>
            </a:r>
          </a:p>
        </p:txBody>
      </p:sp>
      <p:sp>
        <p:nvSpPr>
          <p:cNvPr id="11" name="TextBox 10"/>
          <p:cNvSpPr txBox="1"/>
          <p:nvPr/>
        </p:nvSpPr>
        <p:spPr>
          <a:xfrm>
            <a:off x="859536" y="2029968"/>
            <a:ext cx="4965192" cy="3474720"/>
          </a:xfrm>
          <a:prstGeom prst="rect">
            <a:avLst/>
          </a:prstGeom>
          <a:noFill/>
        </p:spPr>
        <p:txBody>
          <a:bodyPr wrap="square" lIns="0" rIns="0" tIns="0" bIns="0" anchor="t">
            <a:spAutoFit/>
          </a:bodyPr>
          <a:lstStyle/>
          <a:p>
            <a:pPr algn="l">
              <a:lnSpc>
                <a:spcPts val="2360"/>
              </a:lnSpc>
              <a:spcAft>
                <a:spcPts val="800"/>
              </a:spcAft>
            </a:pPr>
            <a:r>
              <a:rPr sz="2000" b="0">
                <a:solidFill>
                  <a:srgbClr val="24312E"/>
                </a:solidFill>
                <a:latin typeface="Liberation Sans"/>
              </a:rPr>
              <a:t>• Helps families understand inherited risks.
• May reduce the chance of a serious single-gene condition.
• Can give families more reproductive choices.
• Can support informed planning and counselling.</a:t>
            </a:r>
          </a:p>
        </p:txBody>
      </p:sp>
      <p:sp>
        <p:nvSpPr>
          <p:cNvPr id="12" name="Rectangle 11"/>
          <p:cNvSpPr/>
          <p:nvPr/>
        </p:nvSpPr>
        <p:spPr>
          <a:xfrm>
            <a:off x="6190488" y="1426464"/>
            <a:ext cx="5367528" cy="4233672"/>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391655" y="1591056"/>
            <a:ext cx="496519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Limitations</a:t>
            </a:r>
          </a:p>
        </p:txBody>
      </p:sp>
      <p:sp>
        <p:nvSpPr>
          <p:cNvPr id="14" name="TextBox 13"/>
          <p:cNvSpPr txBox="1"/>
          <p:nvPr/>
        </p:nvSpPr>
        <p:spPr>
          <a:xfrm>
            <a:off x="6391655" y="2029968"/>
            <a:ext cx="4965192" cy="3474720"/>
          </a:xfrm>
          <a:prstGeom prst="rect">
            <a:avLst/>
          </a:prstGeom>
          <a:noFill/>
        </p:spPr>
        <p:txBody>
          <a:bodyPr wrap="square" lIns="0" rIns="0" tIns="0" bIns="0" anchor="t">
            <a:spAutoFit/>
          </a:bodyPr>
          <a:lstStyle/>
          <a:p>
            <a:pPr algn="l">
              <a:lnSpc>
                <a:spcPts val="2360"/>
              </a:lnSpc>
              <a:spcAft>
                <a:spcPts val="800"/>
              </a:spcAft>
            </a:pPr>
            <a:r>
              <a:rPr sz="2000" b="0">
                <a:solidFill>
                  <a:srgbClr val="24312E"/>
                </a:solidFill>
                <a:latin typeface="Liberation Sans"/>
              </a:rPr>
              <a:t>• Many traits depend on genes and environment.
• Prediction does not guarantee health.
• IVF can be costly and physically demanding.
• Few embryos, test errors, and unequal access can limit benefit.</a:t>
            </a:r>
          </a:p>
        </p:txBody>
      </p:sp>
      <p:sp>
        <p:nvSpPr>
          <p:cNvPr id="15" name="TextBox 14"/>
          <p:cNvSpPr txBox="1"/>
          <p:nvPr/>
        </p:nvSpPr>
        <p:spPr>
          <a:xfrm>
            <a:off x="786384" y="5925312"/>
            <a:ext cx="10698480" cy="301752"/>
          </a:xfrm>
          <a:prstGeom prst="rect">
            <a:avLst/>
          </a:prstGeom>
          <a:noFill/>
        </p:spPr>
        <p:txBody>
          <a:bodyPr wrap="square" lIns="0" rIns="0" tIns="0" bIns="0" anchor="t">
            <a:spAutoFit/>
          </a:bodyPr>
          <a:lstStyle/>
          <a:p>
            <a:pPr algn="l">
              <a:lnSpc>
                <a:spcPts val="2159"/>
              </a:lnSpc>
              <a:spcAft>
                <a:spcPts val="800"/>
              </a:spcAft>
            </a:pPr>
            <a:r>
              <a:rPr sz="1830" b="1">
                <a:solidFill>
                  <a:srgbClr val="276452"/>
                </a:solidFill>
                <a:latin typeface="Liberation Sans"/>
              </a:rPr>
              <a:t>Strongest case: voluntary, reliable testing for a well-understood serious inherited condition.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e. Ethical implications</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Scientific ability does not automatically make an action right</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[4], [5], [7]</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11</a:t>
            </a:r>
          </a:p>
        </p:txBody>
      </p:sp>
      <p:sp>
        <p:nvSpPr>
          <p:cNvPr id="9" name="Oval 8"/>
          <p:cNvSpPr/>
          <p:nvPr/>
        </p:nvSpPr>
        <p:spPr>
          <a:xfrm>
            <a:off x="777240" y="1508760"/>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05840" y="1417320"/>
            <a:ext cx="10378440" cy="594360"/>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Consent: People must be free to accept or refuse testing.</a:t>
            </a:r>
          </a:p>
        </p:txBody>
      </p:sp>
      <p:sp>
        <p:nvSpPr>
          <p:cNvPr id="11" name="Oval 10"/>
          <p:cNvSpPr/>
          <p:nvPr/>
        </p:nvSpPr>
        <p:spPr>
          <a:xfrm>
            <a:off x="777240" y="2194560"/>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05840" y="2103120"/>
            <a:ext cx="10378440" cy="594360"/>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Disability rights: A condition does not reduce a person’s worth.</a:t>
            </a:r>
          </a:p>
        </p:txBody>
      </p:sp>
      <p:sp>
        <p:nvSpPr>
          <p:cNvPr id="13" name="Oval 12"/>
          <p:cNvSpPr/>
          <p:nvPr/>
        </p:nvSpPr>
        <p:spPr>
          <a:xfrm>
            <a:off x="777240" y="2880360"/>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05840" y="2788920"/>
            <a:ext cx="10378440" cy="594360"/>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Fairness: Expensive tests may increase inequality.</a:t>
            </a:r>
          </a:p>
        </p:txBody>
      </p:sp>
      <p:sp>
        <p:nvSpPr>
          <p:cNvPr id="15" name="Oval 14"/>
          <p:cNvSpPr/>
          <p:nvPr/>
        </p:nvSpPr>
        <p:spPr>
          <a:xfrm>
            <a:off x="777240" y="3566160"/>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05840" y="3474720"/>
            <a:ext cx="10378440" cy="594360"/>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Privacy: Genetic information also affects relatives.</a:t>
            </a:r>
          </a:p>
        </p:txBody>
      </p:sp>
      <p:sp>
        <p:nvSpPr>
          <p:cNvPr id="17" name="Oval 16"/>
          <p:cNvSpPr/>
          <p:nvPr/>
        </p:nvSpPr>
        <p:spPr>
          <a:xfrm>
            <a:off x="777240" y="4251959"/>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05840" y="4160520"/>
            <a:ext cx="10378440" cy="594360"/>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Pressure: Families must not be blamed for declining selection.</a:t>
            </a:r>
          </a:p>
        </p:txBody>
      </p:sp>
      <p:sp>
        <p:nvSpPr>
          <p:cNvPr id="19" name="Oval 18"/>
          <p:cNvSpPr/>
          <p:nvPr/>
        </p:nvSpPr>
        <p:spPr>
          <a:xfrm>
            <a:off x="777240" y="4937759"/>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05840" y="4846320"/>
            <a:ext cx="10378440" cy="594360"/>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Embryos: People hold different views about their moral status.</a:t>
            </a:r>
          </a:p>
        </p:txBody>
      </p:sp>
      <p:sp>
        <p:nvSpPr>
          <p:cNvPr id="21" name="Rectangle 20"/>
          <p:cNvSpPr/>
          <p:nvPr/>
        </p:nvSpPr>
        <p:spPr>
          <a:xfrm>
            <a:off x="594360" y="5742432"/>
            <a:ext cx="11000232" cy="585216"/>
          </a:xfrm>
          <a:prstGeom prst="rect">
            <a:avLst/>
          </a:prstGeom>
          <a:solidFill>
            <a:srgbClr val="FAF0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5861304"/>
            <a:ext cx="10607040" cy="365760"/>
          </a:xfrm>
          <a:prstGeom prst="rect">
            <a:avLst/>
          </a:prstGeom>
          <a:noFill/>
        </p:spPr>
        <p:txBody>
          <a:bodyPr wrap="square" lIns="0" rIns="0" tIns="0" bIns="0" anchor="t">
            <a:spAutoFit/>
          </a:bodyPr>
          <a:lstStyle/>
          <a:p>
            <a:pPr algn="l">
              <a:lnSpc>
                <a:spcPts val="2360"/>
              </a:lnSpc>
              <a:spcAft>
                <a:spcPts val="800"/>
              </a:spcAft>
            </a:pPr>
            <a:r>
              <a:rPr sz="2000" b="1">
                <a:solidFill>
                  <a:srgbClr val="9B5F42"/>
                </a:solidFill>
                <a:latin typeface="Liberation Sans"/>
              </a:rPr>
              <a:t>Forced sterilization and reproductive discrimination violate basic rights.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e. When could selective reproduction be acceptable?</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A simple way to think about the question</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[4], [5], [7]</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12</a:t>
            </a:r>
          </a:p>
        </p:txBody>
      </p:sp>
      <p:sp>
        <p:nvSpPr>
          <p:cNvPr id="9" name="Rectangle 8"/>
          <p:cNvSpPr/>
          <p:nvPr/>
        </p:nvSpPr>
        <p:spPr>
          <a:xfrm>
            <a:off x="676656" y="1536192"/>
            <a:ext cx="3410712" cy="163677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1737360"/>
            <a:ext cx="3118104" cy="402336"/>
          </a:xfrm>
          <a:prstGeom prst="rect">
            <a:avLst/>
          </a:prstGeom>
          <a:noFill/>
        </p:spPr>
        <p:txBody>
          <a:bodyPr wrap="square" lIns="0" rIns="0" tIns="0" bIns="0" anchor="t">
            <a:spAutoFit/>
          </a:bodyPr>
          <a:lstStyle/>
          <a:p>
            <a:pPr algn="ctr">
              <a:lnSpc>
                <a:spcPts val="2595"/>
              </a:lnSpc>
              <a:spcAft>
                <a:spcPts val="800"/>
              </a:spcAft>
            </a:pPr>
            <a:r>
              <a:rPr sz="2200" b="1">
                <a:solidFill>
                  <a:srgbClr val="276452"/>
                </a:solidFill>
                <a:latin typeface="Liberation Sans"/>
              </a:rPr>
              <a:t>Reliable evidence</a:t>
            </a:r>
          </a:p>
        </p:txBody>
      </p:sp>
      <p:sp>
        <p:nvSpPr>
          <p:cNvPr id="11" name="TextBox 10"/>
          <p:cNvSpPr txBox="1"/>
          <p:nvPr/>
        </p:nvSpPr>
        <p:spPr>
          <a:xfrm>
            <a:off x="859536" y="2350008"/>
            <a:ext cx="3044952" cy="640080"/>
          </a:xfrm>
          <a:prstGeom prst="rect">
            <a:avLst/>
          </a:prstGeom>
          <a:noFill/>
        </p:spPr>
        <p:txBody>
          <a:bodyPr wrap="square" lIns="0" rIns="0" tIns="0" bIns="0" anchor="t">
            <a:spAutoFit/>
          </a:bodyPr>
          <a:lstStyle/>
          <a:p>
            <a:pPr algn="ctr">
              <a:lnSpc>
                <a:spcPts val="2183"/>
              </a:lnSpc>
              <a:spcAft>
                <a:spcPts val="800"/>
              </a:spcAft>
            </a:pPr>
            <a:r>
              <a:rPr sz="1850" b="0">
                <a:solidFill>
                  <a:srgbClr val="24312E"/>
                </a:solidFill>
                <a:latin typeface="Liberation Sans"/>
              </a:rPr>
              <a:t>Does the test predict a clearly defined condition?</a:t>
            </a:r>
          </a:p>
        </p:txBody>
      </p:sp>
      <p:sp>
        <p:nvSpPr>
          <p:cNvPr id="12" name="Right Arrow 11"/>
          <p:cNvSpPr/>
          <p:nvPr/>
        </p:nvSpPr>
        <p:spPr>
          <a:xfrm>
            <a:off x="4169663" y="2249424"/>
            <a:ext cx="219456" cy="182880"/>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80560" y="1536192"/>
            <a:ext cx="3410712" cy="163677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26864" y="1737360"/>
            <a:ext cx="3118104" cy="402336"/>
          </a:xfrm>
          <a:prstGeom prst="rect">
            <a:avLst/>
          </a:prstGeom>
          <a:noFill/>
        </p:spPr>
        <p:txBody>
          <a:bodyPr wrap="square" lIns="0" rIns="0" tIns="0" bIns="0" anchor="t">
            <a:spAutoFit/>
          </a:bodyPr>
          <a:lstStyle/>
          <a:p>
            <a:pPr algn="ctr">
              <a:lnSpc>
                <a:spcPts val="2595"/>
              </a:lnSpc>
              <a:spcAft>
                <a:spcPts val="800"/>
              </a:spcAft>
            </a:pPr>
            <a:r>
              <a:rPr sz="2200" b="1">
                <a:solidFill>
                  <a:srgbClr val="276452"/>
                </a:solidFill>
                <a:latin typeface="Liberation Sans"/>
              </a:rPr>
              <a:t>Free choice</a:t>
            </a:r>
          </a:p>
        </p:txBody>
      </p:sp>
      <p:sp>
        <p:nvSpPr>
          <p:cNvPr id="15" name="TextBox 14"/>
          <p:cNvSpPr txBox="1"/>
          <p:nvPr/>
        </p:nvSpPr>
        <p:spPr>
          <a:xfrm>
            <a:off x="4663440" y="2350008"/>
            <a:ext cx="3044952" cy="640080"/>
          </a:xfrm>
          <a:prstGeom prst="rect">
            <a:avLst/>
          </a:prstGeom>
          <a:noFill/>
        </p:spPr>
        <p:txBody>
          <a:bodyPr wrap="square" lIns="0" rIns="0" tIns="0" bIns="0" anchor="t">
            <a:spAutoFit/>
          </a:bodyPr>
          <a:lstStyle/>
          <a:p>
            <a:pPr algn="ctr">
              <a:lnSpc>
                <a:spcPts val="2183"/>
              </a:lnSpc>
              <a:spcAft>
                <a:spcPts val="800"/>
              </a:spcAft>
            </a:pPr>
            <a:r>
              <a:rPr sz="1850" b="0">
                <a:solidFill>
                  <a:srgbClr val="24312E"/>
                </a:solidFill>
                <a:latin typeface="Liberation Sans"/>
              </a:rPr>
              <a:t>Can the family refuse without threats or penalties?</a:t>
            </a:r>
          </a:p>
        </p:txBody>
      </p:sp>
      <p:sp>
        <p:nvSpPr>
          <p:cNvPr id="16" name="Right Arrow 15"/>
          <p:cNvSpPr/>
          <p:nvPr/>
        </p:nvSpPr>
        <p:spPr>
          <a:xfrm>
            <a:off x="7973568" y="2249424"/>
            <a:ext cx="219456" cy="182880"/>
          </a:xfrm>
          <a:prstGeom prst="rightArrow">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284464" y="1536192"/>
            <a:ext cx="3410712" cy="1636776"/>
          </a:xfrm>
          <a:prstGeom prst="rect">
            <a:avLst/>
          </a:prstGeom>
          <a:solidFill>
            <a:srgbClr val="EEF5F1"/>
          </a:solidFill>
          <a:ln w="10160">
            <a:solidFill>
              <a:srgbClr val="CBDBD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30768" y="1737360"/>
            <a:ext cx="3118104" cy="402336"/>
          </a:xfrm>
          <a:prstGeom prst="rect">
            <a:avLst/>
          </a:prstGeom>
          <a:noFill/>
        </p:spPr>
        <p:txBody>
          <a:bodyPr wrap="square" lIns="0" rIns="0" tIns="0" bIns="0" anchor="t">
            <a:spAutoFit/>
          </a:bodyPr>
          <a:lstStyle/>
          <a:p>
            <a:pPr algn="ctr">
              <a:lnSpc>
                <a:spcPts val="2595"/>
              </a:lnSpc>
              <a:spcAft>
                <a:spcPts val="800"/>
              </a:spcAft>
            </a:pPr>
            <a:r>
              <a:rPr sz="2200" b="1">
                <a:solidFill>
                  <a:srgbClr val="276452"/>
                </a:solidFill>
                <a:latin typeface="Liberation Sans"/>
              </a:rPr>
              <a:t>Fair safeguards</a:t>
            </a:r>
          </a:p>
        </p:txBody>
      </p:sp>
      <p:sp>
        <p:nvSpPr>
          <p:cNvPr id="19" name="TextBox 18"/>
          <p:cNvSpPr txBox="1"/>
          <p:nvPr/>
        </p:nvSpPr>
        <p:spPr>
          <a:xfrm>
            <a:off x="8467344" y="2350008"/>
            <a:ext cx="3044952" cy="640080"/>
          </a:xfrm>
          <a:prstGeom prst="rect">
            <a:avLst/>
          </a:prstGeom>
          <a:noFill/>
        </p:spPr>
        <p:txBody>
          <a:bodyPr wrap="square" lIns="0" rIns="0" tIns="0" bIns="0" anchor="t">
            <a:spAutoFit/>
          </a:bodyPr>
          <a:lstStyle/>
          <a:p>
            <a:pPr algn="ctr">
              <a:lnSpc>
                <a:spcPts val="2183"/>
              </a:lnSpc>
              <a:spcAft>
                <a:spcPts val="800"/>
              </a:spcAft>
            </a:pPr>
            <a:r>
              <a:rPr sz="1850" b="0">
                <a:solidFill>
                  <a:srgbClr val="24312E"/>
                </a:solidFill>
                <a:latin typeface="Liberation Sans"/>
              </a:rPr>
              <a:t>Are benefits, burdens, rights, and alternatives explained?</a:t>
            </a:r>
          </a:p>
        </p:txBody>
      </p:sp>
      <p:sp>
        <p:nvSpPr>
          <p:cNvPr id="20" name="Rectangle 19"/>
          <p:cNvSpPr/>
          <p:nvPr/>
        </p:nvSpPr>
        <p:spPr>
          <a:xfrm>
            <a:off x="685800" y="3621024"/>
            <a:ext cx="5733288" cy="68580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3739896"/>
            <a:ext cx="5458968" cy="48463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Voluntary PGT-M for a serious inherited disorder</a:t>
            </a:r>
          </a:p>
        </p:txBody>
      </p:sp>
      <p:sp>
        <p:nvSpPr>
          <p:cNvPr id="22" name="Rectangle 21"/>
          <p:cNvSpPr/>
          <p:nvPr/>
        </p:nvSpPr>
        <p:spPr>
          <a:xfrm>
            <a:off x="6455664" y="3621024"/>
            <a:ext cx="5029200" cy="68580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592824" y="3739896"/>
            <a:ext cx="4754880" cy="48463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May be justified after counselling and careful assessment.</a:t>
            </a:r>
          </a:p>
        </p:txBody>
      </p:sp>
      <p:sp>
        <p:nvSpPr>
          <p:cNvPr id="24" name="Rectangle 23"/>
          <p:cNvSpPr/>
          <p:nvPr/>
        </p:nvSpPr>
        <p:spPr>
          <a:xfrm>
            <a:off x="685800" y="4389120"/>
            <a:ext cx="5733288" cy="685800"/>
          </a:xfrm>
          <a:prstGeom prst="rect">
            <a:avLst/>
          </a:prstGeom>
          <a:solidFill>
            <a:srgbClr val="FAFB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4507992"/>
            <a:ext cx="5458968" cy="48463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Forced sterilization or racial selection</a:t>
            </a:r>
          </a:p>
        </p:txBody>
      </p:sp>
      <p:sp>
        <p:nvSpPr>
          <p:cNvPr id="26" name="Rectangle 25"/>
          <p:cNvSpPr/>
          <p:nvPr/>
        </p:nvSpPr>
        <p:spPr>
          <a:xfrm>
            <a:off x="6455664" y="4389120"/>
            <a:ext cx="5029200" cy="685800"/>
          </a:xfrm>
          <a:prstGeom prst="rect">
            <a:avLst/>
          </a:prstGeom>
          <a:solidFill>
            <a:srgbClr val="FAFB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92824" y="4507992"/>
            <a:ext cx="4754880" cy="48463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Ethically unacceptable.</a:t>
            </a:r>
          </a:p>
        </p:txBody>
      </p:sp>
      <p:sp>
        <p:nvSpPr>
          <p:cNvPr id="28" name="Rectangle 27"/>
          <p:cNvSpPr/>
          <p:nvPr/>
        </p:nvSpPr>
        <p:spPr>
          <a:xfrm>
            <a:off x="685800" y="5157216"/>
            <a:ext cx="5733288" cy="68580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22960" y="5276088"/>
            <a:ext cx="5458968" cy="48463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Promises to create a “perfect” child</a:t>
            </a:r>
          </a:p>
        </p:txBody>
      </p:sp>
      <p:sp>
        <p:nvSpPr>
          <p:cNvPr id="30" name="Rectangle 29"/>
          <p:cNvSpPr/>
          <p:nvPr/>
        </p:nvSpPr>
        <p:spPr>
          <a:xfrm>
            <a:off x="6455664" y="5157216"/>
            <a:ext cx="5029200" cy="68580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592824" y="5276088"/>
            <a:ext cx="4754880" cy="484632"/>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Not supported by genetic prediction.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f. Future perspective</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Better evidence and stronger safeguards are both needed</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 [5]</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13</a:t>
            </a:r>
          </a:p>
        </p:txBody>
      </p:sp>
      <p:sp>
        <p:nvSpPr>
          <p:cNvPr id="9" name="Oval 8"/>
          <p:cNvSpPr/>
          <p:nvPr/>
        </p:nvSpPr>
        <p:spPr>
          <a:xfrm>
            <a:off x="786384" y="1600200"/>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14983" y="1508760"/>
            <a:ext cx="10378440" cy="603504"/>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Develop more accurate genetic tests for different populations.</a:t>
            </a:r>
          </a:p>
        </p:txBody>
      </p:sp>
      <p:sp>
        <p:nvSpPr>
          <p:cNvPr id="11" name="Oval 10"/>
          <p:cNvSpPr/>
          <p:nvPr/>
        </p:nvSpPr>
        <p:spPr>
          <a:xfrm>
            <a:off x="786384" y="2295144"/>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14983" y="2203704"/>
            <a:ext cx="10378440" cy="603504"/>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Study actual health outcomes, not only predicted scores.</a:t>
            </a:r>
          </a:p>
        </p:txBody>
      </p:sp>
      <p:sp>
        <p:nvSpPr>
          <p:cNvPr id="13" name="Oval 12"/>
          <p:cNvSpPr/>
          <p:nvPr/>
        </p:nvSpPr>
        <p:spPr>
          <a:xfrm>
            <a:off x="786384" y="2990088"/>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14983" y="2898648"/>
            <a:ext cx="10378440" cy="603504"/>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Explain risks in clear language, including absolute risk.</a:t>
            </a:r>
          </a:p>
        </p:txBody>
      </p:sp>
      <p:sp>
        <p:nvSpPr>
          <p:cNvPr id="15" name="Oval 14"/>
          <p:cNvSpPr/>
          <p:nvPr/>
        </p:nvSpPr>
        <p:spPr>
          <a:xfrm>
            <a:off x="786384" y="3685032"/>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14983" y="3593592"/>
            <a:ext cx="10378440" cy="603504"/>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Improve counselling, privacy protection, and fair access.</a:t>
            </a:r>
          </a:p>
        </p:txBody>
      </p:sp>
      <p:sp>
        <p:nvSpPr>
          <p:cNvPr id="17" name="Oval 16"/>
          <p:cNvSpPr/>
          <p:nvPr/>
        </p:nvSpPr>
        <p:spPr>
          <a:xfrm>
            <a:off x="786384" y="4379975"/>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14983" y="4288536"/>
            <a:ext cx="10378440" cy="603504"/>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Use strong oversight for heritable genome editing.</a:t>
            </a:r>
          </a:p>
        </p:txBody>
      </p:sp>
      <p:sp>
        <p:nvSpPr>
          <p:cNvPr id="19" name="Oval 18"/>
          <p:cNvSpPr/>
          <p:nvPr/>
        </p:nvSpPr>
        <p:spPr>
          <a:xfrm>
            <a:off x="786384" y="5074919"/>
            <a:ext cx="77724" cy="77724"/>
          </a:xfrm>
          <a:prstGeom prst="ellipse">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14983" y="4983479"/>
            <a:ext cx="10378440" cy="603504"/>
          </a:xfrm>
          <a:prstGeom prst="rect">
            <a:avLst/>
          </a:prstGeom>
          <a:noFill/>
        </p:spPr>
        <p:txBody>
          <a:bodyPr wrap="square" lIns="0" rIns="0" tIns="0" bIns="0" anchor="t">
            <a:spAutoFit/>
          </a:bodyPr>
          <a:lstStyle/>
          <a:p>
            <a:pPr algn="l">
              <a:lnSpc>
                <a:spcPts val="2595"/>
              </a:lnSpc>
              <a:spcAft>
                <a:spcPts val="800"/>
              </a:spcAft>
            </a:pPr>
            <a:r>
              <a:rPr sz="2200" b="0">
                <a:solidFill>
                  <a:srgbClr val="24312E"/>
                </a:solidFill>
                <a:latin typeface="Liberation Sans"/>
              </a:rPr>
              <a:t>Include people with genetic conditions in policy discussions.</a:t>
            </a:r>
          </a:p>
        </p:txBody>
      </p:sp>
      <p:sp>
        <p:nvSpPr>
          <p:cNvPr id="21" name="Rectangle 20"/>
          <p:cNvSpPr/>
          <p:nvPr/>
        </p:nvSpPr>
        <p:spPr>
          <a:xfrm>
            <a:off x="594360" y="5760720"/>
            <a:ext cx="11000232" cy="58521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5879592"/>
            <a:ext cx="10607040" cy="365760"/>
          </a:xfrm>
          <a:prstGeom prst="rect">
            <a:avLst/>
          </a:prstGeom>
          <a:noFill/>
        </p:spPr>
        <p:txBody>
          <a:bodyPr wrap="square" lIns="0" rIns="0" tIns="0" bIns="0" anchor="t">
            <a:spAutoFit/>
          </a:bodyPr>
          <a:lstStyle/>
          <a:p>
            <a:pPr algn="l">
              <a:lnSpc>
                <a:spcPts val="2477"/>
              </a:lnSpc>
              <a:spcAft>
                <a:spcPts val="800"/>
              </a:spcAft>
            </a:pPr>
            <a:r>
              <a:rPr sz="2100" b="1">
                <a:solidFill>
                  <a:srgbClr val="276452"/>
                </a:solidFill>
                <a:latin typeface="Liberation Sans"/>
              </a:rPr>
              <a:t>Improve treatment and support as well as prevention.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g. Conclusion</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A balanced answer to the topic</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8275320" y="6460236"/>
            <a:ext cx="2880360" cy="210312"/>
          </a:xfrm>
          <a:prstGeom prst="rect">
            <a:avLst/>
          </a:prstGeom>
          <a:noFill/>
        </p:spPr>
        <p:txBody>
          <a:bodyPr wrap="square" lIns="0" rIns="0" tIns="0" bIns="0" anchor="t">
            <a:spAutoFit/>
          </a:bodyPr>
          <a:lstStyle/>
          <a:p>
            <a:pPr algn="r">
              <a:lnSpc>
                <a:spcPts val="1180"/>
              </a:lnSpc>
              <a:spcAft>
                <a:spcPts val="800"/>
              </a:spcAft>
            </a:pPr>
            <a:r>
              <a:rPr sz="1000" b="0">
                <a:solidFill>
                  <a:srgbClr val="52635D"/>
                </a:solidFill>
                <a:latin typeface="Liberation Sans"/>
              </a:rPr>
              <a:t>Sources: [1], [2], [7]</a:t>
            </a:r>
          </a:p>
        </p:txBody>
      </p:sp>
      <p:sp>
        <p:nvSpPr>
          <p:cNvPr id="8" name="TextBox 7"/>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14</a:t>
            </a:r>
          </a:p>
        </p:txBody>
      </p:sp>
      <p:sp>
        <p:nvSpPr>
          <p:cNvPr id="9" name="Rectangle 8"/>
          <p:cNvSpPr/>
          <p:nvPr/>
        </p:nvSpPr>
        <p:spPr>
          <a:xfrm>
            <a:off x="685800" y="1472184"/>
            <a:ext cx="10808208" cy="136245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86968" y="1636776"/>
            <a:ext cx="1040587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Scientifically</a:t>
            </a:r>
          </a:p>
        </p:txBody>
      </p:sp>
      <p:sp>
        <p:nvSpPr>
          <p:cNvPr id="11" name="TextBox 10"/>
          <p:cNvSpPr txBox="1"/>
          <p:nvPr/>
        </p:nvSpPr>
        <p:spPr>
          <a:xfrm>
            <a:off x="886968" y="2075688"/>
            <a:ext cx="10405872" cy="603504"/>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Using tests to guide embryo selection can reduce some inherited disease risks. Complex traits remain hard to predict. No test guarantees health.</a:t>
            </a:r>
          </a:p>
        </p:txBody>
      </p:sp>
      <p:sp>
        <p:nvSpPr>
          <p:cNvPr id="12" name="Rectangle 11"/>
          <p:cNvSpPr/>
          <p:nvPr/>
        </p:nvSpPr>
        <p:spPr>
          <a:xfrm>
            <a:off x="685800" y="3035808"/>
            <a:ext cx="10808208" cy="1362456"/>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86968" y="3200400"/>
            <a:ext cx="10405872" cy="402336"/>
          </a:xfrm>
          <a:prstGeom prst="rect">
            <a:avLst/>
          </a:prstGeom>
          <a:noFill/>
        </p:spPr>
        <p:txBody>
          <a:bodyPr wrap="square" lIns="0" rIns="0" tIns="0" bIns="0" anchor="t">
            <a:spAutoFit/>
          </a:bodyPr>
          <a:lstStyle/>
          <a:p>
            <a:pPr algn="l">
              <a:lnSpc>
                <a:spcPts val="2360"/>
              </a:lnSpc>
              <a:spcAft>
                <a:spcPts val="800"/>
              </a:spcAft>
            </a:pPr>
            <a:r>
              <a:rPr sz="2000" b="1">
                <a:solidFill>
                  <a:srgbClr val="276452"/>
                </a:solidFill>
                <a:latin typeface="Liberation Sans"/>
              </a:rPr>
              <a:t>Ethically</a:t>
            </a:r>
          </a:p>
        </p:txBody>
      </p:sp>
      <p:sp>
        <p:nvSpPr>
          <p:cNvPr id="14" name="TextBox 13"/>
          <p:cNvSpPr txBox="1"/>
          <p:nvPr/>
        </p:nvSpPr>
        <p:spPr>
          <a:xfrm>
            <a:off x="886968" y="3639312"/>
            <a:ext cx="10405872" cy="603504"/>
          </a:xfrm>
          <a:prstGeom prst="rect">
            <a:avLst/>
          </a:prstGeom>
          <a:noFill/>
        </p:spPr>
        <p:txBody>
          <a:bodyPr wrap="square" lIns="0" rIns="0" tIns="0" bIns="0" anchor="t">
            <a:spAutoFit/>
          </a:bodyPr>
          <a:lstStyle/>
          <a:p>
            <a:pPr algn="l">
              <a:lnSpc>
                <a:spcPts val="2124"/>
              </a:lnSpc>
              <a:spcAft>
                <a:spcPts val="800"/>
              </a:spcAft>
            </a:pPr>
            <a:r>
              <a:rPr sz="1800" b="0">
                <a:solidFill>
                  <a:srgbClr val="24312E"/>
                </a:solidFill>
                <a:latin typeface="Liberation Sans"/>
              </a:rPr>
              <a:t>Voluntary choices may be acceptable with good evidence, counselling, and safeguards. Coercion and discrimination are not acceptable.</a:t>
            </a:r>
          </a:p>
        </p:txBody>
      </p:sp>
      <p:sp>
        <p:nvSpPr>
          <p:cNvPr id="15" name="Rectangle 14"/>
          <p:cNvSpPr/>
          <p:nvPr/>
        </p:nvSpPr>
        <p:spPr>
          <a:xfrm>
            <a:off x="685800" y="4718304"/>
            <a:ext cx="10808208" cy="1088136"/>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41832" y="4928616"/>
            <a:ext cx="10287000" cy="676656"/>
          </a:xfrm>
          <a:prstGeom prst="rect">
            <a:avLst/>
          </a:prstGeom>
          <a:noFill/>
        </p:spPr>
        <p:txBody>
          <a:bodyPr wrap="square" lIns="0" rIns="0" tIns="0" bIns="0" anchor="t">
            <a:spAutoFit/>
          </a:bodyPr>
          <a:lstStyle/>
          <a:p>
            <a:pPr algn="ctr">
              <a:lnSpc>
                <a:spcPts val="2713"/>
              </a:lnSpc>
              <a:spcAft>
                <a:spcPts val="800"/>
              </a:spcAft>
            </a:pPr>
            <a:r>
              <a:rPr sz="2300" b="1">
                <a:solidFill>
                  <a:srgbClr val="FFFFFF"/>
                </a:solidFill>
                <a:latin typeface="Liberation Sans"/>
              </a:rPr>
              <a:t>Selective reproduction may sometimes be justified for a serious inherited condition—but never as a way to rank human worth.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0352" y="393192"/>
            <a:ext cx="109728" cy="393192"/>
          </a:xfrm>
          <a:prstGeom prst="rect">
            <a:avLst/>
          </a:prstGeom>
          <a:solidFill>
            <a:srgbClr val="27645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86384" y="347472"/>
            <a:ext cx="10835640" cy="512064"/>
          </a:xfrm>
          <a:prstGeom prst="rect">
            <a:avLst/>
          </a:prstGeom>
          <a:noFill/>
        </p:spPr>
        <p:txBody>
          <a:bodyPr wrap="square" lIns="0" rIns="0" tIns="0" bIns="0" anchor="t">
            <a:spAutoFit/>
          </a:bodyPr>
          <a:lstStyle/>
          <a:p>
            <a:pPr algn="l">
              <a:lnSpc>
                <a:spcPts val="3304"/>
              </a:lnSpc>
              <a:spcAft>
                <a:spcPts val="800"/>
              </a:spcAft>
            </a:pPr>
            <a:r>
              <a:rPr sz="2800" b="1">
                <a:solidFill>
                  <a:srgbClr val="24312E"/>
                </a:solidFill>
                <a:latin typeface="Liberation Sans"/>
              </a:rPr>
              <a:t>h. References</a:t>
            </a:r>
          </a:p>
        </p:txBody>
      </p:sp>
      <p:sp>
        <p:nvSpPr>
          <p:cNvPr id="4" name="TextBox 3"/>
          <p:cNvSpPr txBox="1"/>
          <p:nvPr/>
        </p:nvSpPr>
        <p:spPr>
          <a:xfrm>
            <a:off x="786384" y="905256"/>
            <a:ext cx="10789920" cy="274320"/>
          </a:xfrm>
          <a:prstGeom prst="rect">
            <a:avLst/>
          </a:prstGeom>
          <a:noFill/>
        </p:spPr>
        <p:txBody>
          <a:bodyPr wrap="square" lIns="0" rIns="0" tIns="0" bIns="0" anchor="t">
            <a:spAutoFit/>
          </a:bodyPr>
          <a:lstStyle/>
          <a:p>
            <a:pPr algn="l">
              <a:lnSpc>
                <a:spcPts val="1534"/>
              </a:lnSpc>
              <a:spcAft>
                <a:spcPts val="800"/>
              </a:spcAft>
            </a:pPr>
            <a:r>
              <a:rPr sz="1300" b="0">
                <a:solidFill>
                  <a:srgbClr val="52635D"/>
                </a:solidFill>
                <a:latin typeface="Liberation Sans"/>
              </a:rPr>
              <a:t>Two research papers and supporting sources</a:t>
            </a:r>
          </a:p>
        </p:txBody>
      </p:sp>
      <p:cxnSp>
        <p:nvCxnSpPr>
          <p:cNvPr id="5" name="Connector 4"/>
          <p:cNvCxnSpPr/>
          <p:nvPr/>
        </p:nvCxnSpPr>
        <p:spPr>
          <a:xfrm>
            <a:off x="548640" y="6373368"/>
            <a:ext cx="11091672" cy="0"/>
          </a:xfrm>
          <a:prstGeom prst="line">
            <a:avLst/>
          </a:prstGeom>
          <a:ln w="12700">
            <a:solidFill>
              <a:srgbClr val="CBDBD2"/>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94360" y="6464808"/>
            <a:ext cx="7955279" cy="182880"/>
          </a:xfrm>
          <a:prstGeom prst="rect">
            <a:avLst/>
          </a:prstGeom>
          <a:noFill/>
        </p:spPr>
        <p:txBody>
          <a:bodyPr wrap="square" lIns="0" rIns="0" tIns="0" bIns="0" anchor="t">
            <a:spAutoFit/>
          </a:bodyPr>
          <a:lstStyle/>
          <a:p>
            <a:pPr algn="l">
              <a:lnSpc>
                <a:spcPts val="1121"/>
              </a:lnSpc>
              <a:spcAft>
                <a:spcPts val="800"/>
              </a:spcAft>
            </a:pPr>
            <a:r>
              <a:rPr sz="950" b="0">
                <a:solidFill>
                  <a:srgbClr val="52635D"/>
                </a:solidFill>
                <a:latin typeface="Liberation Sans"/>
              </a:rPr>
              <a:t>Prachi Yadav  |  Fundamental of Genetics</a:t>
            </a:r>
          </a:p>
        </p:txBody>
      </p:sp>
      <p:sp>
        <p:nvSpPr>
          <p:cNvPr id="7" name="TextBox 6"/>
          <p:cNvSpPr txBox="1"/>
          <p:nvPr/>
        </p:nvSpPr>
        <p:spPr>
          <a:xfrm>
            <a:off x="11228832" y="6460236"/>
            <a:ext cx="365760" cy="210312"/>
          </a:xfrm>
          <a:prstGeom prst="rect">
            <a:avLst/>
          </a:prstGeom>
          <a:noFill/>
        </p:spPr>
        <p:txBody>
          <a:bodyPr wrap="square" lIns="0" rIns="0" tIns="0" bIns="0" anchor="t">
            <a:spAutoFit/>
          </a:bodyPr>
          <a:lstStyle/>
          <a:p>
            <a:pPr algn="r">
              <a:lnSpc>
                <a:spcPts val="1180"/>
              </a:lnSpc>
              <a:spcAft>
                <a:spcPts val="800"/>
              </a:spcAft>
            </a:pPr>
            <a:r>
              <a:rPr sz="1000" b="0">
                <a:solidFill>
                  <a:srgbClr val="276452"/>
                </a:solidFill>
                <a:latin typeface="Liberation Sans"/>
              </a:rPr>
              <a:t>15</a:t>
            </a:r>
          </a:p>
        </p:txBody>
      </p:sp>
      <p:sp>
        <p:nvSpPr>
          <p:cNvPr id="8" name="Rectangle 7"/>
          <p:cNvSpPr/>
          <p:nvPr/>
        </p:nvSpPr>
        <p:spPr>
          <a:xfrm>
            <a:off x="640080" y="1321308"/>
            <a:ext cx="10917936" cy="932688"/>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1385316"/>
            <a:ext cx="10607040" cy="557784"/>
          </a:xfrm>
          <a:prstGeom prst="rect">
            <a:avLst/>
          </a:prstGeom>
          <a:noFill/>
        </p:spPr>
        <p:txBody>
          <a:bodyPr wrap="square" lIns="0" rIns="0" tIns="0" bIns="0" anchor="t">
            <a:spAutoFit/>
          </a:bodyPr>
          <a:lstStyle/>
          <a:p>
            <a:pPr algn="l">
              <a:lnSpc>
                <a:spcPts val="1829"/>
              </a:lnSpc>
              <a:spcAft>
                <a:spcPts val="800"/>
              </a:spcAft>
            </a:pPr>
            <a:r>
              <a:rPr sz="1550" b="0">
                <a:solidFill>
                  <a:srgbClr val="24312E"/>
                </a:solidFill>
                <a:latin typeface="Liberation Sans"/>
              </a:rPr>
              <a:t>[1] Karavani, E., Zuk, O., Zeevi, D., et al. Screening human embryos for polygenic traits has limited utility. Cell, 179(6), 1424–1435.e8.</a:t>
            </a:r>
          </a:p>
        </p:txBody>
      </p:sp>
      <p:sp>
        <p:nvSpPr>
          <p:cNvPr id="10" name="TextBox 9"/>
          <p:cNvSpPr txBox="1"/>
          <p:nvPr/>
        </p:nvSpPr>
        <p:spPr>
          <a:xfrm>
            <a:off x="777240" y="1965960"/>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2"/>
              </a:rPr>
              <a:t>DOI: 10.1016/j.cell.2019.10.033</a:t>
            </a:r>
          </a:p>
        </p:txBody>
      </p:sp>
      <p:sp>
        <p:nvSpPr>
          <p:cNvPr id="11" name="TextBox 10"/>
          <p:cNvSpPr txBox="1"/>
          <p:nvPr/>
        </p:nvSpPr>
        <p:spPr>
          <a:xfrm>
            <a:off x="777240" y="2372868"/>
            <a:ext cx="10607040" cy="557784"/>
          </a:xfrm>
          <a:prstGeom prst="rect">
            <a:avLst/>
          </a:prstGeom>
          <a:noFill/>
        </p:spPr>
        <p:txBody>
          <a:bodyPr wrap="square" lIns="0" rIns="0" tIns="0" bIns="0" anchor="t">
            <a:spAutoFit/>
          </a:bodyPr>
          <a:lstStyle/>
          <a:p>
            <a:pPr algn="l">
              <a:lnSpc>
                <a:spcPts val="1829"/>
              </a:lnSpc>
              <a:spcAft>
                <a:spcPts val="800"/>
              </a:spcAft>
            </a:pPr>
            <a:r>
              <a:rPr sz="1550" b="0">
                <a:solidFill>
                  <a:srgbClr val="24312E"/>
                </a:solidFill>
                <a:latin typeface="Liberation Sans"/>
              </a:rPr>
              <a:t>[2] Lencz, T., Backenroth, D., Granot-Hershkovitz, E., et al. Utility of polygenic embryo screening for disease depends on the selection strategy. eLife, 10, e64716.</a:t>
            </a:r>
          </a:p>
        </p:txBody>
      </p:sp>
      <p:sp>
        <p:nvSpPr>
          <p:cNvPr id="12" name="TextBox 11"/>
          <p:cNvSpPr txBox="1"/>
          <p:nvPr/>
        </p:nvSpPr>
        <p:spPr>
          <a:xfrm>
            <a:off x="777240" y="2953512"/>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3"/>
              </a:rPr>
              <a:t>DOI: 10.7554/eLife.64716</a:t>
            </a:r>
          </a:p>
        </p:txBody>
      </p:sp>
      <p:sp>
        <p:nvSpPr>
          <p:cNvPr id="13" name="Rectangle 12"/>
          <p:cNvSpPr/>
          <p:nvPr/>
        </p:nvSpPr>
        <p:spPr>
          <a:xfrm>
            <a:off x="640080" y="3296412"/>
            <a:ext cx="10917936" cy="54864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3360420"/>
            <a:ext cx="10607040" cy="265176"/>
          </a:xfrm>
          <a:prstGeom prst="rect">
            <a:avLst/>
          </a:prstGeom>
          <a:noFill/>
        </p:spPr>
        <p:txBody>
          <a:bodyPr wrap="square" lIns="0" rIns="0" tIns="0" bIns="0" anchor="t">
            <a:spAutoFit/>
          </a:bodyPr>
          <a:lstStyle/>
          <a:p>
            <a:pPr algn="l">
              <a:lnSpc>
                <a:spcPts val="1817"/>
              </a:lnSpc>
              <a:spcAft>
                <a:spcPts val="800"/>
              </a:spcAft>
            </a:pPr>
            <a:r>
              <a:rPr sz="1540" b="0">
                <a:solidFill>
                  <a:srgbClr val="24312E"/>
                </a:solidFill>
                <a:latin typeface="Liberation Sans"/>
              </a:rPr>
              <a:t>[3] GeneReviews®. HEXA Disorders. NCBI Bookshelf.</a:t>
            </a:r>
          </a:p>
        </p:txBody>
      </p:sp>
      <p:sp>
        <p:nvSpPr>
          <p:cNvPr id="15" name="TextBox 14"/>
          <p:cNvSpPr txBox="1"/>
          <p:nvPr/>
        </p:nvSpPr>
        <p:spPr>
          <a:xfrm>
            <a:off x="777240" y="3634740"/>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4"/>
              </a:rPr>
              <a:t>Open source</a:t>
            </a:r>
          </a:p>
        </p:txBody>
      </p:sp>
      <p:sp>
        <p:nvSpPr>
          <p:cNvPr id="16" name="TextBox 15"/>
          <p:cNvSpPr txBox="1"/>
          <p:nvPr/>
        </p:nvSpPr>
        <p:spPr>
          <a:xfrm>
            <a:off x="777240" y="3963924"/>
            <a:ext cx="10607040" cy="265176"/>
          </a:xfrm>
          <a:prstGeom prst="rect">
            <a:avLst/>
          </a:prstGeom>
          <a:noFill/>
        </p:spPr>
        <p:txBody>
          <a:bodyPr wrap="square" lIns="0" rIns="0" tIns="0" bIns="0" anchor="t">
            <a:spAutoFit/>
          </a:bodyPr>
          <a:lstStyle/>
          <a:p>
            <a:pPr algn="l">
              <a:lnSpc>
                <a:spcPts val="1817"/>
              </a:lnSpc>
              <a:spcAft>
                <a:spcPts val="800"/>
              </a:spcAft>
            </a:pPr>
            <a:r>
              <a:rPr sz="1540" b="0">
                <a:solidFill>
                  <a:srgbClr val="24312E"/>
                </a:solidFill>
                <a:latin typeface="Liberation Sans"/>
              </a:rPr>
              <a:t>[4] Human Fertilisation and Embryology Authority. PGT-M and PGT-SR: patient information.</a:t>
            </a:r>
          </a:p>
        </p:txBody>
      </p:sp>
      <p:sp>
        <p:nvSpPr>
          <p:cNvPr id="17" name="TextBox 16"/>
          <p:cNvSpPr txBox="1"/>
          <p:nvPr/>
        </p:nvSpPr>
        <p:spPr>
          <a:xfrm>
            <a:off x="777240" y="4238244"/>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5"/>
              </a:rPr>
              <a:t>Open source</a:t>
            </a:r>
          </a:p>
        </p:txBody>
      </p:sp>
      <p:sp>
        <p:nvSpPr>
          <p:cNvPr id="18" name="Rectangle 17"/>
          <p:cNvSpPr/>
          <p:nvPr/>
        </p:nvSpPr>
        <p:spPr>
          <a:xfrm>
            <a:off x="640080" y="4503420"/>
            <a:ext cx="10917936" cy="54864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77240" y="4567428"/>
            <a:ext cx="10607040" cy="265176"/>
          </a:xfrm>
          <a:prstGeom prst="rect">
            <a:avLst/>
          </a:prstGeom>
          <a:noFill/>
        </p:spPr>
        <p:txBody>
          <a:bodyPr wrap="square" lIns="0" rIns="0" tIns="0" bIns="0" anchor="t">
            <a:spAutoFit/>
          </a:bodyPr>
          <a:lstStyle/>
          <a:p>
            <a:pPr algn="l">
              <a:lnSpc>
                <a:spcPts val="1817"/>
              </a:lnSpc>
              <a:spcAft>
                <a:spcPts val="800"/>
              </a:spcAft>
            </a:pPr>
            <a:r>
              <a:rPr sz="1540" b="0">
                <a:solidFill>
                  <a:srgbClr val="24312E"/>
                </a:solidFill>
                <a:latin typeface="Liberation Sans"/>
              </a:rPr>
              <a:t>[5] World Health Organization. Human Genome Editing: Recommendations.</a:t>
            </a:r>
          </a:p>
        </p:txBody>
      </p:sp>
      <p:sp>
        <p:nvSpPr>
          <p:cNvPr id="20" name="TextBox 19"/>
          <p:cNvSpPr txBox="1"/>
          <p:nvPr/>
        </p:nvSpPr>
        <p:spPr>
          <a:xfrm>
            <a:off x="777240" y="4841748"/>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6"/>
              </a:rPr>
              <a:t>Open source</a:t>
            </a:r>
          </a:p>
        </p:txBody>
      </p:sp>
      <p:sp>
        <p:nvSpPr>
          <p:cNvPr id="21" name="TextBox 20"/>
          <p:cNvSpPr txBox="1"/>
          <p:nvPr/>
        </p:nvSpPr>
        <p:spPr>
          <a:xfrm>
            <a:off x="777240" y="5170932"/>
            <a:ext cx="10607040" cy="265176"/>
          </a:xfrm>
          <a:prstGeom prst="rect">
            <a:avLst/>
          </a:prstGeom>
          <a:noFill/>
        </p:spPr>
        <p:txBody>
          <a:bodyPr wrap="square" lIns="0" rIns="0" tIns="0" bIns="0" anchor="t">
            <a:spAutoFit/>
          </a:bodyPr>
          <a:lstStyle/>
          <a:p>
            <a:pPr algn="l">
              <a:lnSpc>
                <a:spcPts val="1817"/>
              </a:lnSpc>
              <a:spcAft>
                <a:spcPts val="800"/>
              </a:spcAft>
            </a:pPr>
            <a:r>
              <a:rPr sz="1540" b="0">
                <a:solidFill>
                  <a:srgbClr val="24312E"/>
                </a:solidFill>
                <a:latin typeface="Liberation Sans"/>
              </a:rPr>
              <a:t>[6] United States Holocaust Memorial Museum. Eugenics. Holocaust Encyclopedia.</a:t>
            </a:r>
          </a:p>
        </p:txBody>
      </p:sp>
      <p:sp>
        <p:nvSpPr>
          <p:cNvPr id="22" name="TextBox 21"/>
          <p:cNvSpPr txBox="1"/>
          <p:nvPr/>
        </p:nvSpPr>
        <p:spPr>
          <a:xfrm>
            <a:off x="777240" y="5445252"/>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7"/>
              </a:rPr>
              <a:t>Open source</a:t>
            </a:r>
          </a:p>
        </p:txBody>
      </p:sp>
      <p:sp>
        <p:nvSpPr>
          <p:cNvPr id="23" name="Rectangle 22"/>
          <p:cNvSpPr/>
          <p:nvPr/>
        </p:nvSpPr>
        <p:spPr>
          <a:xfrm>
            <a:off x="640080" y="5710428"/>
            <a:ext cx="10917936" cy="548640"/>
          </a:xfrm>
          <a:prstGeom prst="rect">
            <a:avLst/>
          </a:prstGeom>
          <a:solidFill>
            <a:srgbClr val="EEF5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77240" y="5774436"/>
            <a:ext cx="10607040" cy="265176"/>
          </a:xfrm>
          <a:prstGeom prst="rect">
            <a:avLst/>
          </a:prstGeom>
          <a:noFill/>
        </p:spPr>
        <p:txBody>
          <a:bodyPr wrap="square" lIns="0" rIns="0" tIns="0" bIns="0" anchor="t">
            <a:spAutoFit/>
          </a:bodyPr>
          <a:lstStyle/>
          <a:p>
            <a:pPr algn="l">
              <a:lnSpc>
                <a:spcPts val="1817"/>
              </a:lnSpc>
              <a:spcAft>
                <a:spcPts val="800"/>
              </a:spcAft>
            </a:pPr>
            <a:r>
              <a:rPr sz="1540" b="0">
                <a:solidFill>
                  <a:srgbClr val="24312E"/>
                </a:solidFill>
                <a:latin typeface="Liberation Sans"/>
              </a:rPr>
              <a:t>[7] United Nations. Convention on the Rights of Persons with Disabilities, Article 23.</a:t>
            </a:r>
          </a:p>
        </p:txBody>
      </p:sp>
      <p:sp>
        <p:nvSpPr>
          <p:cNvPr id="25" name="TextBox 24"/>
          <p:cNvSpPr txBox="1"/>
          <p:nvPr/>
        </p:nvSpPr>
        <p:spPr>
          <a:xfrm>
            <a:off x="777240" y="6048756"/>
            <a:ext cx="10607040" cy="219456"/>
          </a:xfrm>
          <a:prstGeom prst="rect">
            <a:avLst/>
          </a:prstGeom>
          <a:noFill/>
        </p:spPr>
        <p:txBody>
          <a:bodyPr wrap="square" lIns="0" rIns="0" tIns="0" bIns="0" anchor="t">
            <a:spAutoFit/>
          </a:bodyPr>
          <a:lstStyle/>
          <a:p>
            <a:pPr algn="l">
              <a:lnSpc>
                <a:spcPts val="1416"/>
              </a:lnSpc>
              <a:spcAft>
                <a:spcPts val="800"/>
              </a:spcAft>
            </a:pPr>
            <a:r>
              <a:rPr sz="1200" b="0">
                <a:solidFill>
                  <a:srgbClr val="276452"/>
                </a:solidFill>
                <a:latin typeface="Liberation Sans"/>
                <a:hlinkClick r:id="rId8"/>
              </a:rPr>
              <a:t>Open 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Eugenics: Can selective reproduction ever be scientifically or ethically justified?</dc:title>
  <dc:subject>Fundamental of Genetics report file</dc:subject>
  <dc:creator>Prachi Yadav</dc:creator>
  <cp:keywords>Genetics, Eugenics, Reproductive ethics</cp:keywords>
  <dc:description/>
  <cp:lastModifiedBy>Steve Canny</cp:lastModifiedBy>
  <cp:revision>1</cp:revision>
  <cp:category/>
</cp:coreProperties>
</file>