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presentation follows the required sections from introduction to references and discusses one research paper on polygenic embryo screening. No calendar date or time is displayed.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inheritance is real, but inherited differences do not rank the value of people. Voluntary medical testing and coercive population programmes must be assessed separately.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cases show how institutions used authority over people with little power to refuse. Different national programmes were not identical. Nazi persecution also had causes and goals beyond eugenics.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HEXA encodes the alpha subunit of beta-hexosaminidase A. This example illustrates one molecular mechanism of inherited disease. It does not imply that eugenics itself is a molecular pathway or that every condition follows this pattern.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example assumes classic recessive inheritance and a well-understood pathogenic variant. Carriers generally do not have the classic recessive condition. Do not present these percentages as an IVF live-birth rate or as an exact family outcome.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PGT means preimplantation genetic testing; IVF means in vitro fertilization. PGT-M is for monogenic conditions. Polygenic scores are probabilistic and their clinical benefit depends on context. Somatic gene editing treats the person; heritable editing can affect descendants. A negative test is not a guarantee of a healthy child.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only research paper discussed in this presentation. The full text was read in the publisher’s official XML archive. Virtual offspring were simulated from real genomes; the study did not follow children born after screening. It used a liability-threshold model to estimate disease risk.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paper found that the high-risk exclusion strategy was relatively ineffective compared with lowest-risk prioritization. Some model scenarios gave substantial relative reductions. Absolute reductions and benefits for a particular couple varied. These predictions depend on the model’s assumptions and are not a clinical guarantee.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paper discusses the limits of transferring scores between populations and from unrelated people to comparisons within a family. It assumes viable embryos rather than simply counting fertilized eggs. It also calls for discussion of ethical concerns. Scientific evidence informs the eugenics debate but cannot decide consent, equality, or human worth.</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Benefits should be assessed for the whole reproductive pathway, including the burdens and alternatives. Avoid claiming that all reproductive selection has the same benefit or that families have a duty to use a test.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Ethical questions concern both individual choice and the social setting. Even a test called optional may create pressure if support is withdrawn from families who refuse. Explain uncertainty and different moral views without devaluing disabled people.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teaching framework, not a medical guideline. Passing these checks is not automatic approval. Heritable genome editing needs additional safety evidence and independent oversight. Voluntary PGT-M can be permissible without becoming a duty.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Future improvements could change technical possibilities but cannot decide what society should value. Clinical utility must be shown with realistic comparisons, and long-term monitoring must protect privacy.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the title directly. Distinguish a bounded reproductive option from a population eugenics programme. Respect both families who choose testing and families who do not. Support for people living with genetic conditions must continue.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one selected research paper is reference 1. Its full text was inspected in eLife’s official publication archive. The other references are supporting clinical, historical, and human-rights sources. Some supporting websites could not be directly retrieved. Bibliographic years and cover dates are omitted as requested.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7554/eLife.64716" TargetMode="External"/><Relationship Id="rId3" Type="http://schemas.openxmlformats.org/officeDocument/2006/relationships/hyperlink" Target="https://www.ncbi.nlm.nih.gov/books/NBK1218/" TargetMode="External"/><Relationship Id="rId4" Type="http://schemas.openxmlformats.org/officeDocument/2006/relationships/hyperlink" Target="https://www.hfea.gov.uk/treatments/embryo-testing-and-treatments-for-disease/pre-implantation-genetic-testing-for-monogenic-disorders-pgt-m-and-pre-implantation-genetic-testing-for-chromosomal-structural-rearrangements-pgt-sr/" TargetMode="External"/><Relationship Id="rId5" Type="http://schemas.openxmlformats.org/officeDocument/2006/relationships/hyperlink" Target="https://www.who.int/publications/i/item/9789240030381" TargetMode="External"/><Relationship Id="rId6" Type="http://schemas.openxmlformats.org/officeDocument/2006/relationships/hyperlink" Target="https://encyclopedia.ushmm.org/content/en/article/eugenics" TargetMode="External"/><Relationship Id="rId7" Type="http://schemas.openxmlformats.org/officeDocument/2006/relationships/hyperlink" Target="https://www.ohchr.org/en/instruments-mechanisms/instruments/convention-rights-persons-disabilities" TargetMode="External"/><Relationship Id="rId8"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AFBF8"/>
        </a:solidFill>
        <a:effectLst/>
      </p:bgPr>
    </p:bg>
    <p:spTree>
      <p:nvGrpSpPr>
        <p:cNvPr id="1" name=""/>
        <p:cNvGrpSpPr/>
        <p:nvPr/>
      </p:nvGrpSpPr>
      <p:grpSpPr/>
      <p:sp>
        <p:nvSpPr>
          <p:cNvPr id="2" name="Rectangle 1"/>
          <p:cNvSpPr/>
          <p:nvPr/>
        </p:nvSpPr>
        <p:spPr>
          <a:xfrm>
            <a:off x="0" y="0"/>
            <a:ext cx="12191999" cy="155448"/>
          </a:xfrm>
          <a:prstGeom prst="rect">
            <a:avLst/>
          </a:prstGeom>
          <a:solidFill>
            <a:srgbClr val="276452"/>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777240" y="393192"/>
            <a:ext cx="10643616" cy="411480"/>
          </a:xfrm>
          <a:prstGeom prst="rect">
            <a:avLst/>
          </a:prstGeom>
          <a:noFill/>
        </p:spPr>
        <p:txBody>
          <a:bodyPr wrap="square" lIns="0" rIns="0" tIns="0" bIns="0" anchor="t">
            <a:spAutoFit/>
          </a:bodyPr>
          <a:lstStyle/>
          <a:p>
            <a:pPr algn="ctr">
              <a:lnSpc>
                <a:spcPts val="2950"/>
              </a:lnSpc>
              <a:spcAft>
                <a:spcPts val="800"/>
              </a:spcAft>
            </a:pPr>
            <a:r>
              <a:rPr sz="2500" b="1">
                <a:solidFill>
                  <a:srgbClr val="276452"/>
                </a:solidFill>
                <a:latin typeface="Liberation Sans"/>
              </a:rPr>
              <a:t>Bhaskaracharya College of Applied Science</a:t>
            </a:r>
          </a:p>
        </p:txBody>
      </p:sp>
      <p:sp>
        <p:nvSpPr>
          <p:cNvPr id="4" name="TextBox 3"/>
          <p:cNvSpPr txBox="1"/>
          <p:nvPr/>
        </p:nvSpPr>
        <p:spPr>
          <a:xfrm>
            <a:off x="914400" y="905256"/>
            <a:ext cx="10360152" cy="347472"/>
          </a:xfrm>
          <a:prstGeom prst="rect">
            <a:avLst/>
          </a:prstGeom>
          <a:noFill/>
        </p:spPr>
        <p:txBody>
          <a:bodyPr wrap="square" lIns="0" rIns="0" tIns="0" bIns="0" anchor="t">
            <a:spAutoFit/>
          </a:bodyPr>
          <a:lstStyle/>
          <a:p>
            <a:pPr algn="ctr">
              <a:lnSpc>
                <a:spcPts val="2595"/>
              </a:lnSpc>
              <a:spcAft>
                <a:spcPts val="800"/>
              </a:spcAft>
            </a:pPr>
            <a:r>
              <a:rPr sz="2200" b="0">
                <a:solidFill>
                  <a:srgbClr val="24312E"/>
                </a:solidFill>
                <a:latin typeface="Liberation Sans"/>
              </a:rPr>
              <a:t>University of Delhi</a:t>
            </a:r>
          </a:p>
        </p:txBody>
      </p:sp>
      <p:cxnSp>
        <p:nvCxnSpPr>
          <p:cNvPr id="5" name="Connector 4"/>
          <p:cNvCxnSpPr/>
          <p:nvPr/>
        </p:nvCxnSpPr>
        <p:spPr>
          <a:xfrm>
            <a:off x="1280160" y="1472184"/>
            <a:ext cx="9628632" cy="0"/>
          </a:xfrm>
          <a:prstGeom prst="line">
            <a:avLst/>
          </a:prstGeom>
          <a:ln w="16510">
            <a:solidFill>
              <a:srgbClr val="CBDBD2"/>
            </a:solidFill>
          </a:ln>
        </p:spPr>
        <p:style>
          <a:lnRef idx="2">
            <a:schemeClr val="accent1"/>
          </a:lnRef>
          <a:fillRef idx="0">
            <a:schemeClr val="accent1"/>
          </a:fillRef>
          <a:effectRef idx="0">
            <a:schemeClr val="accent1"/>
          </a:effectRef>
          <a:fontRef idx="minor">
            <a:schemeClr val="tx1"/>
          </a:fontRef>
        </p:style>
      </p:cxnSp>
      <p:sp>
        <p:nvSpPr>
          <p:cNvPr id="6" name="TextBox 5"/>
          <p:cNvSpPr txBox="1"/>
          <p:nvPr/>
        </p:nvSpPr>
        <p:spPr>
          <a:xfrm>
            <a:off x="914400" y="1755648"/>
            <a:ext cx="10360152" cy="420624"/>
          </a:xfrm>
          <a:prstGeom prst="rect">
            <a:avLst/>
          </a:prstGeom>
          <a:noFill/>
        </p:spPr>
        <p:txBody>
          <a:bodyPr wrap="square" lIns="0" rIns="0" tIns="0" bIns="0" anchor="t">
            <a:spAutoFit/>
          </a:bodyPr>
          <a:lstStyle/>
          <a:p>
            <a:pPr algn="ctr">
              <a:lnSpc>
                <a:spcPts val="2950"/>
              </a:lnSpc>
              <a:spcAft>
                <a:spcPts val="800"/>
              </a:spcAft>
            </a:pPr>
            <a:r>
              <a:rPr sz="2500" b="1">
                <a:solidFill>
                  <a:srgbClr val="24312E"/>
                </a:solidFill>
                <a:latin typeface="Liberation Sans"/>
              </a:rPr>
              <a:t>Fundamental of Genetics report file</a:t>
            </a:r>
          </a:p>
        </p:txBody>
      </p:sp>
      <p:sp>
        <p:nvSpPr>
          <p:cNvPr id="7" name="Rectangle 6"/>
          <p:cNvSpPr/>
          <p:nvPr/>
        </p:nvSpPr>
        <p:spPr>
          <a:xfrm>
            <a:off x="1051560" y="2468880"/>
            <a:ext cx="10085832" cy="1673352"/>
          </a:xfrm>
          <a:prstGeom prst="rect">
            <a:avLst/>
          </a:prstGeom>
          <a:solidFill>
            <a:srgbClr val="EEF5F1"/>
          </a:solidFill>
          <a:ln w="10160">
            <a:solidFill>
              <a:srgbClr val="CBDBD2"/>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extBox 7"/>
          <p:cNvSpPr txBox="1"/>
          <p:nvPr/>
        </p:nvSpPr>
        <p:spPr>
          <a:xfrm>
            <a:off x="1353312" y="2688336"/>
            <a:ext cx="9491472" cy="402336"/>
          </a:xfrm>
          <a:prstGeom prst="rect">
            <a:avLst/>
          </a:prstGeom>
          <a:noFill/>
        </p:spPr>
        <p:txBody>
          <a:bodyPr wrap="square" lIns="0" rIns="0" tIns="0" bIns="0" anchor="t">
            <a:spAutoFit/>
          </a:bodyPr>
          <a:lstStyle/>
          <a:p>
            <a:pPr algn="ctr">
              <a:lnSpc>
                <a:spcPts val="3304"/>
              </a:lnSpc>
              <a:spcAft>
                <a:spcPts val="800"/>
              </a:spcAft>
            </a:pPr>
            <a:r>
              <a:rPr sz="2800" b="1">
                <a:solidFill>
                  <a:srgbClr val="276452"/>
                </a:solidFill>
                <a:latin typeface="Liberation Sans"/>
              </a:rPr>
              <a:t>Topic: Eugenics</a:t>
            </a:r>
          </a:p>
        </p:txBody>
      </p:sp>
      <p:sp>
        <p:nvSpPr>
          <p:cNvPr id="9" name="TextBox 8"/>
          <p:cNvSpPr txBox="1"/>
          <p:nvPr/>
        </p:nvSpPr>
        <p:spPr>
          <a:xfrm>
            <a:off x="1444752" y="3246120"/>
            <a:ext cx="9308592" cy="676656"/>
          </a:xfrm>
          <a:prstGeom prst="rect">
            <a:avLst/>
          </a:prstGeom>
          <a:noFill/>
        </p:spPr>
        <p:txBody>
          <a:bodyPr wrap="square" lIns="0" rIns="0" tIns="0" bIns="0" anchor="t">
            <a:spAutoFit/>
          </a:bodyPr>
          <a:lstStyle/>
          <a:p>
            <a:pPr algn="ctr">
              <a:lnSpc>
                <a:spcPts val="2950"/>
              </a:lnSpc>
              <a:spcAft>
                <a:spcPts val="800"/>
              </a:spcAft>
            </a:pPr>
            <a:r>
              <a:rPr sz="2500" b="0">
                <a:solidFill>
                  <a:srgbClr val="24312E"/>
                </a:solidFill>
                <a:latin typeface="Liberation Sans"/>
              </a:rPr>
              <a:t>Can selective reproduction ever be scientifically
or ethically justified?</a:t>
            </a:r>
          </a:p>
        </p:txBody>
      </p:sp>
      <p:sp>
        <p:nvSpPr>
          <p:cNvPr id="10" name="TextBox 9"/>
          <p:cNvSpPr txBox="1"/>
          <p:nvPr/>
        </p:nvSpPr>
        <p:spPr>
          <a:xfrm>
            <a:off x="1417320" y="4736592"/>
            <a:ext cx="4572000" cy="329184"/>
          </a:xfrm>
          <a:prstGeom prst="rect">
            <a:avLst/>
          </a:prstGeom>
          <a:noFill/>
        </p:spPr>
        <p:txBody>
          <a:bodyPr wrap="square" lIns="0" rIns="0" tIns="0" bIns="0" anchor="t">
            <a:spAutoFit/>
          </a:bodyPr>
          <a:lstStyle/>
          <a:p>
            <a:pPr algn="l">
              <a:lnSpc>
                <a:spcPts val="2360"/>
              </a:lnSpc>
              <a:spcAft>
                <a:spcPts val="800"/>
              </a:spcAft>
            </a:pPr>
            <a:r>
              <a:rPr sz="2000" b="1">
                <a:solidFill>
                  <a:srgbClr val="276452"/>
                </a:solidFill>
                <a:latin typeface="Liberation Sans"/>
              </a:rPr>
              <a:t>Submitted to</a:t>
            </a:r>
          </a:p>
        </p:txBody>
      </p:sp>
      <p:sp>
        <p:nvSpPr>
          <p:cNvPr id="11" name="TextBox 10"/>
          <p:cNvSpPr txBox="1"/>
          <p:nvPr/>
        </p:nvSpPr>
        <p:spPr>
          <a:xfrm>
            <a:off x="1417320" y="5257800"/>
            <a:ext cx="4937760" cy="813816"/>
          </a:xfrm>
          <a:prstGeom prst="rect">
            <a:avLst/>
          </a:prstGeom>
          <a:noFill/>
        </p:spPr>
        <p:txBody>
          <a:bodyPr wrap="square" lIns="0" rIns="0" tIns="0" bIns="0" anchor="t">
            <a:spAutoFit/>
          </a:bodyPr>
          <a:lstStyle/>
          <a:p>
            <a:pPr algn="l">
              <a:lnSpc>
                <a:spcPts val="2477"/>
              </a:lnSpc>
              <a:spcAft>
                <a:spcPts val="800"/>
              </a:spcAft>
            </a:pPr>
            <a:r>
              <a:rPr sz="2100" b="0">
                <a:solidFill>
                  <a:srgbClr val="24312E"/>
                </a:solidFill>
                <a:latin typeface="Liberation Sans"/>
              </a:rPr>
              <a:t>Dr Anjali mam</a:t>
            </a:r>
          </a:p>
          <a:p>
            <a:pPr algn="l">
              <a:lnSpc>
                <a:spcPts val="2477"/>
              </a:lnSpc>
              <a:spcAft>
                <a:spcPts val="800"/>
              </a:spcAft>
            </a:pPr>
            <a:r>
              <a:rPr sz="2100" b="0">
                <a:solidFill>
                  <a:srgbClr val="24312E"/>
                </a:solidFill>
                <a:latin typeface="Liberation Sans"/>
              </a:rPr>
              <a:t>Dr Rishikesh K. Laxmi</a:t>
            </a:r>
          </a:p>
        </p:txBody>
      </p:sp>
      <p:sp>
        <p:nvSpPr>
          <p:cNvPr id="12" name="TextBox 11"/>
          <p:cNvSpPr txBox="1"/>
          <p:nvPr/>
        </p:nvSpPr>
        <p:spPr>
          <a:xfrm>
            <a:off x="7315200" y="4736592"/>
            <a:ext cx="3474720" cy="329184"/>
          </a:xfrm>
          <a:prstGeom prst="rect">
            <a:avLst/>
          </a:prstGeom>
          <a:noFill/>
        </p:spPr>
        <p:txBody>
          <a:bodyPr wrap="square" lIns="0" rIns="0" tIns="0" bIns="0" anchor="t">
            <a:spAutoFit/>
          </a:bodyPr>
          <a:lstStyle/>
          <a:p>
            <a:pPr algn="l">
              <a:lnSpc>
                <a:spcPts val="2360"/>
              </a:lnSpc>
              <a:spcAft>
                <a:spcPts val="800"/>
              </a:spcAft>
            </a:pPr>
            <a:r>
              <a:rPr sz="2000" b="1">
                <a:solidFill>
                  <a:srgbClr val="276452"/>
                </a:solidFill>
                <a:latin typeface="Liberation Sans"/>
              </a:rPr>
              <a:t>Submitted by</a:t>
            </a:r>
          </a:p>
        </p:txBody>
      </p:sp>
      <p:sp>
        <p:nvSpPr>
          <p:cNvPr id="13" name="TextBox 12"/>
          <p:cNvSpPr txBox="1"/>
          <p:nvPr/>
        </p:nvSpPr>
        <p:spPr>
          <a:xfrm>
            <a:off x="7315200" y="5257800"/>
            <a:ext cx="3566160" cy="813816"/>
          </a:xfrm>
          <a:prstGeom prst="rect">
            <a:avLst/>
          </a:prstGeom>
          <a:noFill/>
        </p:spPr>
        <p:txBody>
          <a:bodyPr wrap="square" lIns="0" rIns="0" tIns="0" bIns="0" anchor="t">
            <a:spAutoFit/>
          </a:bodyPr>
          <a:lstStyle/>
          <a:p>
            <a:pPr algn="l">
              <a:lnSpc>
                <a:spcPts val="2477"/>
              </a:lnSpc>
              <a:spcAft>
                <a:spcPts val="800"/>
              </a:spcAft>
            </a:pPr>
            <a:r>
              <a:rPr sz="2100" b="0">
                <a:solidFill>
                  <a:srgbClr val="24312E"/>
                </a:solidFill>
                <a:latin typeface="Liberation Sans"/>
              </a:rPr>
              <a:t>Prachi Yadav</a:t>
            </a:r>
          </a:p>
          <a:p>
            <a:pPr algn="l">
              <a:lnSpc>
                <a:spcPts val="2477"/>
              </a:lnSpc>
              <a:spcAft>
                <a:spcPts val="800"/>
              </a:spcAft>
            </a:pPr>
            <a:r>
              <a:rPr sz="2100" b="0">
                <a:solidFill>
                  <a:srgbClr val="24312E"/>
                </a:solidFill>
                <a:latin typeface="Liberation Sans"/>
              </a:rPr>
              <a:t>2411024</a:t>
            </a:r>
          </a:p>
        </p:txBody>
      </p:sp>
      <p:cxnSp>
        <p:nvCxnSpPr>
          <p:cNvPr id="14" name="Connector 13"/>
          <p:cNvCxnSpPr/>
          <p:nvPr/>
        </p:nvCxnSpPr>
        <p:spPr>
          <a:xfrm>
            <a:off x="6537960" y="4718304"/>
            <a:ext cx="0" cy="1344168"/>
          </a:xfrm>
          <a:prstGeom prst="line">
            <a:avLst/>
          </a:prstGeom>
          <a:ln w="12700">
            <a:solidFill>
              <a:srgbClr val="CBDBD2"/>
            </a:solidFill>
          </a:ln>
        </p:spPr>
        <p:style>
          <a:lnRef idx="2">
            <a:schemeClr val="accent1"/>
          </a:lnRef>
          <a:fillRef idx="0">
            <a:schemeClr val="accent1"/>
          </a:fillRef>
          <a:effectRef idx="0">
            <a:schemeClr val="accent1"/>
          </a:effectRef>
          <a:fontRef idx="minor">
            <a:schemeClr val="tx1"/>
          </a:fontRef>
        </p:style>
      </p:cxn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30352" y="393192"/>
            <a:ext cx="109728" cy="393192"/>
          </a:xfrm>
          <a:prstGeom prst="rect">
            <a:avLst/>
          </a:prstGeom>
          <a:solidFill>
            <a:srgbClr val="276452"/>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786384" y="347472"/>
            <a:ext cx="10835640" cy="512064"/>
          </a:xfrm>
          <a:prstGeom prst="rect">
            <a:avLst/>
          </a:prstGeom>
          <a:noFill/>
        </p:spPr>
        <p:txBody>
          <a:bodyPr wrap="square" lIns="0" rIns="0" tIns="0" bIns="0" anchor="t">
            <a:spAutoFit/>
          </a:bodyPr>
          <a:lstStyle/>
          <a:p>
            <a:pPr algn="l">
              <a:lnSpc>
                <a:spcPts val="3304"/>
              </a:lnSpc>
              <a:spcAft>
                <a:spcPts val="800"/>
              </a:spcAft>
            </a:pPr>
            <a:r>
              <a:rPr sz="2800" b="1">
                <a:solidFill>
                  <a:srgbClr val="24312E"/>
                </a:solidFill>
                <a:latin typeface="Liberation Sans"/>
              </a:rPr>
              <a:t>a. Introduction</a:t>
            </a:r>
          </a:p>
        </p:txBody>
      </p:sp>
      <p:sp>
        <p:nvSpPr>
          <p:cNvPr id="4" name="TextBox 3"/>
          <p:cNvSpPr txBox="1"/>
          <p:nvPr/>
        </p:nvSpPr>
        <p:spPr>
          <a:xfrm>
            <a:off x="786384" y="905256"/>
            <a:ext cx="10789920" cy="274320"/>
          </a:xfrm>
          <a:prstGeom prst="rect">
            <a:avLst/>
          </a:prstGeom>
          <a:noFill/>
        </p:spPr>
        <p:txBody>
          <a:bodyPr wrap="square" lIns="0" rIns="0" tIns="0" bIns="0" anchor="t">
            <a:spAutoFit/>
          </a:bodyPr>
          <a:lstStyle/>
          <a:p>
            <a:pPr algn="l">
              <a:lnSpc>
                <a:spcPts val="1534"/>
              </a:lnSpc>
              <a:spcAft>
                <a:spcPts val="800"/>
              </a:spcAft>
            </a:pPr>
            <a:r>
              <a:rPr sz="1300" b="0">
                <a:solidFill>
                  <a:srgbClr val="52635D"/>
                </a:solidFill>
                <a:latin typeface="Liberation Sans"/>
              </a:rPr>
              <a:t>Concept, scientific background, and relevance</a:t>
            </a:r>
          </a:p>
        </p:txBody>
      </p:sp>
      <p:cxnSp>
        <p:nvCxnSpPr>
          <p:cNvPr id="5" name="Connector 4"/>
          <p:cNvCxnSpPr/>
          <p:nvPr/>
        </p:nvCxnSpPr>
        <p:spPr>
          <a:xfrm>
            <a:off x="548640" y="6373368"/>
            <a:ext cx="11091672" cy="0"/>
          </a:xfrm>
          <a:prstGeom prst="line">
            <a:avLst/>
          </a:prstGeom>
          <a:ln w="12700">
            <a:solidFill>
              <a:srgbClr val="CBDBD2"/>
            </a:solidFill>
          </a:ln>
        </p:spPr>
        <p:style>
          <a:lnRef idx="2">
            <a:schemeClr val="accent1"/>
          </a:lnRef>
          <a:fillRef idx="0">
            <a:schemeClr val="accent1"/>
          </a:fillRef>
          <a:effectRef idx="0">
            <a:schemeClr val="accent1"/>
          </a:effectRef>
          <a:fontRef idx="minor">
            <a:schemeClr val="tx1"/>
          </a:fontRef>
        </p:style>
      </p:cxnSp>
      <p:sp>
        <p:nvSpPr>
          <p:cNvPr id="6" name="TextBox 5"/>
          <p:cNvSpPr txBox="1"/>
          <p:nvPr/>
        </p:nvSpPr>
        <p:spPr>
          <a:xfrm>
            <a:off x="594360" y="6464808"/>
            <a:ext cx="7955279" cy="182880"/>
          </a:xfrm>
          <a:prstGeom prst="rect">
            <a:avLst/>
          </a:prstGeom>
          <a:noFill/>
        </p:spPr>
        <p:txBody>
          <a:bodyPr wrap="square" lIns="0" rIns="0" tIns="0" bIns="0" anchor="t">
            <a:spAutoFit/>
          </a:bodyPr>
          <a:lstStyle/>
          <a:p>
            <a:pPr algn="l">
              <a:lnSpc>
                <a:spcPts val="1121"/>
              </a:lnSpc>
              <a:spcAft>
                <a:spcPts val="800"/>
              </a:spcAft>
            </a:pPr>
            <a:r>
              <a:rPr sz="950" b="0">
                <a:solidFill>
                  <a:srgbClr val="52635D"/>
                </a:solidFill>
                <a:latin typeface="Liberation Sans"/>
              </a:rPr>
              <a:t>Prachi Yadav  |  Fundamental of Genetics</a:t>
            </a:r>
          </a:p>
        </p:txBody>
      </p:sp>
      <p:sp>
        <p:nvSpPr>
          <p:cNvPr id="7" name="TextBox 6"/>
          <p:cNvSpPr txBox="1"/>
          <p:nvPr/>
        </p:nvSpPr>
        <p:spPr>
          <a:xfrm>
            <a:off x="8275320" y="6460236"/>
            <a:ext cx="2880360" cy="210312"/>
          </a:xfrm>
          <a:prstGeom prst="rect">
            <a:avLst/>
          </a:prstGeom>
          <a:noFill/>
        </p:spPr>
        <p:txBody>
          <a:bodyPr wrap="square" lIns="0" rIns="0" tIns="0" bIns="0" anchor="t">
            <a:spAutoFit/>
          </a:bodyPr>
          <a:lstStyle/>
          <a:p>
            <a:pPr algn="r">
              <a:lnSpc>
                <a:spcPts val="1180"/>
              </a:lnSpc>
              <a:spcAft>
                <a:spcPts val="800"/>
              </a:spcAft>
            </a:pPr>
            <a:r>
              <a:rPr sz="1000" b="0">
                <a:solidFill>
                  <a:srgbClr val="52635D"/>
                </a:solidFill>
                <a:latin typeface="Liberation Sans"/>
              </a:rPr>
              <a:t>Sources: [1], [5]</a:t>
            </a:r>
          </a:p>
        </p:txBody>
      </p:sp>
      <p:sp>
        <p:nvSpPr>
          <p:cNvPr id="8" name="TextBox 7"/>
          <p:cNvSpPr txBox="1"/>
          <p:nvPr/>
        </p:nvSpPr>
        <p:spPr>
          <a:xfrm>
            <a:off x="11228832" y="6460236"/>
            <a:ext cx="365760" cy="210312"/>
          </a:xfrm>
          <a:prstGeom prst="rect">
            <a:avLst/>
          </a:prstGeom>
          <a:noFill/>
        </p:spPr>
        <p:txBody>
          <a:bodyPr wrap="square" lIns="0" rIns="0" tIns="0" bIns="0" anchor="t">
            <a:spAutoFit/>
          </a:bodyPr>
          <a:lstStyle/>
          <a:p>
            <a:pPr algn="r">
              <a:lnSpc>
                <a:spcPts val="1180"/>
              </a:lnSpc>
              <a:spcAft>
                <a:spcPts val="800"/>
              </a:spcAft>
            </a:pPr>
            <a:r>
              <a:rPr sz="1000" b="0">
                <a:solidFill>
                  <a:srgbClr val="276452"/>
                </a:solidFill>
                <a:latin typeface="Liberation Sans"/>
              </a:rPr>
              <a:t>2</a:t>
            </a:r>
          </a:p>
        </p:txBody>
      </p:sp>
      <p:sp>
        <p:nvSpPr>
          <p:cNvPr id="9" name="Rectangle 8"/>
          <p:cNvSpPr/>
          <p:nvPr/>
        </p:nvSpPr>
        <p:spPr>
          <a:xfrm>
            <a:off x="594360" y="1417320"/>
            <a:ext cx="3547872" cy="3447288"/>
          </a:xfrm>
          <a:prstGeom prst="rect">
            <a:avLst/>
          </a:prstGeom>
          <a:solidFill>
            <a:srgbClr val="EEF5F1"/>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TextBox 9"/>
          <p:cNvSpPr txBox="1"/>
          <p:nvPr/>
        </p:nvSpPr>
        <p:spPr>
          <a:xfrm>
            <a:off x="795528" y="1581912"/>
            <a:ext cx="3145536" cy="402336"/>
          </a:xfrm>
          <a:prstGeom prst="rect">
            <a:avLst/>
          </a:prstGeom>
          <a:noFill/>
        </p:spPr>
        <p:txBody>
          <a:bodyPr wrap="square" lIns="0" rIns="0" tIns="0" bIns="0" anchor="t">
            <a:spAutoFit/>
          </a:bodyPr>
          <a:lstStyle/>
          <a:p>
            <a:pPr algn="l">
              <a:lnSpc>
                <a:spcPts val="2360"/>
              </a:lnSpc>
              <a:spcAft>
                <a:spcPts val="800"/>
              </a:spcAft>
            </a:pPr>
            <a:r>
              <a:rPr sz="2000" b="1">
                <a:solidFill>
                  <a:srgbClr val="276452"/>
                </a:solidFill>
                <a:latin typeface="Liberation Sans"/>
              </a:rPr>
              <a:t>What is eugenics?</a:t>
            </a:r>
          </a:p>
        </p:txBody>
      </p:sp>
      <p:sp>
        <p:nvSpPr>
          <p:cNvPr id="11" name="TextBox 10"/>
          <p:cNvSpPr txBox="1"/>
          <p:nvPr/>
        </p:nvSpPr>
        <p:spPr>
          <a:xfrm>
            <a:off x="795528" y="2020824"/>
            <a:ext cx="3145536" cy="2688336"/>
          </a:xfrm>
          <a:prstGeom prst="rect">
            <a:avLst/>
          </a:prstGeom>
          <a:noFill/>
        </p:spPr>
        <p:txBody>
          <a:bodyPr wrap="square" lIns="0" rIns="0" tIns="0" bIns="0" anchor="t">
            <a:spAutoFit/>
          </a:bodyPr>
          <a:lstStyle/>
          <a:p>
            <a:pPr algn="l">
              <a:lnSpc>
                <a:spcPts val="2360"/>
              </a:lnSpc>
              <a:spcAft>
                <a:spcPts val="800"/>
              </a:spcAft>
            </a:pPr>
            <a:r>
              <a:rPr sz="2000" b="0">
                <a:solidFill>
                  <a:srgbClr val="24312E"/>
                </a:solidFill>
                <a:latin typeface="Liberation Sans"/>
              </a:rPr>
              <a:t>An attempt to change the inherited features of a population by influencing who reproduces.
It has often involved ideas about “desirable” and “undesirable” people.</a:t>
            </a:r>
          </a:p>
        </p:txBody>
      </p:sp>
      <p:sp>
        <p:nvSpPr>
          <p:cNvPr id="12" name="Rectangle 11"/>
          <p:cNvSpPr/>
          <p:nvPr/>
        </p:nvSpPr>
        <p:spPr>
          <a:xfrm>
            <a:off x="4315968" y="1417320"/>
            <a:ext cx="3547872" cy="3447288"/>
          </a:xfrm>
          <a:prstGeom prst="rect">
            <a:avLst/>
          </a:prstGeom>
          <a:solidFill>
            <a:srgbClr val="EEF5F1"/>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4517136" y="1581912"/>
            <a:ext cx="3145536" cy="402336"/>
          </a:xfrm>
          <a:prstGeom prst="rect">
            <a:avLst/>
          </a:prstGeom>
          <a:noFill/>
        </p:spPr>
        <p:txBody>
          <a:bodyPr wrap="square" lIns="0" rIns="0" tIns="0" bIns="0" anchor="t">
            <a:spAutoFit/>
          </a:bodyPr>
          <a:lstStyle/>
          <a:p>
            <a:pPr algn="l">
              <a:lnSpc>
                <a:spcPts val="2360"/>
              </a:lnSpc>
              <a:spcAft>
                <a:spcPts val="800"/>
              </a:spcAft>
            </a:pPr>
            <a:r>
              <a:rPr sz="2000" b="1">
                <a:solidFill>
                  <a:srgbClr val="276452"/>
                </a:solidFill>
                <a:latin typeface="Liberation Sans"/>
              </a:rPr>
              <a:t>Scientific background</a:t>
            </a:r>
          </a:p>
        </p:txBody>
      </p:sp>
      <p:sp>
        <p:nvSpPr>
          <p:cNvPr id="14" name="TextBox 13"/>
          <p:cNvSpPr txBox="1"/>
          <p:nvPr/>
        </p:nvSpPr>
        <p:spPr>
          <a:xfrm>
            <a:off x="4517136" y="2020824"/>
            <a:ext cx="3145536" cy="2688336"/>
          </a:xfrm>
          <a:prstGeom prst="rect">
            <a:avLst/>
          </a:prstGeom>
          <a:noFill/>
        </p:spPr>
        <p:txBody>
          <a:bodyPr wrap="square" lIns="0" rIns="0" tIns="0" bIns="0" anchor="t">
            <a:spAutoFit/>
          </a:bodyPr>
          <a:lstStyle/>
          <a:p>
            <a:pPr algn="l">
              <a:lnSpc>
                <a:spcPts val="2360"/>
              </a:lnSpc>
              <a:spcAft>
                <a:spcPts val="800"/>
              </a:spcAft>
            </a:pPr>
            <a:r>
              <a:rPr sz="2000" b="0">
                <a:solidFill>
                  <a:srgbClr val="24312E"/>
                </a:solidFill>
                <a:latin typeface="Liberation Sans"/>
              </a:rPr>
              <a:t>Traits can be inherited through genes. Francis Galton introduced the term eugenics.
But many traits also depend on environment and cannot be predicted by one gene.</a:t>
            </a:r>
          </a:p>
        </p:txBody>
      </p:sp>
      <p:sp>
        <p:nvSpPr>
          <p:cNvPr id="15" name="Rectangle 14"/>
          <p:cNvSpPr/>
          <p:nvPr/>
        </p:nvSpPr>
        <p:spPr>
          <a:xfrm>
            <a:off x="8037575" y="1417320"/>
            <a:ext cx="3547872" cy="3447288"/>
          </a:xfrm>
          <a:prstGeom prst="rect">
            <a:avLst/>
          </a:prstGeom>
          <a:solidFill>
            <a:srgbClr val="EEF5F1"/>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TextBox 15"/>
          <p:cNvSpPr txBox="1"/>
          <p:nvPr/>
        </p:nvSpPr>
        <p:spPr>
          <a:xfrm>
            <a:off x="8238744" y="1581912"/>
            <a:ext cx="3145536" cy="402336"/>
          </a:xfrm>
          <a:prstGeom prst="rect">
            <a:avLst/>
          </a:prstGeom>
          <a:noFill/>
        </p:spPr>
        <p:txBody>
          <a:bodyPr wrap="square" lIns="0" rIns="0" tIns="0" bIns="0" anchor="t">
            <a:spAutoFit/>
          </a:bodyPr>
          <a:lstStyle/>
          <a:p>
            <a:pPr algn="l">
              <a:lnSpc>
                <a:spcPts val="2360"/>
              </a:lnSpc>
              <a:spcAft>
                <a:spcPts val="800"/>
              </a:spcAft>
            </a:pPr>
            <a:r>
              <a:rPr sz="2000" b="1">
                <a:solidFill>
                  <a:srgbClr val="276452"/>
                </a:solidFill>
                <a:latin typeface="Liberation Sans"/>
              </a:rPr>
              <a:t>Why is it relevant?</a:t>
            </a:r>
          </a:p>
        </p:txBody>
      </p:sp>
      <p:sp>
        <p:nvSpPr>
          <p:cNvPr id="17" name="TextBox 16"/>
          <p:cNvSpPr txBox="1"/>
          <p:nvPr/>
        </p:nvSpPr>
        <p:spPr>
          <a:xfrm>
            <a:off x="8238744" y="2020824"/>
            <a:ext cx="3145536" cy="2688336"/>
          </a:xfrm>
          <a:prstGeom prst="rect">
            <a:avLst/>
          </a:prstGeom>
          <a:noFill/>
        </p:spPr>
        <p:txBody>
          <a:bodyPr wrap="square" lIns="0" rIns="0" tIns="0" bIns="0" anchor="t">
            <a:spAutoFit/>
          </a:bodyPr>
          <a:lstStyle/>
          <a:p>
            <a:pPr algn="l">
              <a:lnSpc>
                <a:spcPts val="2360"/>
              </a:lnSpc>
              <a:spcAft>
                <a:spcPts val="800"/>
              </a:spcAft>
            </a:pPr>
            <a:r>
              <a:rPr sz="2000" b="0">
                <a:solidFill>
                  <a:srgbClr val="24312E"/>
                </a:solidFill>
                <a:latin typeface="Liberation Sans"/>
              </a:rPr>
              <a:t>Genetic testing can help families understand inherited disease risks.
It also raises questions about choice, disability, fairness, and pressure on parents.</a:t>
            </a:r>
          </a:p>
        </p:txBody>
      </p:sp>
      <p:sp>
        <p:nvSpPr>
          <p:cNvPr id="18" name="Rectangle 17"/>
          <p:cNvSpPr/>
          <p:nvPr/>
        </p:nvSpPr>
        <p:spPr>
          <a:xfrm>
            <a:off x="594360" y="5285232"/>
            <a:ext cx="11000232" cy="585216"/>
          </a:xfrm>
          <a:prstGeom prst="rect">
            <a:avLst/>
          </a:prstGeom>
          <a:solidFill>
            <a:srgbClr val="EEF5F1"/>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786384" y="5404104"/>
            <a:ext cx="10607040" cy="365760"/>
          </a:xfrm>
          <a:prstGeom prst="rect">
            <a:avLst/>
          </a:prstGeom>
          <a:noFill/>
        </p:spPr>
        <p:txBody>
          <a:bodyPr wrap="square" lIns="0" rIns="0" tIns="0" bIns="0" anchor="t">
            <a:spAutoFit/>
          </a:bodyPr>
          <a:lstStyle/>
          <a:p>
            <a:pPr algn="l">
              <a:lnSpc>
                <a:spcPts val="2360"/>
              </a:lnSpc>
              <a:spcAft>
                <a:spcPts val="800"/>
              </a:spcAft>
            </a:pPr>
            <a:r>
              <a:rPr sz="2000" b="1">
                <a:solidFill>
                  <a:srgbClr val="276452"/>
                </a:solidFill>
                <a:latin typeface="Liberation Sans"/>
              </a:rPr>
              <a:t>Key question: When does reducing disease risk become control over reproduction?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30352" y="393192"/>
            <a:ext cx="109728" cy="393192"/>
          </a:xfrm>
          <a:prstGeom prst="rect">
            <a:avLst/>
          </a:prstGeom>
          <a:solidFill>
            <a:srgbClr val="276452"/>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786384" y="347472"/>
            <a:ext cx="10835640" cy="512064"/>
          </a:xfrm>
          <a:prstGeom prst="rect">
            <a:avLst/>
          </a:prstGeom>
          <a:noFill/>
        </p:spPr>
        <p:txBody>
          <a:bodyPr wrap="square" lIns="0" rIns="0" tIns="0" bIns="0" anchor="t">
            <a:spAutoFit/>
          </a:bodyPr>
          <a:lstStyle/>
          <a:p>
            <a:pPr algn="l">
              <a:lnSpc>
                <a:spcPts val="3304"/>
              </a:lnSpc>
              <a:spcAft>
                <a:spcPts val="800"/>
              </a:spcAft>
            </a:pPr>
            <a:r>
              <a:rPr sz="2800" b="1">
                <a:solidFill>
                  <a:srgbClr val="24312E"/>
                </a:solidFill>
                <a:latin typeface="Liberation Sans"/>
              </a:rPr>
              <a:t>a. A short history</a:t>
            </a:r>
          </a:p>
        </p:txBody>
      </p:sp>
      <p:sp>
        <p:nvSpPr>
          <p:cNvPr id="4" name="TextBox 3"/>
          <p:cNvSpPr txBox="1"/>
          <p:nvPr/>
        </p:nvSpPr>
        <p:spPr>
          <a:xfrm>
            <a:off x="786384" y="905256"/>
            <a:ext cx="10789920" cy="274320"/>
          </a:xfrm>
          <a:prstGeom prst="rect">
            <a:avLst/>
          </a:prstGeom>
          <a:noFill/>
        </p:spPr>
        <p:txBody>
          <a:bodyPr wrap="square" lIns="0" rIns="0" tIns="0" bIns="0" anchor="t">
            <a:spAutoFit/>
          </a:bodyPr>
          <a:lstStyle/>
          <a:p>
            <a:pPr algn="l">
              <a:lnSpc>
                <a:spcPts val="1534"/>
              </a:lnSpc>
              <a:spcAft>
                <a:spcPts val="800"/>
              </a:spcAft>
            </a:pPr>
            <a:r>
              <a:rPr sz="1300" b="0">
                <a:solidFill>
                  <a:srgbClr val="52635D"/>
                </a:solidFill>
                <a:latin typeface="Liberation Sans"/>
              </a:rPr>
              <a:t>Why the past matters</a:t>
            </a:r>
          </a:p>
        </p:txBody>
      </p:sp>
      <p:cxnSp>
        <p:nvCxnSpPr>
          <p:cNvPr id="5" name="Connector 4"/>
          <p:cNvCxnSpPr/>
          <p:nvPr/>
        </p:nvCxnSpPr>
        <p:spPr>
          <a:xfrm>
            <a:off x="548640" y="6373368"/>
            <a:ext cx="11091672" cy="0"/>
          </a:xfrm>
          <a:prstGeom prst="line">
            <a:avLst/>
          </a:prstGeom>
          <a:ln w="12700">
            <a:solidFill>
              <a:srgbClr val="CBDBD2"/>
            </a:solidFill>
          </a:ln>
        </p:spPr>
        <p:style>
          <a:lnRef idx="2">
            <a:schemeClr val="accent1"/>
          </a:lnRef>
          <a:fillRef idx="0">
            <a:schemeClr val="accent1"/>
          </a:fillRef>
          <a:effectRef idx="0">
            <a:schemeClr val="accent1"/>
          </a:effectRef>
          <a:fontRef idx="minor">
            <a:schemeClr val="tx1"/>
          </a:fontRef>
        </p:style>
      </p:cxnSp>
      <p:sp>
        <p:nvSpPr>
          <p:cNvPr id="6" name="TextBox 5"/>
          <p:cNvSpPr txBox="1"/>
          <p:nvPr/>
        </p:nvSpPr>
        <p:spPr>
          <a:xfrm>
            <a:off x="594360" y="6464808"/>
            <a:ext cx="7955279" cy="182880"/>
          </a:xfrm>
          <a:prstGeom prst="rect">
            <a:avLst/>
          </a:prstGeom>
          <a:noFill/>
        </p:spPr>
        <p:txBody>
          <a:bodyPr wrap="square" lIns="0" rIns="0" tIns="0" bIns="0" anchor="t">
            <a:spAutoFit/>
          </a:bodyPr>
          <a:lstStyle/>
          <a:p>
            <a:pPr algn="l">
              <a:lnSpc>
                <a:spcPts val="1121"/>
              </a:lnSpc>
              <a:spcAft>
                <a:spcPts val="800"/>
              </a:spcAft>
            </a:pPr>
            <a:r>
              <a:rPr sz="950" b="0">
                <a:solidFill>
                  <a:srgbClr val="52635D"/>
                </a:solidFill>
                <a:latin typeface="Liberation Sans"/>
              </a:rPr>
              <a:t>Prachi Yadav  |  Fundamental of Genetics</a:t>
            </a:r>
          </a:p>
        </p:txBody>
      </p:sp>
      <p:sp>
        <p:nvSpPr>
          <p:cNvPr id="7" name="TextBox 6"/>
          <p:cNvSpPr txBox="1"/>
          <p:nvPr/>
        </p:nvSpPr>
        <p:spPr>
          <a:xfrm>
            <a:off x="8275320" y="6460236"/>
            <a:ext cx="2880360" cy="210312"/>
          </a:xfrm>
          <a:prstGeom prst="rect">
            <a:avLst/>
          </a:prstGeom>
          <a:noFill/>
        </p:spPr>
        <p:txBody>
          <a:bodyPr wrap="square" lIns="0" rIns="0" tIns="0" bIns="0" anchor="t">
            <a:spAutoFit/>
          </a:bodyPr>
          <a:lstStyle/>
          <a:p>
            <a:pPr algn="r">
              <a:lnSpc>
                <a:spcPts val="1180"/>
              </a:lnSpc>
              <a:spcAft>
                <a:spcPts val="800"/>
              </a:spcAft>
            </a:pPr>
            <a:r>
              <a:rPr sz="1000" b="0">
                <a:solidFill>
                  <a:srgbClr val="52635D"/>
                </a:solidFill>
                <a:latin typeface="Liberation Sans"/>
              </a:rPr>
              <a:t>Sources: [5], [6]</a:t>
            </a:r>
          </a:p>
        </p:txBody>
      </p:sp>
      <p:sp>
        <p:nvSpPr>
          <p:cNvPr id="8" name="TextBox 7"/>
          <p:cNvSpPr txBox="1"/>
          <p:nvPr/>
        </p:nvSpPr>
        <p:spPr>
          <a:xfrm>
            <a:off x="11228832" y="6460236"/>
            <a:ext cx="365760" cy="210312"/>
          </a:xfrm>
          <a:prstGeom prst="rect">
            <a:avLst/>
          </a:prstGeom>
          <a:noFill/>
        </p:spPr>
        <p:txBody>
          <a:bodyPr wrap="square" lIns="0" rIns="0" tIns="0" bIns="0" anchor="t">
            <a:spAutoFit/>
          </a:bodyPr>
          <a:lstStyle/>
          <a:p>
            <a:pPr algn="r">
              <a:lnSpc>
                <a:spcPts val="1180"/>
              </a:lnSpc>
              <a:spcAft>
                <a:spcPts val="800"/>
              </a:spcAft>
            </a:pPr>
            <a:r>
              <a:rPr sz="1000" b="0">
                <a:solidFill>
                  <a:srgbClr val="276452"/>
                </a:solidFill>
                <a:latin typeface="Liberation Sans"/>
              </a:rPr>
              <a:t>3</a:t>
            </a:r>
          </a:p>
        </p:txBody>
      </p:sp>
      <p:sp>
        <p:nvSpPr>
          <p:cNvPr id="9" name="Oval 8"/>
          <p:cNvSpPr/>
          <p:nvPr/>
        </p:nvSpPr>
        <p:spPr>
          <a:xfrm>
            <a:off x="694944" y="1508760"/>
            <a:ext cx="365760" cy="365760"/>
          </a:xfrm>
          <a:prstGeom prst="ellipse">
            <a:avLst/>
          </a:prstGeom>
          <a:solidFill>
            <a:srgbClr val="276452"/>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TextBox 9"/>
          <p:cNvSpPr txBox="1"/>
          <p:nvPr/>
        </p:nvSpPr>
        <p:spPr>
          <a:xfrm>
            <a:off x="694944" y="1559052"/>
            <a:ext cx="365760" cy="182880"/>
          </a:xfrm>
          <a:prstGeom prst="rect">
            <a:avLst/>
          </a:prstGeom>
          <a:noFill/>
        </p:spPr>
        <p:txBody>
          <a:bodyPr wrap="square" lIns="0" rIns="0" tIns="0" bIns="0" anchor="t">
            <a:spAutoFit/>
          </a:bodyPr>
          <a:lstStyle/>
          <a:p>
            <a:pPr algn="ctr">
              <a:lnSpc>
                <a:spcPts val="1416"/>
              </a:lnSpc>
              <a:spcAft>
                <a:spcPts val="800"/>
              </a:spcAft>
            </a:pPr>
            <a:r>
              <a:rPr sz="1200" b="1">
                <a:solidFill>
                  <a:srgbClr val="FFFFFF"/>
                </a:solidFill>
                <a:latin typeface="Liberation Sans"/>
              </a:rPr>
              <a:t>1</a:t>
            </a:r>
          </a:p>
        </p:txBody>
      </p:sp>
      <p:sp>
        <p:nvSpPr>
          <p:cNvPr id="11" name="TextBox 10"/>
          <p:cNvSpPr txBox="1"/>
          <p:nvPr/>
        </p:nvSpPr>
        <p:spPr>
          <a:xfrm>
            <a:off x="1280160" y="1463040"/>
            <a:ext cx="9966960" cy="365760"/>
          </a:xfrm>
          <a:prstGeom prst="rect">
            <a:avLst/>
          </a:prstGeom>
          <a:noFill/>
        </p:spPr>
        <p:txBody>
          <a:bodyPr wrap="square" lIns="0" rIns="0" tIns="0" bIns="0" anchor="t">
            <a:spAutoFit/>
          </a:bodyPr>
          <a:lstStyle/>
          <a:p>
            <a:pPr algn="l">
              <a:lnSpc>
                <a:spcPts val="2595"/>
              </a:lnSpc>
              <a:spcAft>
                <a:spcPts val="800"/>
              </a:spcAft>
            </a:pPr>
            <a:r>
              <a:rPr sz="2200" b="1">
                <a:solidFill>
                  <a:srgbClr val="276452"/>
                </a:solidFill>
                <a:latin typeface="Liberation Sans"/>
              </a:rPr>
              <a:t>Galton’s ideas</a:t>
            </a:r>
          </a:p>
        </p:txBody>
      </p:sp>
      <p:sp>
        <p:nvSpPr>
          <p:cNvPr id="12" name="TextBox 11"/>
          <p:cNvSpPr txBox="1"/>
          <p:nvPr/>
        </p:nvSpPr>
        <p:spPr>
          <a:xfrm>
            <a:off x="1280160" y="1929384"/>
            <a:ext cx="9646920" cy="658368"/>
          </a:xfrm>
          <a:prstGeom prst="rect">
            <a:avLst/>
          </a:prstGeom>
          <a:noFill/>
        </p:spPr>
        <p:txBody>
          <a:bodyPr wrap="square" lIns="0" rIns="0" tIns="0" bIns="0" anchor="t">
            <a:spAutoFit/>
          </a:bodyPr>
          <a:lstStyle/>
          <a:p>
            <a:pPr algn="l">
              <a:lnSpc>
                <a:spcPts val="2477"/>
              </a:lnSpc>
              <a:spcAft>
                <a:spcPts val="800"/>
              </a:spcAft>
            </a:pPr>
            <a:r>
              <a:rPr sz="2100" b="0">
                <a:solidFill>
                  <a:srgbClr val="24312E"/>
                </a:solidFill>
                <a:latin typeface="Liberation Sans"/>
              </a:rPr>
              <a:t>He proposed encouraging the reproduction of people considered to have desirable inherited traits.</a:t>
            </a:r>
          </a:p>
        </p:txBody>
      </p:sp>
      <p:sp>
        <p:nvSpPr>
          <p:cNvPr id="13" name="Oval 12"/>
          <p:cNvSpPr/>
          <p:nvPr/>
        </p:nvSpPr>
        <p:spPr>
          <a:xfrm>
            <a:off x="694944" y="2788920"/>
            <a:ext cx="365760" cy="365760"/>
          </a:xfrm>
          <a:prstGeom prst="ellipse">
            <a:avLst/>
          </a:prstGeom>
          <a:solidFill>
            <a:srgbClr val="276452"/>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TextBox 13"/>
          <p:cNvSpPr txBox="1"/>
          <p:nvPr/>
        </p:nvSpPr>
        <p:spPr>
          <a:xfrm>
            <a:off x="694944" y="2839212"/>
            <a:ext cx="365760" cy="182880"/>
          </a:xfrm>
          <a:prstGeom prst="rect">
            <a:avLst/>
          </a:prstGeom>
          <a:noFill/>
        </p:spPr>
        <p:txBody>
          <a:bodyPr wrap="square" lIns="0" rIns="0" tIns="0" bIns="0" anchor="t">
            <a:spAutoFit/>
          </a:bodyPr>
          <a:lstStyle/>
          <a:p>
            <a:pPr algn="ctr">
              <a:lnSpc>
                <a:spcPts val="1416"/>
              </a:lnSpc>
              <a:spcAft>
                <a:spcPts val="800"/>
              </a:spcAft>
            </a:pPr>
            <a:r>
              <a:rPr sz="1200" b="1">
                <a:solidFill>
                  <a:srgbClr val="FFFFFF"/>
                </a:solidFill>
                <a:latin typeface="Liberation Sans"/>
              </a:rPr>
              <a:t>2</a:t>
            </a:r>
          </a:p>
        </p:txBody>
      </p:sp>
      <p:sp>
        <p:nvSpPr>
          <p:cNvPr id="15" name="TextBox 14"/>
          <p:cNvSpPr txBox="1"/>
          <p:nvPr/>
        </p:nvSpPr>
        <p:spPr>
          <a:xfrm>
            <a:off x="1280160" y="2743200"/>
            <a:ext cx="9966960" cy="365760"/>
          </a:xfrm>
          <a:prstGeom prst="rect">
            <a:avLst/>
          </a:prstGeom>
          <a:noFill/>
        </p:spPr>
        <p:txBody>
          <a:bodyPr wrap="square" lIns="0" rIns="0" tIns="0" bIns="0" anchor="t">
            <a:spAutoFit/>
          </a:bodyPr>
          <a:lstStyle/>
          <a:p>
            <a:pPr algn="l">
              <a:lnSpc>
                <a:spcPts val="2595"/>
              </a:lnSpc>
              <a:spcAft>
                <a:spcPts val="800"/>
              </a:spcAft>
            </a:pPr>
            <a:r>
              <a:rPr sz="2200" b="1">
                <a:solidFill>
                  <a:srgbClr val="276452"/>
                </a:solidFill>
                <a:latin typeface="Liberation Sans"/>
              </a:rPr>
              <a:t>Forced sterilization</a:t>
            </a:r>
          </a:p>
        </p:txBody>
      </p:sp>
      <p:sp>
        <p:nvSpPr>
          <p:cNvPr id="16" name="TextBox 15"/>
          <p:cNvSpPr txBox="1"/>
          <p:nvPr/>
        </p:nvSpPr>
        <p:spPr>
          <a:xfrm>
            <a:off x="1280160" y="3209544"/>
            <a:ext cx="9646920" cy="658368"/>
          </a:xfrm>
          <a:prstGeom prst="rect">
            <a:avLst/>
          </a:prstGeom>
          <a:noFill/>
        </p:spPr>
        <p:txBody>
          <a:bodyPr wrap="square" lIns="0" rIns="0" tIns="0" bIns="0" anchor="t">
            <a:spAutoFit/>
          </a:bodyPr>
          <a:lstStyle/>
          <a:p>
            <a:pPr algn="l">
              <a:lnSpc>
                <a:spcPts val="2477"/>
              </a:lnSpc>
              <a:spcAft>
                <a:spcPts val="800"/>
              </a:spcAft>
            </a:pPr>
            <a:r>
              <a:rPr sz="2100" b="0">
                <a:solidFill>
                  <a:srgbClr val="24312E"/>
                </a:solidFill>
                <a:latin typeface="Liberation Sans"/>
              </a:rPr>
              <a:t>Laws in the United States and other countries stopped some people from having children without free consent.</a:t>
            </a:r>
          </a:p>
        </p:txBody>
      </p:sp>
      <p:sp>
        <p:nvSpPr>
          <p:cNvPr id="17" name="Oval 16"/>
          <p:cNvSpPr/>
          <p:nvPr/>
        </p:nvSpPr>
        <p:spPr>
          <a:xfrm>
            <a:off x="694944" y="4069080"/>
            <a:ext cx="365760" cy="365760"/>
          </a:xfrm>
          <a:prstGeom prst="ellipse">
            <a:avLst/>
          </a:prstGeom>
          <a:solidFill>
            <a:srgbClr val="276452"/>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TextBox 17"/>
          <p:cNvSpPr txBox="1"/>
          <p:nvPr/>
        </p:nvSpPr>
        <p:spPr>
          <a:xfrm>
            <a:off x="694944" y="4119372"/>
            <a:ext cx="365760" cy="182880"/>
          </a:xfrm>
          <a:prstGeom prst="rect">
            <a:avLst/>
          </a:prstGeom>
          <a:noFill/>
        </p:spPr>
        <p:txBody>
          <a:bodyPr wrap="square" lIns="0" rIns="0" tIns="0" bIns="0" anchor="t">
            <a:spAutoFit/>
          </a:bodyPr>
          <a:lstStyle/>
          <a:p>
            <a:pPr algn="ctr">
              <a:lnSpc>
                <a:spcPts val="1416"/>
              </a:lnSpc>
              <a:spcAft>
                <a:spcPts val="800"/>
              </a:spcAft>
            </a:pPr>
            <a:r>
              <a:rPr sz="1200" b="1">
                <a:solidFill>
                  <a:srgbClr val="FFFFFF"/>
                </a:solidFill>
                <a:latin typeface="Liberation Sans"/>
              </a:rPr>
              <a:t>3</a:t>
            </a:r>
          </a:p>
        </p:txBody>
      </p:sp>
      <p:sp>
        <p:nvSpPr>
          <p:cNvPr id="19" name="TextBox 18"/>
          <p:cNvSpPr txBox="1"/>
          <p:nvPr/>
        </p:nvSpPr>
        <p:spPr>
          <a:xfrm>
            <a:off x="1280160" y="4023360"/>
            <a:ext cx="9966960" cy="365760"/>
          </a:xfrm>
          <a:prstGeom prst="rect">
            <a:avLst/>
          </a:prstGeom>
          <a:noFill/>
        </p:spPr>
        <p:txBody>
          <a:bodyPr wrap="square" lIns="0" rIns="0" tIns="0" bIns="0" anchor="t">
            <a:spAutoFit/>
          </a:bodyPr>
          <a:lstStyle/>
          <a:p>
            <a:pPr algn="l">
              <a:lnSpc>
                <a:spcPts val="2595"/>
              </a:lnSpc>
              <a:spcAft>
                <a:spcPts val="800"/>
              </a:spcAft>
            </a:pPr>
            <a:r>
              <a:rPr sz="2200" b="1">
                <a:solidFill>
                  <a:srgbClr val="276452"/>
                </a:solidFill>
                <a:latin typeface="Liberation Sans"/>
              </a:rPr>
              <a:t>Nazi Germany</a:t>
            </a:r>
          </a:p>
        </p:txBody>
      </p:sp>
      <p:sp>
        <p:nvSpPr>
          <p:cNvPr id="20" name="TextBox 19"/>
          <p:cNvSpPr txBox="1"/>
          <p:nvPr/>
        </p:nvSpPr>
        <p:spPr>
          <a:xfrm>
            <a:off x="1280160" y="4489704"/>
            <a:ext cx="9646920" cy="658368"/>
          </a:xfrm>
          <a:prstGeom prst="rect">
            <a:avLst/>
          </a:prstGeom>
          <a:noFill/>
        </p:spPr>
        <p:txBody>
          <a:bodyPr wrap="square" lIns="0" rIns="0" tIns="0" bIns="0" anchor="t">
            <a:spAutoFit/>
          </a:bodyPr>
          <a:lstStyle/>
          <a:p>
            <a:pPr algn="l">
              <a:lnSpc>
                <a:spcPts val="2477"/>
              </a:lnSpc>
              <a:spcAft>
                <a:spcPts val="800"/>
              </a:spcAft>
            </a:pPr>
            <a:r>
              <a:rPr sz="2100" b="0">
                <a:solidFill>
                  <a:srgbClr val="24312E"/>
                </a:solidFill>
                <a:latin typeface="Liberation Sans"/>
              </a:rPr>
              <a:t>Racial ideas and claims about inherited “defects” were used to support compulsory sterilization and persecution.</a:t>
            </a:r>
          </a:p>
        </p:txBody>
      </p:sp>
      <p:sp>
        <p:nvSpPr>
          <p:cNvPr id="21" name="Rectangle 20"/>
          <p:cNvSpPr/>
          <p:nvPr/>
        </p:nvSpPr>
        <p:spPr>
          <a:xfrm>
            <a:off x="594360" y="5596128"/>
            <a:ext cx="11000232" cy="585216"/>
          </a:xfrm>
          <a:prstGeom prst="rect">
            <a:avLst/>
          </a:prstGeom>
          <a:solidFill>
            <a:srgbClr val="FAF0E8"/>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TextBox 21"/>
          <p:cNvSpPr txBox="1"/>
          <p:nvPr/>
        </p:nvSpPr>
        <p:spPr>
          <a:xfrm>
            <a:off x="786384" y="5715000"/>
            <a:ext cx="10607040" cy="365760"/>
          </a:xfrm>
          <a:prstGeom prst="rect">
            <a:avLst/>
          </a:prstGeom>
          <a:noFill/>
        </p:spPr>
        <p:txBody>
          <a:bodyPr wrap="square" lIns="0" rIns="0" tIns="0" bIns="0" anchor="t">
            <a:spAutoFit/>
          </a:bodyPr>
          <a:lstStyle/>
          <a:p>
            <a:pPr algn="l">
              <a:lnSpc>
                <a:spcPts val="2183"/>
              </a:lnSpc>
              <a:spcAft>
                <a:spcPts val="800"/>
              </a:spcAft>
            </a:pPr>
            <a:r>
              <a:rPr sz="1850" b="1">
                <a:solidFill>
                  <a:srgbClr val="9B5F42"/>
                </a:solidFill>
                <a:latin typeface="Liberation Sans"/>
              </a:rPr>
              <a:t>Lesson: Scientific language cannot justify discrimination or forced reproduction decisions.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30352" y="393192"/>
            <a:ext cx="109728" cy="393192"/>
          </a:xfrm>
          <a:prstGeom prst="rect">
            <a:avLst/>
          </a:prstGeom>
          <a:solidFill>
            <a:srgbClr val="276452"/>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786384" y="347472"/>
            <a:ext cx="10835640" cy="512064"/>
          </a:xfrm>
          <a:prstGeom prst="rect">
            <a:avLst/>
          </a:prstGeom>
          <a:noFill/>
        </p:spPr>
        <p:txBody>
          <a:bodyPr wrap="square" lIns="0" rIns="0" tIns="0" bIns="0" anchor="t">
            <a:spAutoFit/>
          </a:bodyPr>
          <a:lstStyle/>
          <a:p>
            <a:pPr algn="l">
              <a:lnSpc>
                <a:spcPts val="3304"/>
              </a:lnSpc>
              <a:spcAft>
                <a:spcPts val="800"/>
              </a:spcAft>
            </a:pPr>
            <a:r>
              <a:rPr sz="2800" b="1">
                <a:solidFill>
                  <a:srgbClr val="24312E"/>
                </a:solidFill>
                <a:latin typeface="Liberation Sans"/>
              </a:rPr>
              <a:t>b. Scientific basis: genes and molecules</a:t>
            </a:r>
          </a:p>
        </p:txBody>
      </p:sp>
      <p:sp>
        <p:nvSpPr>
          <p:cNvPr id="4" name="TextBox 3"/>
          <p:cNvSpPr txBox="1"/>
          <p:nvPr/>
        </p:nvSpPr>
        <p:spPr>
          <a:xfrm>
            <a:off x="786384" y="905256"/>
            <a:ext cx="10789920" cy="274320"/>
          </a:xfrm>
          <a:prstGeom prst="rect">
            <a:avLst/>
          </a:prstGeom>
          <a:noFill/>
        </p:spPr>
        <p:txBody>
          <a:bodyPr wrap="square" lIns="0" rIns="0" tIns="0" bIns="0" anchor="t">
            <a:spAutoFit/>
          </a:bodyPr>
          <a:lstStyle/>
          <a:p>
            <a:pPr algn="l">
              <a:lnSpc>
                <a:spcPts val="1534"/>
              </a:lnSpc>
              <a:spcAft>
                <a:spcPts val="800"/>
              </a:spcAft>
            </a:pPr>
            <a:r>
              <a:rPr sz="1300" b="0">
                <a:solidFill>
                  <a:srgbClr val="52635D"/>
                </a:solidFill>
                <a:latin typeface="Liberation Sans"/>
              </a:rPr>
              <a:t>How inherited differences can affect the body</a:t>
            </a:r>
          </a:p>
        </p:txBody>
      </p:sp>
      <p:cxnSp>
        <p:nvCxnSpPr>
          <p:cNvPr id="5" name="Connector 4"/>
          <p:cNvCxnSpPr/>
          <p:nvPr/>
        </p:nvCxnSpPr>
        <p:spPr>
          <a:xfrm>
            <a:off x="548640" y="6373368"/>
            <a:ext cx="11091672" cy="0"/>
          </a:xfrm>
          <a:prstGeom prst="line">
            <a:avLst/>
          </a:prstGeom>
          <a:ln w="12700">
            <a:solidFill>
              <a:srgbClr val="CBDBD2"/>
            </a:solidFill>
          </a:ln>
        </p:spPr>
        <p:style>
          <a:lnRef idx="2">
            <a:schemeClr val="accent1"/>
          </a:lnRef>
          <a:fillRef idx="0">
            <a:schemeClr val="accent1"/>
          </a:fillRef>
          <a:effectRef idx="0">
            <a:schemeClr val="accent1"/>
          </a:effectRef>
          <a:fontRef idx="minor">
            <a:schemeClr val="tx1"/>
          </a:fontRef>
        </p:style>
      </p:cxnSp>
      <p:sp>
        <p:nvSpPr>
          <p:cNvPr id="6" name="TextBox 5"/>
          <p:cNvSpPr txBox="1"/>
          <p:nvPr/>
        </p:nvSpPr>
        <p:spPr>
          <a:xfrm>
            <a:off x="594360" y="6464808"/>
            <a:ext cx="7955279" cy="182880"/>
          </a:xfrm>
          <a:prstGeom prst="rect">
            <a:avLst/>
          </a:prstGeom>
          <a:noFill/>
        </p:spPr>
        <p:txBody>
          <a:bodyPr wrap="square" lIns="0" rIns="0" tIns="0" bIns="0" anchor="t">
            <a:spAutoFit/>
          </a:bodyPr>
          <a:lstStyle/>
          <a:p>
            <a:pPr algn="l">
              <a:lnSpc>
                <a:spcPts val="1121"/>
              </a:lnSpc>
              <a:spcAft>
                <a:spcPts val="800"/>
              </a:spcAft>
            </a:pPr>
            <a:r>
              <a:rPr sz="950" b="0">
                <a:solidFill>
                  <a:srgbClr val="52635D"/>
                </a:solidFill>
                <a:latin typeface="Liberation Sans"/>
              </a:rPr>
              <a:t>Prachi Yadav  |  Fundamental of Genetics</a:t>
            </a:r>
          </a:p>
        </p:txBody>
      </p:sp>
      <p:sp>
        <p:nvSpPr>
          <p:cNvPr id="7" name="TextBox 6"/>
          <p:cNvSpPr txBox="1"/>
          <p:nvPr/>
        </p:nvSpPr>
        <p:spPr>
          <a:xfrm>
            <a:off x="8275320" y="6460236"/>
            <a:ext cx="2880360" cy="210312"/>
          </a:xfrm>
          <a:prstGeom prst="rect">
            <a:avLst/>
          </a:prstGeom>
          <a:noFill/>
        </p:spPr>
        <p:txBody>
          <a:bodyPr wrap="square" lIns="0" rIns="0" tIns="0" bIns="0" anchor="t">
            <a:spAutoFit/>
          </a:bodyPr>
          <a:lstStyle/>
          <a:p>
            <a:pPr algn="r">
              <a:lnSpc>
                <a:spcPts val="1180"/>
              </a:lnSpc>
              <a:spcAft>
                <a:spcPts val="800"/>
              </a:spcAft>
            </a:pPr>
            <a:r>
              <a:rPr sz="1000" b="0">
                <a:solidFill>
                  <a:srgbClr val="52635D"/>
                </a:solidFill>
                <a:latin typeface="Liberation Sans"/>
              </a:rPr>
              <a:t>Sources: [1], [2]</a:t>
            </a:r>
          </a:p>
        </p:txBody>
      </p:sp>
      <p:sp>
        <p:nvSpPr>
          <p:cNvPr id="8" name="TextBox 7"/>
          <p:cNvSpPr txBox="1"/>
          <p:nvPr/>
        </p:nvSpPr>
        <p:spPr>
          <a:xfrm>
            <a:off x="11228832" y="6460236"/>
            <a:ext cx="365760" cy="210312"/>
          </a:xfrm>
          <a:prstGeom prst="rect">
            <a:avLst/>
          </a:prstGeom>
          <a:noFill/>
        </p:spPr>
        <p:txBody>
          <a:bodyPr wrap="square" lIns="0" rIns="0" tIns="0" bIns="0" anchor="t">
            <a:spAutoFit/>
          </a:bodyPr>
          <a:lstStyle/>
          <a:p>
            <a:pPr algn="r">
              <a:lnSpc>
                <a:spcPts val="1180"/>
              </a:lnSpc>
              <a:spcAft>
                <a:spcPts val="800"/>
              </a:spcAft>
            </a:pPr>
            <a:r>
              <a:rPr sz="1000" b="0">
                <a:solidFill>
                  <a:srgbClr val="276452"/>
                </a:solidFill>
                <a:latin typeface="Liberation Sans"/>
              </a:rPr>
              <a:t>4</a:t>
            </a:r>
          </a:p>
        </p:txBody>
      </p:sp>
      <p:sp>
        <p:nvSpPr>
          <p:cNvPr id="9" name="TextBox 8"/>
          <p:cNvSpPr txBox="1"/>
          <p:nvPr/>
        </p:nvSpPr>
        <p:spPr>
          <a:xfrm>
            <a:off x="658368" y="1353312"/>
            <a:ext cx="10881360" cy="768096"/>
          </a:xfrm>
          <a:prstGeom prst="rect">
            <a:avLst/>
          </a:prstGeom>
          <a:noFill/>
        </p:spPr>
        <p:txBody>
          <a:bodyPr wrap="square" lIns="0" rIns="0" tIns="0" bIns="0" anchor="t">
            <a:spAutoFit/>
          </a:bodyPr>
          <a:lstStyle/>
          <a:p>
            <a:pPr algn="l">
              <a:lnSpc>
                <a:spcPts val="2595"/>
              </a:lnSpc>
              <a:spcAft>
                <a:spcPts val="800"/>
              </a:spcAft>
            </a:pPr>
            <a:r>
              <a:rPr sz="2200" b="0">
                <a:solidFill>
                  <a:srgbClr val="24312E"/>
                </a:solidFill>
                <a:latin typeface="Liberation Sans"/>
              </a:rPr>
              <a:t>DNA contains genes. Gene variants can change how proteins work and influence a trait or disease.</a:t>
            </a:r>
          </a:p>
        </p:txBody>
      </p:sp>
      <p:sp>
        <p:nvSpPr>
          <p:cNvPr id="10" name="Rectangle 9"/>
          <p:cNvSpPr/>
          <p:nvPr/>
        </p:nvSpPr>
        <p:spPr>
          <a:xfrm>
            <a:off x="658368" y="2167128"/>
            <a:ext cx="2386584" cy="1335024"/>
          </a:xfrm>
          <a:prstGeom prst="rect">
            <a:avLst/>
          </a:prstGeom>
          <a:solidFill>
            <a:srgbClr val="EEF5F1"/>
          </a:solidFill>
          <a:ln w="10160">
            <a:solidFill>
              <a:srgbClr val="CBDBD2"/>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TextBox 10"/>
          <p:cNvSpPr txBox="1"/>
          <p:nvPr/>
        </p:nvSpPr>
        <p:spPr>
          <a:xfrm>
            <a:off x="768096" y="2350008"/>
            <a:ext cx="2167128" cy="356616"/>
          </a:xfrm>
          <a:prstGeom prst="rect">
            <a:avLst/>
          </a:prstGeom>
          <a:noFill/>
        </p:spPr>
        <p:txBody>
          <a:bodyPr wrap="square" lIns="0" rIns="0" tIns="0" bIns="0" anchor="t">
            <a:spAutoFit/>
          </a:bodyPr>
          <a:lstStyle/>
          <a:p>
            <a:pPr algn="ctr">
              <a:lnSpc>
                <a:spcPts val="2360"/>
              </a:lnSpc>
              <a:spcAft>
                <a:spcPts val="800"/>
              </a:spcAft>
            </a:pPr>
            <a:r>
              <a:rPr sz="2000" b="1">
                <a:solidFill>
                  <a:srgbClr val="276452"/>
                </a:solidFill>
                <a:latin typeface="Liberation Sans"/>
              </a:rPr>
              <a:t>DNA / gene</a:t>
            </a:r>
          </a:p>
        </p:txBody>
      </p:sp>
      <p:sp>
        <p:nvSpPr>
          <p:cNvPr id="12" name="TextBox 11"/>
          <p:cNvSpPr txBox="1"/>
          <p:nvPr/>
        </p:nvSpPr>
        <p:spPr>
          <a:xfrm>
            <a:off x="768096" y="2816352"/>
            <a:ext cx="2167128" cy="603504"/>
          </a:xfrm>
          <a:prstGeom prst="rect">
            <a:avLst/>
          </a:prstGeom>
          <a:noFill/>
        </p:spPr>
        <p:txBody>
          <a:bodyPr wrap="square" lIns="0" rIns="0" tIns="0" bIns="0" anchor="t">
            <a:spAutoFit/>
          </a:bodyPr>
          <a:lstStyle/>
          <a:p>
            <a:pPr algn="ctr">
              <a:lnSpc>
                <a:spcPts val="2124"/>
              </a:lnSpc>
              <a:spcAft>
                <a:spcPts val="800"/>
              </a:spcAft>
            </a:pPr>
            <a:r>
              <a:rPr sz="1800" b="0">
                <a:solidFill>
                  <a:srgbClr val="24312E"/>
                </a:solidFill>
                <a:latin typeface="Liberation Sans"/>
              </a:rPr>
              <a:t>Carries inherited
information</a:t>
            </a:r>
          </a:p>
        </p:txBody>
      </p:sp>
      <p:sp>
        <p:nvSpPr>
          <p:cNvPr id="13" name="Right Arrow 12"/>
          <p:cNvSpPr/>
          <p:nvPr/>
        </p:nvSpPr>
        <p:spPr>
          <a:xfrm>
            <a:off x="3145536" y="2734056"/>
            <a:ext cx="246888" cy="173736"/>
          </a:xfrm>
          <a:prstGeom prst="rightArrow">
            <a:avLst/>
          </a:prstGeom>
          <a:solidFill>
            <a:srgbClr val="276452"/>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Rectangle 13"/>
          <p:cNvSpPr/>
          <p:nvPr/>
        </p:nvSpPr>
        <p:spPr>
          <a:xfrm>
            <a:off x="3483863" y="2167128"/>
            <a:ext cx="2386584" cy="1335024"/>
          </a:xfrm>
          <a:prstGeom prst="rect">
            <a:avLst/>
          </a:prstGeom>
          <a:solidFill>
            <a:srgbClr val="EEF5F1"/>
          </a:solidFill>
          <a:ln w="10160">
            <a:solidFill>
              <a:srgbClr val="CBDBD2"/>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TextBox 14"/>
          <p:cNvSpPr txBox="1"/>
          <p:nvPr/>
        </p:nvSpPr>
        <p:spPr>
          <a:xfrm>
            <a:off x="3593591" y="2350008"/>
            <a:ext cx="2167128" cy="356616"/>
          </a:xfrm>
          <a:prstGeom prst="rect">
            <a:avLst/>
          </a:prstGeom>
          <a:noFill/>
        </p:spPr>
        <p:txBody>
          <a:bodyPr wrap="square" lIns="0" rIns="0" tIns="0" bIns="0" anchor="t">
            <a:spAutoFit/>
          </a:bodyPr>
          <a:lstStyle/>
          <a:p>
            <a:pPr algn="ctr">
              <a:lnSpc>
                <a:spcPts val="2360"/>
              </a:lnSpc>
              <a:spcAft>
                <a:spcPts val="800"/>
              </a:spcAft>
            </a:pPr>
            <a:r>
              <a:rPr sz="2000" b="1">
                <a:solidFill>
                  <a:srgbClr val="276452"/>
                </a:solidFill>
                <a:latin typeface="Liberation Sans"/>
              </a:rPr>
              <a:t>Gene variant</a:t>
            </a:r>
          </a:p>
        </p:txBody>
      </p:sp>
      <p:sp>
        <p:nvSpPr>
          <p:cNvPr id="16" name="TextBox 15"/>
          <p:cNvSpPr txBox="1"/>
          <p:nvPr/>
        </p:nvSpPr>
        <p:spPr>
          <a:xfrm>
            <a:off x="3593591" y="2816352"/>
            <a:ext cx="2167128" cy="603504"/>
          </a:xfrm>
          <a:prstGeom prst="rect">
            <a:avLst/>
          </a:prstGeom>
          <a:noFill/>
        </p:spPr>
        <p:txBody>
          <a:bodyPr wrap="square" lIns="0" rIns="0" tIns="0" bIns="0" anchor="t">
            <a:spAutoFit/>
          </a:bodyPr>
          <a:lstStyle/>
          <a:p>
            <a:pPr algn="ctr">
              <a:lnSpc>
                <a:spcPts val="2124"/>
              </a:lnSpc>
              <a:spcAft>
                <a:spcPts val="800"/>
              </a:spcAft>
            </a:pPr>
            <a:r>
              <a:rPr sz="1800" b="0">
                <a:solidFill>
                  <a:srgbClr val="24312E"/>
                </a:solidFill>
                <a:latin typeface="Liberation Sans"/>
              </a:rPr>
              <a:t>A change in
DNA sequence</a:t>
            </a:r>
          </a:p>
        </p:txBody>
      </p:sp>
      <p:sp>
        <p:nvSpPr>
          <p:cNvPr id="17" name="Right Arrow 16"/>
          <p:cNvSpPr/>
          <p:nvPr/>
        </p:nvSpPr>
        <p:spPr>
          <a:xfrm>
            <a:off x="5971031" y="2734056"/>
            <a:ext cx="246888" cy="173736"/>
          </a:xfrm>
          <a:prstGeom prst="rightArrow">
            <a:avLst/>
          </a:prstGeom>
          <a:solidFill>
            <a:srgbClr val="276452"/>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Rectangle 17"/>
          <p:cNvSpPr/>
          <p:nvPr/>
        </p:nvSpPr>
        <p:spPr>
          <a:xfrm>
            <a:off x="6309359" y="2167128"/>
            <a:ext cx="2386584" cy="1335024"/>
          </a:xfrm>
          <a:prstGeom prst="rect">
            <a:avLst/>
          </a:prstGeom>
          <a:solidFill>
            <a:srgbClr val="EEF5F1"/>
          </a:solidFill>
          <a:ln w="10160">
            <a:solidFill>
              <a:srgbClr val="CBDBD2"/>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6419088" y="2350008"/>
            <a:ext cx="2167128" cy="356616"/>
          </a:xfrm>
          <a:prstGeom prst="rect">
            <a:avLst/>
          </a:prstGeom>
          <a:noFill/>
        </p:spPr>
        <p:txBody>
          <a:bodyPr wrap="square" lIns="0" rIns="0" tIns="0" bIns="0" anchor="t">
            <a:spAutoFit/>
          </a:bodyPr>
          <a:lstStyle/>
          <a:p>
            <a:pPr algn="ctr">
              <a:lnSpc>
                <a:spcPts val="2360"/>
              </a:lnSpc>
              <a:spcAft>
                <a:spcPts val="800"/>
              </a:spcAft>
            </a:pPr>
            <a:r>
              <a:rPr sz="2000" b="1">
                <a:solidFill>
                  <a:srgbClr val="276452"/>
                </a:solidFill>
                <a:latin typeface="Liberation Sans"/>
              </a:rPr>
              <a:t>Protein</a:t>
            </a:r>
          </a:p>
        </p:txBody>
      </p:sp>
      <p:sp>
        <p:nvSpPr>
          <p:cNvPr id="20" name="TextBox 19"/>
          <p:cNvSpPr txBox="1"/>
          <p:nvPr/>
        </p:nvSpPr>
        <p:spPr>
          <a:xfrm>
            <a:off x="6419088" y="2816352"/>
            <a:ext cx="2167128" cy="603504"/>
          </a:xfrm>
          <a:prstGeom prst="rect">
            <a:avLst/>
          </a:prstGeom>
          <a:noFill/>
        </p:spPr>
        <p:txBody>
          <a:bodyPr wrap="square" lIns="0" rIns="0" tIns="0" bIns="0" anchor="t">
            <a:spAutoFit/>
          </a:bodyPr>
          <a:lstStyle/>
          <a:p>
            <a:pPr algn="ctr">
              <a:lnSpc>
                <a:spcPts val="2124"/>
              </a:lnSpc>
              <a:spcAft>
                <a:spcPts val="800"/>
              </a:spcAft>
            </a:pPr>
            <a:r>
              <a:rPr sz="1800" b="0">
                <a:solidFill>
                  <a:srgbClr val="24312E"/>
                </a:solidFill>
                <a:latin typeface="Liberation Sans"/>
              </a:rPr>
              <a:t>Its function may
be changed</a:t>
            </a:r>
          </a:p>
        </p:txBody>
      </p:sp>
      <p:sp>
        <p:nvSpPr>
          <p:cNvPr id="21" name="Right Arrow 20"/>
          <p:cNvSpPr/>
          <p:nvPr/>
        </p:nvSpPr>
        <p:spPr>
          <a:xfrm>
            <a:off x="8796528" y="2734056"/>
            <a:ext cx="246888" cy="173736"/>
          </a:xfrm>
          <a:prstGeom prst="rightArrow">
            <a:avLst/>
          </a:prstGeom>
          <a:solidFill>
            <a:srgbClr val="276452"/>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Rectangle 21"/>
          <p:cNvSpPr/>
          <p:nvPr/>
        </p:nvSpPr>
        <p:spPr>
          <a:xfrm>
            <a:off x="9134856" y="2167128"/>
            <a:ext cx="2386584" cy="1335024"/>
          </a:xfrm>
          <a:prstGeom prst="rect">
            <a:avLst/>
          </a:prstGeom>
          <a:solidFill>
            <a:srgbClr val="EEF5F1"/>
          </a:solidFill>
          <a:ln w="10160">
            <a:solidFill>
              <a:srgbClr val="CBDBD2"/>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TextBox 22"/>
          <p:cNvSpPr txBox="1"/>
          <p:nvPr/>
        </p:nvSpPr>
        <p:spPr>
          <a:xfrm>
            <a:off x="9244584" y="2350008"/>
            <a:ext cx="2167128" cy="356616"/>
          </a:xfrm>
          <a:prstGeom prst="rect">
            <a:avLst/>
          </a:prstGeom>
          <a:noFill/>
        </p:spPr>
        <p:txBody>
          <a:bodyPr wrap="square" lIns="0" rIns="0" tIns="0" bIns="0" anchor="t">
            <a:spAutoFit/>
          </a:bodyPr>
          <a:lstStyle/>
          <a:p>
            <a:pPr algn="ctr">
              <a:lnSpc>
                <a:spcPts val="2360"/>
              </a:lnSpc>
              <a:spcAft>
                <a:spcPts val="800"/>
              </a:spcAft>
            </a:pPr>
            <a:r>
              <a:rPr sz="2000" b="1">
                <a:solidFill>
                  <a:srgbClr val="276452"/>
                </a:solidFill>
                <a:latin typeface="Liberation Sans"/>
              </a:rPr>
              <a:t>Trait or condition</a:t>
            </a:r>
          </a:p>
        </p:txBody>
      </p:sp>
      <p:sp>
        <p:nvSpPr>
          <p:cNvPr id="24" name="TextBox 23"/>
          <p:cNvSpPr txBox="1"/>
          <p:nvPr/>
        </p:nvSpPr>
        <p:spPr>
          <a:xfrm>
            <a:off x="9244584" y="2816352"/>
            <a:ext cx="2167128" cy="603504"/>
          </a:xfrm>
          <a:prstGeom prst="rect">
            <a:avLst/>
          </a:prstGeom>
          <a:noFill/>
        </p:spPr>
        <p:txBody>
          <a:bodyPr wrap="square" lIns="0" rIns="0" tIns="0" bIns="0" anchor="t">
            <a:spAutoFit/>
          </a:bodyPr>
          <a:lstStyle/>
          <a:p>
            <a:pPr algn="ctr">
              <a:lnSpc>
                <a:spcPts val="2124"/>
              </a:lnSpc>
              <a:spcAft>
                <a:spcPts val="800"/>
              </a:spcAft>
            </a:pPr>
            <a:r>
              <a:rPr sz="1800" b="0">
                <a:solidFill>
                  <a:srgbClr val="24312E"/>
                </a:solidFill>
                <a:latin typeface="Liberation Sans"/>
              </a:rPr>
              <a:t>The effect depends
on the variant</a:t>
            </a:r>
          </a:p>
        </p:txBody>
      </p:sp>
      <p:sp>
        <p:nvSpPr>
          <p:cNvPr id="25" name="TextBox 24"/>
          <p:cNvSpPr txBox="1"/>
          <p:nvPr/>
        </p:nvSpPr>
        <p:spPr>
          <a:xfrm>
            <a:off x="704088" y="3895344"/>
            <a:ext cx="10698480" cy="356616"/>
          </a:xfrm>
          <a:prstGeom prst="rect">
            <a:avLst/>
          </a:prstGeom>
          <a:noFill/>
        </p:spPr>
        <p:txBody>
          <a:bodyPr wrap="square" lIns="0" rIns="0" tIns="0" bIns="0" anchor="t">
            <a:spAutoFit/>
          </a:bodyPr>
          <a:lstStyle/>
          <a:p>
            <a:pPr algn="l">
              <a:lnSpc>
                <a:spcPts val="2713"/>
              </a:lnSpc>
              <a:spcAft>
                <a:spcPts val="800"/>
              </a:spcAft>
            </a:pPr>
            <a:r>
              <a:rPr sz="2300" b="1">
                <a:solidFill>
                  <a:srgbClr val="276452"/>
                </a:solidFill>
                <a:latin typeface="Liberation Sans"/>
              </a:rPr>
              <a:t>Example: Tay–Sachs disease</a:t>
            </a:r>
          </a:p>
        </p:txBody>
      </p:sp>
      <p:sp>
        <p:nvSpPr>
          <p:cNvPr id="26" name="TextBox 25"/>
          <p:cNvSpPr txBox="1"/>
          <p:nvPr/>
        </p:nvSpPr>
        <p:spPr>
          <a:xfrm>
            <a:off x="704088" y="4434840"/>
            <a:ext cx="10698480" cy="932688"/>
          </a:xfrm>
          <a:prstGeom prst="rect">
            <a:avLst/>
          </a:prstGeom>
          <a:noFill/>
        </p:spPr>
        <p:txBody>
          <a:bodyPr wrap="square" lIns="0" rIns="0" tIns="0" bIns="0" anchor="t">
            <a:spAutoFit/>
          </a:bodyPr>
          <a:lstStyle/>
          <a:p>
            <a:pPr algn="l">
              <a:lnSpc>
                <a:spcPts val="2595"/>
              </a:lnSpc>
              <a:spcAft>
                <a:spcPts val="800"/>
              </a:spcAft>
            </a:pPr>
            <a:r>
              <a:rPr sz="2200" b="0">
                <a:solidFill>
                  <a:srgbClr val="24312E"/>
                </a:solidFill>
                <a:latin typeface="Liberation Sans"/>
              </a:rPr>
              <a:t>Some harmful variants in HEXA reduce the activity of the enzyme beta-hexosaminidase A. GM2 ganglioside then builds up in nerve cells and causes damage.</a:t>
            </a:r>
          </a:p>
        </p:txBody>
      </p:sp>
      <p:sp>
        <p:nvSpPr>
          <p:cNvPr id="27" name="Rectangle 26"/>
          <p:cNvSpPr/>
          <p:nvPr/>
        </p:nvSpPr>
        <p:spPr>
          <a:xfrm>
            <a:off x="594360" y="5559552"/>
            <a:ext cx="11000232" cy="585216"/>
          </a:xfrm>
          <a:prstGeom prst="rect">
            <a:avLst/>
          </a:prstGeom>
          <a:solidFill>
            <a:srgbClr val="EEF5F1"/>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TextBox 27"/>
          <p:cNvSpPr txBox="1"/>
          <p:nvPr/>
        </p:nvSpPr>
        <p:spPr>
          <a:xfrm>
            <a:off x="786384" y="5678424"/>
            <a:ext cx="10607040" cy="365760"/>
          </a:xfrm>
          <a:prstGeom prst="rect">
            <a:avLst/>
          </a:prstGeom>
          <a:noFill/>
        </p:spPr>
        <p:txBody>
          <a:bodyPr wrap="square" lIns="0" rIns="0" tIns="0" bIns="0" anchor="t">
            <a:spAutoFit/>
          </a:bodyPr>
          <a:lstStyle/>
          <a:p>
            <a:pPr algn="l">
              <a:lnSpc>
                <a:spcPts val="2242"/>
              </a:lnSpc>
              <a:spcAft>
                <a:spcPts val="800"/>
              </a:spcAft>
            </a:pPr>
            <a:r>
              <a:rPr sz="1900" b="1">
                <a:solidFill>
                  <a:srgbClr val="276452"/>
                </a:solidFill>
                <a:latin typeface="Liberation Sans"/>
              </a:rPr>
              <a:t>Many common conditions involve many genes plus environment, not one simple pathway.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30352" y="393192"/>
            <a:ext cx="109728" cy="393192"/>
          </a:xfrm>
          <a:prstGeom prst="rect">
            <a:avLst/>
          </a:prstGeom>
          <a:solidFill>
            <a:srgbClr val="276452"/>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786384" y="347472"/>
            <a:ext cx="10835640" cy="512064"/>
          </a:xfrm>
          <a:prstGeom prst="rect">
            <a:avLst/>
          </a:prstGeom>
          <a:noFill/>
        </p:spPr>
        <p:txBody>
          <a:bodyPr wrap="square" lIns="0" rIns="0" tIns="0" bIns="0" anchor="t">
            <a:spAutoFit/>
          </a:bodyPr>
          <a:lstStyle/>
          <a:p>
            <a:pPr algn="l">
              <a:lnSpc>
                <a:spcPts val="3304"/>
              </a:lnSpc>
              <a:spcAft>
                <a:spcPts val="800"/>
              </a:spcAft>
            </a:pPr>
            <a:r>
              <a:rPr sz="2800" b="1">
                <a:solidFill>
                  <a:srgbClr val="24312E"/>
                </a:solidFill>
                <a:latin typeface="Liberation Sans"/>
              </a:rPr>
              <a:t>b. Mechanism: a simple inheritance example</a:t>
            </a:r>
          </a:p>
        </p:txBody>
      </p:sp>
      <p:sp>
        <p:nvSpPr>
          <p:cNvPr id="4" name="TextBox 3"/>
          <p:cNvSpPr txBox="1"/>
          <p:nvPr/>
        </p:nvSpPr>
        <p:spPr>
          <a:xfrm>
            <a:off x="786384" y="905256"/>
            <a:ext cx="10789920" cy="274320"/>
          </a:xfrm>
          <a:prstGeom prst="rect">
            <a:avLst/>
          </a:prstGeom>
          <a:noFill/>
        </p:spPr>
        <p:txBody>
          <a:bodyPr wrap="square" lIns="0" rIns="0" tIns="0" bIns="0" anchor="t">
            <a:spAutoFit/>
          </a:bodyPr>
          <a:lstStyle/>
          <a:p>
            <a:pPr algn="l">
              <a:lnSpc>
                <a:spcPts val="1534"/>
              </a:lnSpc>
              <a:spcAft>
                <a:spcPts val="800"/>
              </a:spcAft>
            </a:pPr>
            <a:r>
              <a:rPr sz="1300" b="0">
                <a:solidFill>
                  <a:srgbClr val="52635D"/>
                </a:solidFill>
                <a:latin typeface="Liberation Sans"/>
              </a:rPr>
              <a:t>Two carriers of the same autosomal-recessive condition</a:t>
            </a:r>
          </a:p>
        </p:txBody>
      </p:sp>
      <p:cxnSp>
        <p:nvCxnSpPr>
          <p:cNvPr id="5" name="Connector 4"/>
          <p:cNvCxnSpPr/>
          <p:nvPr/>
        </p:nvCxnSpPr>
        <p:spPr>
          <a:xfrm>
            <a:off x="548640" y="6373368"/>
            <a:ext cx="11091672" cy="0"/>
          </a:xfrm>
          <a:prstGeom prst="line">
            <a:avLst/>
          </a:prstGeom>
          <a:ln w="12700">
            <a:solidFill>
              <a:srgbClr val="CBDBD2"/>
            </a:solidFill>
          </a:ln>
        </p:spPr>
        <p:style>
          <a:lnRef idx="2">
            <a:schemeClr val="accent1"/>
          </a:lnRef>
          <a:fillRef idx="0">
            <a:schemeClr val="accent1"/>
          </a:fillRef>
          <a:effectRef idx="0">
            <a:schemeClr val="accent1"/>
          </a:effectRef>
          <a:fontRef idx="minor">
            <a:schemeClr val="tx1"/>
          </a:fontRef>
        </p:style>
      </p:cxnSp>
      <p:sp>
        <p:nvSpPr>
          <p:cNvPr id="6" name="TextBox 5"/>
          <p:cNvSpPr txBox="1"/>
          <p:nvPr/>
        </p:nvSpPr>
        <p:spPr>
          <a:xfrm>
            <a:off x="594360" y="6464808"/>
            <a:ext cx="7955279" cy="182880"/>
          </a:xfrm>
          <a:prstGeom prst="rect">
            <a:avLst/>
          </a:prstGeom>
          <a:noFill/>
        </p:spPr>
        <p:txBody>
          <a:bodyPr wrap="square" lIns="0" rIns="0" tIns="0" bIns="0" anchor="t">
            <a:spAutoFit/>
          </a:bodyPr>
          <a:lstStyle/>
          <a:p>
            <a:pPr algn="l">
              <a:lnSpc>
                <a:spcPts val="1121"/>
              </a:lnSpc>
              <a:spcAft>
                <a:spcPts val="800"/>
              </a:spcAft>
            </a:pPr>
            <a:r>
              <a:rPr sz="950" b="0">
                <a:solidFill>
                  <a:srgbClr val="52635D"/>
                </a:solidFill>
                <a:latin typeface="Liberation Sans"/>
              </a:rPr>
              <a:t>Prachi Yadav  |  Fundamental of Genetics</a:t>
            </a:r>
          </a:p>
        </p:txBody>
      </p:sp>
      <p:sp>
        <p:nvSpPr>
          <p:cNvPr id="7" name="TextBox 6"/>
          <p:cNvSpPr txBox="1"/>
          <p:nvPr/>
        </p:nvSpPr>
        <p:spPr>
          <a:xfrm>
            <a:off x="8275320" y="6460236"/>
            <a:ext cx="2880360" cy="210312"/>
          </a:xfrm>
          <a:prstGeom prst="rect">
            <a:avLst/>
          </a:prstGeom>
          <a:noFill/>
        </p:spPr>
        <p:txBody>
          <a:bodyPr wrap="square" lIns="0" rIns="0" tIns="0" bIns="0" anchor="t">
            <a:spAutoFit/>
          </a:bodyPr>
          <a:lstStyle/>
          <a:p>
            <a:pPr algn="r">
              <a:lnSpc>
                <a:spcPts val="1180"/>
              </a:lnSpc>
              <a:spcAft>
                <a:spcPts val="800"/>
              </a:spcAft>
            </a:pPr>
            <a:r>
              <a:rPr sz="1000" b="0">
                <a:solidFill>
                  <a:srgbClr val="52635D"/>
                </a:solidFill>
                <a:latin typeface="Liberation Sans"/>
              </a:rPr>
              <a:t>Sources: [2], [3]</a:t>
            </a:r>
          </a:p>
        </p:txBody>
      </p:sp>
      <p:sp>
        <p:nvSpPr>
          <p:cNvPr id="8" name="TextBox 7"/>
          <p:cNvSpPr txBox="1"/>
          <p:nvPr/>
        </p:nvSpPr>
        <p:spPr>
          <a:xfrm>
            <a:off x="11228832" y="6460236"/>
            <a:ext cx="365760" cy="210312"/>
          </a:xfrm>
          <a:prstGeom prst="rect">
            <a:avLst/>
          </a:prstGeom>
          <a:noFill/>
        </p:spPr>
        <p:txBody>
          <a:bodyPr wrap="square" lIns="0" rIns="0" tIns="0" bIns="0" anchor="t">
            <a:spAutoFit/>
          </a:bodyPr>
          <a:lstStyle/>
          <a:p>
            <a:pPr algn="r">
              <a:lnSpc>
                <a:spcPts val="1180"/>
              </a:lnSpc>
              <a:spcAft>
                <a:spcPts val="800"/>
              </a:spcAft>
            </a:pPr>
            <a:r>
              <a:rPr sz="1000" b="0">
                <a:solidFill>
                  <a:srgbClr val="276452"/>
                </a:solidFill>
                <a:latin typeface="Liberation Sans"/>
              </a:rPr>
              <a:t>5</a:t>
            </a:r>
          </a:p>
        </p:txBody>
      </p:sp>
      <p:sp>
        <p:nvSpPr>
          <p:cNvPr id="9" name="TextBox 8"/>
          <p:cNvSpPr txBox="1"/>
          <p:nvPr/>
        </p:nvSpPr>
        <p:spPr>
          <a:xfrm>
            <a:off x="3044952" y="1810512"/>
            <a:ext cx="1527048" cy="365760"/>
          </a:xfrm>
          <a:prstGeom prst="rect">
            <a:avLst/>
          </a:prstGeom>
          <a:noFill/>
        </p:spPr>
        <p:txBody>
          <a:bodyPr wrap="square" lIns="0" rIns="0" tIns="0" bIns="0" anchor="t">
            <a:spAutoFit/>
          </a:bodyPr>
          <a:lstStyle/>
          <a:p>
            <a:pPr algn="ctr">
              <a:lnSpc>
                <a:spcPts val="3186"/>
              </a:lnSpc>
              <a:spcAft>
                <a:spcPts val="800"/>
              </a:spcAft>
            </a:pPr>
            <a:r>
              <a:rPr sz="2700" b="1">
                <a:solidFill>
                  <a:srgbClr val="276452"/>
                </a:solidFill>
                <a:latin typeface="Liberation Sans"/>
              </a:rPr>
              <a:t>A</a:t>
            </a:r>
          </a:p>
        </p:txBody>
      </p:sp>
      <p:sp>
        <p:nvSpPr>
          <p:cNvPr id="10" name="TextBox 9"/>
          <p:cNvSpPr txBox="1"/>
          <p:nvPr/>
        </p:nvSpPr>
        <p:spPr>
          <a:xfrm>
            <a:off x="4572000" y="1810512"/>
            <a:ext cx="1527048" cy="365760"/>
          </a:xfrm>
          <a:prstGeom prst="rect">
            <a:avLst/>
          </a:prstGeom>
          <a:noFill/>
        </p:spPr>
        <p:txBody>
          <a:bodyPr wrap="square" lIns="0" rIns="0" tIns="0" bIns="0" anchor="t">
            <a:spAutoFit/>
          </a:bodyPr>
          <a:lstStyle/>
          <a:p>
            <a:pPr algn="ctr">
              <a:lnSpc>
                <a:spcPts val="3186"/>
              </a:lnSpc>
              <a:spcAft>
                <a:spcPts val="800"/>
              </a:spcAft>
            </a:pPr>
            <a:r>
              <a:rPr sz="2700" b="1">
                <a:solidFill>
                  <a:srgbClr val="276452"/>
                </a:solidFill>
                <a:latin typeface="Liberation Sans"/>
              </a:rPr>
              <a:t>a</a:t>
            </a:r>
          </a:p>
        </p:txBody>
      </p:sp>
      <p:sp>
        <p:nvSpPr>
          <p:cNvPr id="11" name="TextBox 10"/>
          <p:cNvSpPr txBox="1"/>
          <p:nvPr/>
        </p:nvSpPr>
        <p:spPr>
          <a:xfrm>
            <a:off x="1499616" y="2724912"/>
            <a:ext cx="1389888" cy="365760"/>
          </a:xfrm>
          <a:prstGeom prst="rect">
            <a:avLst/>
          </a:prstGeom>
          <a:noFill/>
        </p:spPr>
        <p:txBody>
          <a:bodyPr wrap="square" lIns="0" rIns="0" tIns="0" bIns="0" anchor="t">
            <a:spAutoFit/>
          </a:bodyPr>
          <a:lstStyle/>
          <a:p>
            <a:pPr algn="ctr">
              <a:lnSpc>
                <a:spcPts val="3186"/>
              </a:lnSpc>
              <a:spcAft>
                <a:spcPts val="800"/>
              </a:spcAft>
            </a:pPr>
            <a:r>
              <a:rPr sz="2700" b="1">
                <a:solidFill>
                  <a:srgbClr val="276452"/>
                </a:solidFill>
                <a:latin typeface="Liberation Sans"/>
              </a:rPr>
              <a:t>A</a:t>
            </a:r>
          </a:p>
        </p:txBody>
      </p:sp>
      <p:sp>
        <p:nvSpPr>
          <p:cNvPr id="12" name="TextBox 11"/>
          <p:cNvSpPr txBox="1"/>
          <p:nvPr/>
        </p:nvSpPr>
        <p:spPr>
          <a:xfrm>
            <a:off x="1499616" y="3758184"/>
            <a:ext cx="1389888" cy="365760"/>
          </a:xfrm>
          <a:prstGeom prst="rect">
            <a:avLst/>
          </a:prstGeom>
          <a:noFill/>
        </p:spPr>
        <p:txBody>
          <a:bodyPr wrap="square" lIns="0" rIns="0" tIns="0" bIns="0" anchor="t">
            <a:spAutoFit/>
          </a:bodyPr>
          <a:lstStyle/>
          <a:p>
            <a:pPr algn="ctr">
              <a:lnSpc>
                <a:spcPts val="3186"/>
              </a:lnSpc>
              <a:spcAft>
                <a:spcPts val="800"/>
              </a:spcAft>
            </a:pPr>
            <a:r>
              <a:rPr sz="2700" b="1">
                <a:solidFill>
                  <a:srgbClr val="276452"/>
                </a:solidFill>
                <a:latin typeface="Liberation Sans"/>
              </a:rPr>
              <a:t>a</a:t>
            </a:r>
          </a:p>
        </p:txBody>
      </p:sp>
      <p:sp>
        <p:nvSpPr>
          <p:cNvPr id="13" name="Rectangle 12"/>
          <p:cNvSpPr/>
          <p:nvPr/>
        </p:nvSpPr>
        <p:spPr>
          <a:xfrm>
            <a:off x="3044952" y="2377440"/>
            <a:ext cx="1495044" cy="1001268"/>
          </a:xfrm>
          <a:prstGeom prst="rect">
            <a:avLst/>
          </a:prstGeom>
          <a:solidFill>
            <a:srgbClr val="EEF5F1"/>
          </a:solidFill>
          <a:ln w="10160">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TextBox 13"/>
          <p:cNvSpPr txBox="1"/>
          <p:nvPr/>
        </p:nvSpPr>
        <p:spPr>
          <a:xfrm>
            <a:off x="3108960" y="2532888"/>
            <a:ext cx="1371600" cy="356616"/>
          </a:xfrm>
          <a:prstGeom prst="rect">
            <a:avLst/>
          </a:prstGeom>
          <a:noFill/>
        </p:spPr>
        <p:txBody>
          <a:bodyPr wrap="square" lIns="0" rIns="0" tIns="0" bIns="0" anchor="t">
            <a:spAutoFit/>
          </a:bodyPr>
          <a:lstStyle/>
          <a:p>
            <a:pPr algn="ctr">
              <a:lnSpc>
                <a:spcPts val="3304"/>
              </a:lnSpc>
              <a:spcAft>
                <a:spcPts val="800"/>
              </a:spcAft>
            </a:pPr>
            <a:r>
              <a:rPr sz="2800" b="1">
                <a:solidFill>
                  <a:srgbClr val="24312E"/>
                </a:solidFill>
                <a:latin typeface="Liberation Sans"/>
              </a:rPr>
              <a:t>AA</a:t>
            </a:r>
          </a:p>
        </p:txBody>
      </p:sp>
      <p:sp>
        <p:nvSpPr>
          <p:cNvPr id="15" name="TextBox 14"/>
          <p:cNvSpPr txBox="1"/>
          <p:nvPr/>
        </p:nvSpPr>
        <p:spPr>
          <a:xfrm>
            <a:off x="3099816" y="3054096"/>
            <a:ext cx="1380744" cy="219456"/>
          </a:xfrm>
          <a:prstGeom prst="rect">
            <a:avLst/>
          </a:prstGeom>
          <a:noFill/>
        </p:spPr>
        <p:txBody>
          <a:bodyPr wrap="square" lIns="0" rIns="0" tIns="0" bIns="0" anchor="t">
            <a:spAutoFit/>
          </a:bodyPr>
          <a:lstStyle/>
          <a:p>
            <a:pPr algn="ctr">
              <a:lnSpc>
                <a:spcPts val="1356"/>
              </a:lnSpc>
              <a:spcAft>
                <a:spcPts val="800"/>
              </a:spcAft>
            </a:pPr>
            <a:r>
              <a:rPr sz="1150" b="0">
                <a:solidFill>
                  <a:srgbClr val="24312E"/>
                </a:solidFill>
                <a:latin typeface="Liberation Sans"/>
              </a:rPr>
              <a:t>Without this variant</a:t>
            </a:r>
          </a:p>
        </p:txBody>
      </p:sp>
      <p:sp>
        <p:nvSpPr>
          <p:cNvPr id="16" name="Rectangle 15"/>
          <p:cNvSpPr/>
          <p:nvPr/>
        </p:nvSpPr>
        <p:spPr>
          <a:xfrm>
            <a:off x="4572000" y="2377440"/>
            <a:ext cx="1495044" cy="1001268"/>
          </a:xfrm>
          <a:prstGeom prst="rect">
            <a:avLst/>
          </a:prstGeom>
          <a:solidFill>
            <a:srgbClr val="EEF5F1"/>
          </a:solidFill>
          <a:ln w="10160">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TextBox 16"/>
          <p:cNvSpPr txBox="1"/>
          <p:nvPr/>
        </p:nvSpPr>
        <p:spPr>
          <a:xfrm>
            <a:off x="4636008" y="2532888"/>
            <a:ext cx="1371600" cy="356616"/>
          </a:xfrm>
          <a:prstGeom prst="rect">
            <a:avLst/>
          </a:prstGeom>
          <a:noFill/>
        </p:spPr>
        <p:txBody>
          <a:bodyPr wrap="square" lIns="0" rIns="0" tIns="0" bIns="0" anchor="t">
            <a:spAutoFit/>
          </a:bodyPr>
          <a:lstStyle/>
          <a:p>
            <a:pPr algn="ctr">
              <a:lnSpc>
                <a:spcPts val="3304"/>
              </a:lnSpc>
              <a:spcAft>
                <a:spcPts val="800"/>
              </a:spcAft>
            </a:pPr>
            <a:r>
              <a:rPr sz="2800" b="1">
                <a:solidFill>
                  <a:srgbClr val="24312E"/>
                </a:solidFill>
                <a:latin typeface="Liberation Sans"/>
              </a:rPr>
              <a:t>Aa</a:t>
            </a:r>
          </a:p>
        </p:txBody>
      </p:sp>
      <p:sp>
        <p:nvSpPr>
          <p:cNvPr id="18" name="TextBox 17"/>
          <p:cNvSpPr txBox="1"/>
          <p:nvPr/>
        </p:nvSpPr>
        <p:spPr>
          <a:xfrm>
            <a:off x="4626864" y="3054096"/>
            <a:ext cx="1380744" cy="219456"/>
          </a:xfrm>
          <a:prstGeom prst="rect">
            <a:avLst/>
          </a:prstGeom>
          <a:noFill/>
        </p:spPr>
        <p:txBody>
          <a:bodyPr wrap="square" lIns="0" rIns="0" tIns="0" bIns="0" anchor="t">
            <a:spAutoFit/>
          </a:bodyPr>
          <a:lstStyle/>
          <a:p>
            <a:pPr algn="ctr">
              <a:lnSpc>
                <a:spcPts val="1356"/>
              </a:lnSpc>
              <a:spcAft>
                <a:spcPts val="800"/>
              </a:spcAft>
            </a:pPr>
            <a:r>
              <a:rPr sz="1150" b="0">
                <a:solidFill>
                  <a:srgbClr val="24312E"/>
                </a:solidFill>
                <a:latin typeface="Liberation Sans"/>
              </a:rPr>
              <a:t>Carrier</a:t>
            </a:r>
          </a:p>
        </p:txBody>
      </p:sp>
      <p:sp>
        <p:nvSpPr>
          <p:cNvPr id="19" name="Rectangle 18"/>
          <p:cNvSpPr/>
          <p:nvPr/>
        </p:nvSpPr>
        <p:spPr>
          <a:xfrm>
            <a:off x="3044952" y="3410712"/>
            <a:ext cx="1495044" cy="1001268"/>
          </a:xfrm>
          <a:prstGeom prst="rect">
            <a:avLst/>
          </a:prstGeom>
          <a:solidFill>
            <a:srgbClr val="EEF5F1"/>
          </a:solidFill>
          <a:ln w="10160">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TextBox 19"/>
          <p:cNvSpPr txBox="1"/>
          <p:nvPr/>
        </p:nvSpPr>
        <p:spPr>
          <a:xfrm>
            <a:off x="3108960" y="3566160"/>
            <a:ext cx="1371600" cy="356616"/>
          </a:xfrm>
          <a:prstGeom prst="rect">
            <a:avLst/>
          </a:prstGeom>
          <a:noFill/>
        </p:spPr>
        <p:txBody>
          <a:bodyPr wrap="square" lIns="0" rIns="0" tIns="0" bIns="0" anchor="t">
            <a:spAutoFit/>
          </a:bodyPr>
          <a:lstStyle/>
          <a:p>
            <a:pPr algn="ctr">
              <a:lnSpc>
                <a:spcPts val="3304"/>
              </a:lnSpc>
              <a:spcAft>
                <a:spcPts val="800"/>
              </a:spcAft>
            </a:pPr>
            <a:r>
              <a:rPr sz="2800" b="1">
                <a:solidFill>
                  <a:srgbClr val="24312E"/>
                </a:solidFill>
                <a:latin typeface="Liberation Sans"/>
              </a:rPr>
              <a:t>Aa</a:t>
            </a:r>
          </a:p>
        </p:txBody>
      </p:sp>
      <p:sp>
        <p:nvSpPr>
          <p:cNvPr id="21" name="TextBox 20"/>
          <p:cNvSpPr txBox="1"/>
          <p:nvPr/>
        </p:nvSpPr>
        <p:spPr>
          <a:xfrm>
            <a:off x="3099816" y="4087368"/>
            <a:ext cx="1380744" cy="219456"/>
          </a:xfrm>
          <a:prstGeom prst="rect">
            <a:avLst/>
          </a:prstGeom>
          <a:noFill/>
        </p:spPr>
        <p:txBody>
          <a:bodyPr wrap="square" lIns="0" rIns="0" tIns="0" bIns="0" anchor="t">
            <a:spAutoFit/>
          </a:bodyPr>
          <a:lstStyle/>
          <a:p>
            <a:pPr algn="ctr">
              <a:lnSpc>
                <a:spcPts val="1356"/>
              </a:lnSpc>
              <a:spcAft>
                <a:spcPts val="800"/>
              </a:spcAft>
            </a:pPr>
            <a:r>
              <a:rPr sz="1150" b="0">
                <a:solidFill>
                  <a:srgbClr val="24312E"/>
                </a:solidFill>
                <a:latin typeface="Liberation Sans"/>
              </a:rPr>
              <a:t>Carrier</a:t>
            </a:r>
          </a:p>
        </p:txBody>
      </p:sp>
      <p:sp>
        <p:nvSpPr>
          <p:cNvPr id="22" name="Rectangle 21"/>
          <p:cNvSpPr/>
          <p:nvPr/>
        </p:nvSpPr>
        <p:spPr>
          <a:xfrm>
            <a:off x="4572000" y="3410712"/>
            <a:ext cx="1495044" cy="1001268"/>
          </a:xfrm>
          <a:prstGeom prst="rect">
            <a:avLst/>
          </a:prstGeom>
          <a:solidFill>
            <a:srgbClr val="FAF0E8"/>
          </a:solidFill>
          <a:ln w="10160">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TextBox 22"/>
          <p:cNvSpPr txBox="1"/>
          <p:nvPr/>
        </p:nvSpPr>
        <p:spPr>
          <a:xfrm>
            <a:off x="4636008" y="3566160"/>
            <a:ext cx="1371600" cy="356616"/>
          </a:xfrm>
          <a:prstGeom prst="rect">
            <a:avLst/>
          </a:prstGeom>
          <a:noFill/>
        </p:spPr>
        <p:txBody>
          <a:bodyPr wrap="square" lIns="0" rIns="0" tIns="0" bIns="0" anchor="t">
            <a:spAutoFit/>
          </a:bodyPr>
          <a:lstStyle/>
          <a:p>
            <a:pPr algn="ctr">
              <a:lnSpc>
                <a:spcPts val="3304"/>
              </a:lnSpc>
              <a:spcAft>
                <a:spcPts val="800"/>
              </a:spcAft>
            </a:pPr>
            <a:r>
              <a:rPr sz="2800" b="1">
                <a:solidFill>
                  <a:srgbClr val="24312E"/>
                </a:solidFill>
                <a:latin typeface="Liberation Sans"/>
              </a:rPr>
              <a:t>aa</a:t>
            </a:r>
          </a:p>
        </p:txBody>
      </p:sp>
      <p:sp>
        <p:nvSpPr>
          <p:cNvPr id="24" name="TextBox 23"/>
          <p:cNvSpPr txBox="1"/>
          <p:nvPr/>
        </p:nvSpPr>
        <p:spPr>
          <a:xfrm>
            <a:off x="4626864" y="4087368"/>
            <a:ext cx="1380744" cy="219456"/>
          </a:xfrm>
          <a:prstGeom prst="rect">
            <a:avLst/>
          </a:prstGeom>
          <a:noFill/>
        </p:spPr>
        <p:txBody>
          <a:bodyPr wrap="square" lIns="0" rIns="0" tIns="0" bIns="0" anchor="t">
            <a:spAutoFit/>
          </a:bodyPr>
          <a:lstStyle/>
          <a:p>
            <a:pPr algn="ctr">
              <a:lnSpc>
                <a:spcPts val="1356"/>
              </a:lnSpc>
              <a:spcAft>
                <a:spcPts val="800"/>
              </a:spcAft>
            </a:pPr>
            <a:r>
              <a:rPr sz="1150" b="0">
                <a:solidFill>
                  <a:srgbClr val="24312E"/>
                </a:solidFill>
                <a:latin typeface="Liberation Sans"/>
              </a:rPr>
              <a:t>Affected genotype</a:t>
            </a:r>
          </a:p>
        </p:txBody>
      </p:sp>
      <p:sp>
        <p:nvSpPr>
          <p:cNvPr id="25" name="TextBox 24"/>
          <p:cNvSpPr txBox="1"/>
          <p:nvPr/>
        </p:nvSpPr>
        <p:spPr>
          <a:xfrm>
            <a:off x="2697480" y="1700784"/>
            <a:ext cx="3621024" cy="320040"/>
          </a:xfrm>
          <a:prstGeom prst="rect">
            <a:avLst/>
          </a:prstGeom>
          <a:noFill/>
        </p:spPr>
        <p:txBody>
          <a:bodyPr wrap="square" lIns="0" rIns="0" tIns="0" bIns="0" anchor="t">
            <a:spAutoFit/>
          </a:bodyPr>
          <a:lstStyle/>
          <a:p>
            <a:pPr algn="ctr">
              <a:lnSpc>
                <a:spcPts val="2242"/>
              </a:lnSpc>
              <a:spcAft>
                <a:spcPts val="800"/>
              </a:spcAft>
            </a:pPr>
            <a:r>
              <a:rPr sz="1900" b="1">
                <a:solidFill>
                  <a:srgbClr val="276452"/>
                </a:solidFill>
                <a:latin typeface="Liberation Sans"/>
              </a:rPr>
              <a:t>Parent 2: A / a</a:t>
            </a:r>
          </a:p>
        </p:txBody>
      </p:sp>
      <p:sp>
        <p:nvSpPr>
          <p:cNvPr id="26" name="TextBox 25"/>
          <p:cNvSpPr txBox="1"/>
          <p:nvPr/>
        </p:nvSpPr>
        <p:spPr>
          <a:xfrm>
            <a:off x="658368" y="2971800"/>
            <a:ext cx="1298448" cy="777240"/>
          </a:xfrm>
          <a:prstGeom prst="rect">
            <a:avLst/>
          </a:prstGeom>
          <a:noFill/>
        </p:spPr>
        <p:txBody>
          <a:bodyPr wrap="square" lIns="0" rIns="0" tIns="0" bIns="0" anchor="t">
            <a:spAutoFit/>
          </a:bodyPr>
          <a:lstStyle/>
          <a:p>
            <a:pPr algn="ctr">
              <a:lnSpc>
                <a:spcPts val="2242"/>
              </a:lnSpc>
              <a:spcAft>
                <a:spcPts val="800"/>
              </a:spcAft>
            </a:pPr>
            <a:r>
              <a:rPr sz="1900" b="1">
                <a:solidFill>
                  <a:srgbClr val="276452"/>
                </a:solidFill>
                <a:latin typeface="Liberation Sans"/>
              </a:rPr>
              <a:t>Parent 1:
A / a</a:t>
            </a:r>
          </a:p>
        </p:txBody>
      </p:sp>
      <p:sp>
        <p:nvSpPr>
          <p:cNvPr id="27" name="Rectangle 26"/>
          <p:cNvSpPr/>
          <p:nvPr/>
        </p:nvSpPr>
        <p:spPr>
          <a:xfrm>
            <a:off x="6986016" y="1618488"/>
            <a:ext cx="4498848" cy="3584448"/>
          </a:xfrm>
          <a:prstGeom prst="rect">
            <a:avLst/>
          </a:prstGeom>
          <a:solidFill>
            <a:srgbClr val="EEF5F1"/>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TextBox 27"/>
          <p:cNvSpPr txBox="1"/>
          <p:nvPr/>
        </p:nvSpPr>
        <p:spPr>
          <a:xfrm>
            <a:off x="7187183" y="1783080"/>
            <a:ext cx="4096511" cy="402336"/>
          </a:xfrm>
          <a:prstGeom prst="rect">
            <a:avLst/>
          </a:prstGeom>
          <a:noFill/>
        </p:spPr>
        <p:txBody>
          <a:bodyPr wrap="square" lIns="0" rIns="0" tIns="0" bIns="0" anchor="t">
            <a:spAutoFit/>
          </a:bodyPr>
          <a:lstStyle/>
          <a:p>
            <a:pPr algn="l">
              <a:lnSpc>
                <a:spcPts val="2360"/>
              </a:lnSpc>
              <a:spcAft>
                <a:spcPts val="800"/>
              </a:spcAft>
            </a:pPr>
            <a:r>
              <a:rPr sz="2000" b="1">
                <a:solidFill>
                  <a:srgbClr val="276452"/>
                </a:solidFill>
                <a:latin typeface="Liberation Sans"/>
              </a:rPr>
              <a:t>For each conception</a:t>
            </a:r>
          </a:p>
        </p:txBody>
      </p:sp>
      <p:sp>
        <p:nvSpPr>
          <p:cNvPr id="29" name="TextBox 28"/>
          <p:cNvSpPr txBox="1"/>
          <p:nvPr/>
        </p:nvSpPr>
        <p:spPr>
          <a:xfrm>
            <a:off x="7187183" y="2221992"/>
            <a:ext cx="4096511" cy="2825496"/>
          </a:xfrm>
          <a:prstGeom prst="rect">
            <a:avLst/>
          </a:prstGeom>
          <a:noFill/>
        </p:spPr>
        <p:txBody>
          <a:bodyPr wrap="square" lIns="0" rIns="0" tIns="0" bIns="0" anchor="t">
            <a:spAutoFit/>
          </a:bodyPr>
          <a:lstStyle/>
          <a:p>
            <a:pPr algn="l">
              <a:lnSpc>
                <a:spcPts val="2713"/>
              </a:lnSpc>
              <a:spcAft>
                <a:spcPts val="800"/>
              </a:spcAft>
            </a:pPr>
            <a:r>
              <a:rPr sz="2300" b="0">
                <a:solidFill>
                  <a:srgbClr val="24312E"/>
                </a:solidFill>
                <a:latin typeface="Liberation Sans"/>
              </a:rPr>
              <a:t>25%: affected genotype
50%: carrier
25%: without this variant</a:t>
            </a:r>
          </a:p>
        </p:txBody>
      </p:sp>
      <p:sp>
        <p:nvSpPr>
          <p:cNvPr id="30" name="TextBox 29"/>
          <p:cNvSpPr txBox="1"/>
          <p:nvPr/>
        </p:nvSpPr>
        <p:spPr>
          <a:xfrm>
            <a:off x="749808" y="5065776"/>
            <a:ext cx="5577840" cy="612648"/>
          </a:xfrm>
          <a:prstGeom prst="rect">
            <a:avLst/>
          </a:prstGeom>
          <a:noFill/>
        </p:spPr>
        <p:txBody>
          <a:bodyPr wrap="square" lIns="0" rIns="0" tIns="0" bIns="0" anchor="t">
            <a:spAutoFit/>
          </a:bodyPr>
          <a:lstStyle/>
          <a:p>
            <a:pPr algn="l">
              <a:lnSpc>
                <a:spcPts val="2124"/>
              </a:lnSpc>
              <a:spcAft>
                <a:spcPts val="800"/>
              </a:spcAft>
            </a:pPr>
            <a:r>
              <a:rPr sz="1800" b="0">
                <a:solidFill>
                  <a:srgbClr val="52635D"/>
                </a:solidFill>
                <a:latin typeface="Liberation Sans"/>
              </a:rPr>
              <a:t>A = reference allele
a = pathogenic allele in this example</a:t>
            </a:r>
          </a:p>
        </p:txBody>
      </p:sp>
      <p:sp>
        <p:nvSpPr>
          <p:cNvPr id="31" name="Rectangle 30"/>
          <p:cNvSpPr/>
          <p:nvPr/>
        </p:nvSpPr>
        <p:spPr>
          <a:xfrm>
            <a:off x="594360" y="5669280"/>
            <a:ext cx="11000232" cy="585216"/>
          </a:xfrm>
          <a:prstGeom prst="rect">
            <a:avLst/>
          </a:prstGeom>
          <a:solidFill>
            <a:srgbClr val="EEF5F1"/>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2" name="TextBox 31"/>
          <p:cNvSpPr txBox="1"/>
          <p:nvPr/>
        </p:nvSpPr>
        <p:spPr>
          <a:xfrm>
            <a:off x="786384" y="5788152"/>
            <a:ext cx="10607040" cy="365760"/>
          </a:xfrm>
          <a:prstGeom prst="rect">
            <a:avLst/>
          </a:prstGeom>
          <a:noFill/>
        </p:spPr>
        <p:txBody>
          <a:bodyPr wrap="square" lIns="0" rIns="0" tIns="0" bIns="0" anchor="t">
            <a:spAutoFit/>
          </a:bodyPr>
          <a:lstStyle/>
          <a:p>
            <a:pPr algn="l">
              <a:lnSpc>
                <a:spcPts val="2360"/>
              </a:lnSpc>
              <a:spcAft>
                <a:spcPts val="800"/>
              </a:spcAft>
            </a:pPr>
            <a:r>
              <a:rPr sz="2000" b="1">
                <a:solidFill>
                  <a:srgbClr val="276452"/>
                </a:solidFill>
                <a:latin typeface="Liberation Sans"/>
              </a:rPr>
              <a:t>These are probabilities, not a fixed result for every four children.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30352" y="393192"/>
            <a:ext cx="109728" cy="393192"/>
          </a:xfrm>
          <a:prstGeom prst="rect">
            <a:avLst/>
          </a:prstGeom>
          <a:solidFill>
            <a:srgbClr val="276452"/>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786384" y="347472"/>
            <a:ext cx="10835640" cy="512064"/>
          </a:xfrm>
          <a:prstGeom prst="rect">
            <a:avLst/>
          </a:prstGeom>
          <a:noFill/>
        </p:spPr>
        <p:txBody>
          <a:bodyPr wrap="square" lIns="0" rIns="0" tIns="0" bIns="0" anchor="t">
            <a:spAutoFit/>
          </a:bodyPr>
          <a:lstStyle/>
          <a:p>
            <a:pPr algn="l">
              <a:lnSpc>
                <a:spcPts val="3304"/>
              </a:lnSpc>
              <a:spcAft>
                <a:spcPts val="800"/>
              </a:spcAft>
            </a:pPr>
            <a:r>
              <a:rPr sz="2800" b="1">
                <a:solidFill>
                  <a:srgbClr val="24312E"/>
                </a:solidFill>
                <a:latin typeface="Liberation Sans"/>
              </a:rPr>
              <a:t>b. Modern genetic technologies</a:t>
            </a:r>
          </a:p>
        </p:txBody>
      </p:sp>
      <p:sp>
        <p:nvSpPr>
          <p:cNvPr id="4" name="TextBox 3"/>
          <p:cNvSpPr txBox="1"/>
          <p:nvPr/>
        </p:nvSpPr>
        <p:spPr>
          <a:xfrm>
            <a:off x="786384" y="905256"/>
            <a:ext cx="10789920" cy="274320"/>
          </a:xfrm>
          <a:prstGeom prst="rect">
            <a:avLst/>
          </a:prstGeom>
          <a:noFill/>
        </p:spPr>
        <p:txBody>
          <a:bodyPr wrap="square" lIns="0" rIns="0" tIns="0" bIns="0" anchor="t">
            <a:spAutoFit/>
          </a:bodyPr>
          <a:lstStyle/>
          <a:p>
            <a:pPr algn="l">
              <a:lnSpc>
                <a:spcPts val="1534"/>
              </a:lnSpc>
              <a:spcAft>
                <a:spcPts val="800"/>
              </a:spcAft>
            </a:pPr>
            <a:r>
              <a:rPr sz="1300" b="0">
                <a:solidFill>
                  <a:srgbClr val="52635D"/>
                </a:solidFill>
                <a:latin typeface="Liberation Sans"/>
              </a:rPr>
              <a:t>Testing, selection, and editing are different</a:t>
            </a:r>
          </a:p>
        </p:txBody>
      </p:sp>
      <p:cxnSp>
        <p:nvCxnSpPr>
          <p:cNvPr id="5" name="Connector 4"/>
          <p:cNvCxnSpPr/>
          <p:nvPr/>
        </p:nvCxnSpPr>
        <p:spPr>
          <a:xfrm>
            <a:off x="548640" y="6373368"/>
            <a:ext cx="11091672" cy="0"/>
          </a:xfrm>
          <a:prstGeom prst="line">
            <a:avLst/>
          </a:prstGeom>
          <a:ln w="12700">
            <a:solidFill>
              <a:srgbClr val="CBDBD2"/>
            </a:solidFill>
          </a:ln>
        </p:spPr>
        <p:style>
          <a:lnRef idx="2">
            <a:schemeClr val="accent1"/>
          </a:lnRef>
          <a:fillRef idx="0">
            <a:schemeClr val="accent1"/>
          </a:fillRef>
          <a:effectRef idx="0">
            <a:schemeClr val="accent1"/>
          </a:effectRef>
          <a:fontRef idx="minor">
            <a:schemeClr val="tx1"/>
          </a:fontRef>
        </p:style>
      </p:cxnSp>
      <p:sp>
        <p:nvSpPr>
          <p:cNvPr id="6" name="TextBox 5"/>
          <p:cNvSpPr txBox="1"/>
          <p:nvPr/>
        </p:nvSpPr>
        <p:spPr>
          <a:xfrm>
            <a:off x="594360" y="6464808"/>
            <a:ext cx="7955279" cy="182880"/>
          </a:xfrm>
          <a:prstGeom prst="rect">
            <a:avLst/>
          </a:prstGeom>
          <a:noFill/>
        </p:spPr>
        <p:txBody>
          <a:bodyPr wrap="square" lIns="0" rIns="0" tIns="0" bIns="0" anchor="t">
            <a:spAutoFit/>
          </a:bodyPr>
          <a:lstStyle/>
          <a:p>
            <a:pPr algn="l">
              <a:lnSpc>
                <a:spcPts val="1121"/>
              </a:lnSpc>
              <a:spcAft>
                <a:spcPts val="800"/>
              </a:spcAft>
            </a:pPr>
            <a:r>
              <a:rPr sz="950" b="0">
                <a:solidFill>
                  <a:srgbClr val="52635D"/>
                </a:solidFill>
                <a:latin typeface="Liberation Sans"/>
              </a:rPr>
              <a:t>Prachi Yadav  |  Fundamental of Genetics</a:t>
            </a:r>
          </a:p>
        </p:txBody>
      </p:sp>
      <p:sp>
        <p:nvSpPr>
          <p:cNvPr id="7" name="TextBox 6"/>
          <p:cNvSpPr txBox="1"/>
          <p:nvPr/>
        </p:nvSpPr>
        <p:spPr>
          <a:xfrm>
            <a:off x="8275320" y="6460236"/>
            <a:ext cx="2880360" cy="210312"/>
          </a:xfrm>
          <a:prstGeom prst="rect">
            <a:avLst/>
          </a:prstGeom>
          <a:noFill/>
        </p:spPr>
        <p:txBody>
          <a:bodyPr wrap="square" lIns="0" rIns="0" tIns="0" bIns="0" anchor="t">
            <a:spAutoFit/>
          </a:bodyPr>
          <a:lstStyle/>
          <a:p>
            <a:pPr algn="r">
              <a:lnSpc>
                <a:spcPts val="1180"/>
              </a:lnSpc>
              <a:spcAft>
                <a:spcPts val="800"/>
              </a:spcAft>
            </a:pPr>
            <a:r>
              <a:rPr sz="1000" b="0">
                <a:solidFill>
                  <a:srgbClr val="52635D"/>
                </a:solidFill>
                <a:latin typeface="Liberation Sans"/>
              </a:rPr>
              <a:t>Sources: [1], [3], [4]</a:t>
            </a:r>
          </a:p>
        </p:txBody>
      </p:sp>
      <p:sp>
        <p:nvSpPr>
          <p:cNvPr id="8" name="TextBox 7"/>
          <p:cNvSpPr txBox="1"/>
          <p:nvPr/>
        </p:nvSpPr>
        <p:spPr>
          <a:xfrm>
            <a:off x="11228832" y="6460236"/>
            <a:ext cx="365760" cy="210312"/>
          </a:xfrm>
          <a:prstGeom prst="rect">
            <a:avLst/>
          </a:prstGeom>
          <a:noFill/>
        </p:spPr>
        <p:txBody>
          <a:bodyPr wrap="square" lIns="0" rIns="0" tIns="0" bIns="0" anchor="t">
            <a:spAutoFit/>
          </a:bodyPr>
          <a:lstStyle/>
          <a:p>
            <a:pPr algn="r">
              <a:lnSpc>
                <a:spcPts val="1180"/>
              </a:lnSpc>
              <a:spcAft>
                <a:spcPts val="800"/>
              </a:spcAft>
            </a:pPr>
            <a:r>
              <a:rPr sz="1000" b="0">
                <a:solidFill>
                  <a:srgbClr val="276452"/>
                </a:solidFill>
                <a:latin typeface="Liberation Sans"/>
              </a:rPr>
              <a:t>6</a:t>
            </a:r>
          </a:p>
        </p:txBody>
      </p:sp>
      <p:sp>
        <p:nvSpPr>
          <p:cNvPr id="9" name="Rectangle 8"/>
          <p:cNvSpPr/>
          <p:nvPr/>
        </p:nvSpPr>
        <p:spPr>
          <a:xfrm>
            <a:off x="658368" y="1389888"/>
            <a:ext cx="5376672" cy="1335024"/>
          </a:xfrm>
          <a:prstGeom prst="rect">
            <a:avLst/>
          </a:prstGeom>
          <a:solidFill>
            <a:srgbClr val="EEF5F1"/>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TextBox 9"/>
          <p:cNvSpPr txBox="1"/>
          <p:nvPr/>
        </p:nvSpPr>
        <p:spPr>
          <a:xfrm>
            <a:off x="859536" y="1554480"/>
            <a:ext cx="4974336" cy="402336"/>
          </a:xfrm>
          <a:prstGeom prst="rect">
            <a:avLst/>
          </a:prstGeom>
          <a:noFill/>
        </p:spPr>
        <p:txBody>
          <a:bodyPr wrap="square" lIns="0" rIns="0" tIns="0" bIns="0" anchor="t">
            <a:spAutoFit/>
          </a:bodyPr>
          <a:lstStyle/>
          <a:p>
            <a:pPr algn="l">
              <a:lnSpc>
                <a:spcPts val="2360"/>
              </a:lnSpc>
              <a:spcAft>
                <a:spcPts val="800"/>
              </a:spcAft>
            </a:pPr>
            <a:r>
              <a:rPr sz="2000" b="1">
                <a:solidFill>
                  <a:srgbClr val="276452"/>
                </a:solidFill>
                <a:latin typeface="Liberation Sans"/>
              </a:rPr>
              <a:t>Carrier screening</a:t>
            </a:r>
          </a:p>
        </p:txBody>
      </p:sp>
      <p:sp>
        <p:nvSpPr>
          <p:cNvPr id="11" name="TextBox 10"/>
          <p:cNvSpPr txBox="1"/>
          <p:nvPr/>
        </p:nvSpPr>
        <p:spPr>
          <a:xfrm>
            <a:off x="859536" y="1993392"/>
            <a:ext cx="4974336" cy="576072"/>
          </a:xfrm>
          <a:prstGeom prst="rect">
            <a:avLst/>
          </a:prstGeom>
          <a:noFill/>
        </p:spPr>
        <p:txBody>
          <a:bodyPr wrap="square" lIns="0" rIns="0" tIns="0" bIns="0" anchor="t">
            <a:spAutoFit/>
          </a:bodyPr>
          <a:lstStyle/>
          <a:p>
            <a:pPr algn="l">
              <a:lnSpc>
                <a:spcPts val="2124"/>
              </a:lnSpc>
              <a:spcAft>
                <a:spcPts val="800"/>
              </a:spcAft>
            </a:pPr>
            <a:r>
              <a:rPr sz="1800" b="0">
                <a:solidFill>
                  <a:srgbClr val="24312E"/>
                </a:solidFill>
                <a:latin typeface="Liberation Sans"/>
              </a:rPr>
              <a:t>Tests prospective parents
for inherited risks.</a:t>
            </a:r>
          </a:p>
        </p:txBody>
      </p:sp>
      <p:sp>
        <p:nvSpPr>
          <p:cNvPr id="12" name="Rectangle 11"/>
          <p:cNvSpPr/>
          <p:nvPr/>
        </p:nvSpPr>
        <p:spPr>
          <a:xfrm>
            <a:off x="6300216" y="1389888"/>
            <a:ext cx="5376672" cy="1335024"/>
          </a:xfrm>
          <a:prstGeom prst="rect">
            <a:avLst/>
          </a:prstGeom>
          <a:solidFill>
            <a:srgbClr val="EEF5F1"/>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6501383" y="1554480"/>
            <a:ext cx="4974336" cy="402336"/>
          </a:xfrm>
          <a:prstGeom prst="rect">
            <a:avLst/>
          </a:prstGeom>
          <a:noFill/>
        </p:spPr>
        <p:txBody>
          <a:bodyPr wrap="square" lIns="0" rIns="0" tIns="0" bIns="0" anchor="t">
            <a:spAutoFit/>
          </a:bodyPr>
          <a:lstStyle/>
          <a:p>
            <a:pPr algn="l">
              <a:lnSpc>
                <a:spcPts val="2360"/>
              </a:lnSpc>
              <a:spcAft>
                <a:spcPts val="800"/>
              </a:spcAft>
            </a:pPr>
            <a:r>
              <a:rPr sz="2000" b="1">
                <a:solidFill>
                  <a:srgbClr val="276452"/>
                </a:solidFill>
                <a:latin typeface="Liberation Sans"/>
              </a:rPr>
              <a:t>PGT-M</a:t>
            </a:r>
          </a:p>
        </p:txBody>
      </p:sp>
      <p:sp>
        <p:nvSpPr>
          <p:cNvPr id="14" name="TextBox 13"/>
          <p:cNvSpPr txBox="1"/>
          <p:nvPr/>
        </p:nvSpPr>
        <p:spPr>
          <a:xfrm>
            <a:off x="6501383" y="1993392"/>
            <a:ext cx="4974336" cy="576072"/>
          </a:xfrm>
          <a:prstGeom prst="rect">
            <a:avLst/>
          </a:prstGeom>
          <a:noFill/>
        </p:spPr>
        <p:txBody>
          <a:bodyPr wrap="square" lIns="0" rIns="0" tIns="0" bIns="0" anchor="t">
            <a:spAutoFit/>
          </a:bodyPr>
          <a:lstStyle/>
          <a:p>
            <a:pPr algn="l">
              <a:lnSpc>
                <a:spcPts val="2124"/>
              </a:lnSpc>
              <a:spcAft>
                <a:spcPts val="800"/>
              </a:spcAft>
            </a:pPr>
            <a:r>
              <a:rPr sz="1800" b="0">
                <a:solidFill>
                  <a:srgbClr val="24312E"/>
                </a:solidFill>
                <a:latin typeface="Liberation Sans"/>
              </a:rPr>
              <a:t>Uses IVF to test embryos
for a known single-gene condition.</a:t>
            </a:r>
          </a:p>
        </p:txBody>
      </p:sp>
      <p:sp>
        <p:nvSpPr>
          <p:cNvPr id="15" name="Rectangle 14"/>
          <p:cNvSpPr/>
          <p:nvPr/>
        </p:nvSpPr>
        <p:spPr>
          <a:xfrm>
            <a:off x="658368" y="2916936"/>
            <a:ext cx="5376672" cy="1335024"/>
          </a:xfrm>
          <a:prstGeom prst="rect">
            <a:avLst/>
          </a:prstGeom>
          <a:solidFill>
            <a:srgbClr val="EEF5F1"/>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TextBox 15"/>
          <p:cNvSpPr txBox="1"/>
          <p:nvPr/>
        </p:nvSpPr>
        <p:spPr>
          <a:xfrm>
            <a:off x="859536" y="3081528"/>
            <a:ext cx="4974336" cy="402336"/>
          </a:xfrm>
          <a:prstGeom prst="rect">
            <a:avLst/>
          </a:prstGeom>
          <a:noFill/>
        </p:spPr>
        <p:txBody>
          <a:bodyPr wrap="square" lIns="0" rIns="0" tIns="0" bIns="0" anchor="t">
            <a:spAutoFit/>
          </a:bodyPr>
          <a:lstStyle/>
          <a:p>
            <a:pPr algn="l">
              <a:lnSpc>
                <a:spcPts val="2360"/>
              </a:lnSpc>
              <a:spcAft>
                <a:spcPts val="800"/>
              </a:spcAft>
            </a:pPr>
            <a:r>
              <a:rPr sz="2000" b="1">
                <a:solidFill>
                  <a:srgbClr val="276452"/>
                </a:solidFill>
                <a:latin typeface="Liberation Sans"/>
              </a:rPr>
              <a:t>Polygenic screening</a:t>
            </a:r>
          </a:p>
        </p:txBody>
      </p:sp>
      <p:sp>
        <p:nvSpPr>
          <p:cNvPr id="17" name="TextBox 16"/>
          <p:cNvSpPr txBox="1"/>
          <p:nvPr/>
        </p:nvSpPr>
        <p:spPr>
          <a:xfrm>
            <a:off x="859536" y="3520440"/>
            <a:ext cx="4974336" cy="576072"/>
          </a:xfrm>
          <a:prstGeom prst="rect">
            <a:avLst/>
          </a:prstGeom>
          <a:noFill/>
        </p:spPr>
        <p:txBody>
          <a:bodyPr wrap="square" lIns="0" rIns="0" tIns="0" bIns="0" anchor="t">
            <a:spAutoFit/>
          </a:bodyPr>
          <a:lstStyle/>
          <a:p>
            <a:pPr algn="l">
              <a:lnSpc>
                <a:spcPts val="2124"/>
              </a:lnSpc>
              <a:spcAft>
                <a:spcPts val="800"/>
              </a:spcAft>
            </a:pPr>
            <a:r>
              <a:rPr sz="1800" b="0">
                <a:solidFill>
                  <a:srgbClr val="24312E"/>
                </a:solidFill>
                <a:latin typeface="Liberation Sans"/>
              </a:rPr>
              <a:t>Uses many variants to estimate
complex disease risk.</a:t>
            </a:r>
          </a:p>
        </p:txBody>
      </p:sp>
      <p:sp>
        <p:nvSpPr>
          <p:cNvPr id="18" name="Rectangle 17"/>
          <p:cNvSpPr/>
          <p:nvPr/>
        </p:nvSpPr>
        <p:spPr>
          <a:xfrm>
            <a:off x="6300216" y="2916936"/>
            <a:ext cx="5376672" cy="1335024"/>
          </a:xfrm>
          <a:prstGeom prst="rect">
            <a:avLst/>
          </a:prstGeom>
          <a:solidFill>
            <a:srgbClr val="EEF5F1"/>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6501383" y="3081528"/>
            <a:ext cx="4974336" cy="402336"/>
          </a:xfrm>
          <a:prstGeom prst="rect">
            <a:avLst/>
          </a:prstGeom>
          <a:noFill/>
        </p:spPr>
        <p:txBody>
          <a:bodyPr wrap="square" lIns="0" rIns="0" tIns="0" bIns="0" anchor="t">
            <a:spAutoFit/>
          </a:bodyPr>
          <a:lstStyle/>
          <a:p>
            <a:pPr algn="l">
              <a:lnSpc>
                <a:spcPts val="2360"/>
              </a:lnSpc>
              <a:spcAft>
                <a:spcPts val="800"/>
              </a:spcAft>
            </a:pPr>
            <a:r>
              <a:rPr sz="2000" b="1">
                <a:solidFill>
                  <a:srgbClr val="276452"/>
                </a:solidFill>
                <a:latin typeface="Liberation Sans"/>
              </a:rPr>
              <a:t>Genome editing</a:t>
            </a:r>
          </a:p>
        </p:txBody>
      </p:sp>
      <p:sp>
        <p:nvSpPr>
          <p:cNvPr id="20" name="TextBox 19"/>
          <p:cNvSpPr txBox="1"/>
          <p:nvPr/>
        </p:nvSpPr>
        <p:spPr>
          <a:xfrm>
            <a:off x="6501383" y="3520440"/>
            <a:ext cx="4974336" cy="576072"/>
          </a:xfrm>
          <a:prstGeom prst="rect">
            <a:avLst/>
          </a:prstGeom>
          <a:noFill/>
        </p:spPr>
        <p:txBody>
          <a:bodyPr wrap="square" lIns="0" rIns="0" tIns="0" bIns="0" anchor="t">
            <a:spAutoFit/>
          </a:bodyPr>
          <a:lstStyle/>
          <a:p>
            <a:pPr algn="l">
              <a:lnSpc>
                <a:spcPts val="2124"/>
              </a:lnSpc>
              <a:spcAft>
                <a:spcPts val="800"/>
              </a:spcAft>
            </a:pPr>
            <a:r>
              <a:rPr sz="1800" b="0">
                <a:solidFill>
                  <a:srgbClr val="24312E"/>
                </a:solidFill>
                <a:latin typeface="Liberation Sans"/>
              </a:rPr>
              <a:t>Changes DNA; heritable changes
may reach future generations.</a:t>
            </a:r>
          </a:p>
        </p:txBody>
      </p:sp>
      <p:sp>
        <p:nvSpPr>
          <p:cNvPr id="21" name="TextBox 20"/>
          <p:cNvSpPr txBox="1"/>
          <p:nvPr/>
        </p:nvSpPr>
        <p:spPr>
          <a:xfrm>
            <a:off x="704088" y="4608576"/>
            <a:ext cx="10789920" cy="338328"/>
          </a:xfrm>
          <a:prstGeom prst="rect">
            <a:avLst/>
          </a:prstGeom>
          <a:noFill/>
        </p:spPr>
        <p:txBody>
          <a:bodyPr wrap="square" lIns="0" rIns="0" tIns="0" bIns="0" anchor="t">
            <a:spAutoFit/>
          </a:bodyPr>
          <a:lstStyle/>
          <a:p>
            <a:pPr algn="l">
              <a:lnSpc>
                <a:spcPts val="2477"/>
              </a:lnSpc>
              <a:spcAft>
                <a:spcPts val="800"/>
              </a:spcAft>
            </a:pPr>
            <a:r>
              <a:rPr sz="2100" b="1">
                <a:solidFill>
                  <a:srgbClr val="276452"/>
                </a:solidFill>
                <a:latin typeface="Liberation Sans"/>
              </a:rPr>
              <a:t>A simplified PGT-M pathway</a:t>
            </a:r>
          </a:p>
        </p:txBody>
      </p:sp>
      <p:sp>
        <p:nvSpPr>
          <p:cNvPr id="22" name="Rectangle 21"/>
          <p:cNvSpPr/>
          <p:nvPr/>
        </p:nvSpPr>
        <p:spPr>
          <a:xfrm>
            <a:off x="676656" y="5212080"/>
            <a:ext cx="2450592" cy="585216"/>
          </a:xfrm>
          <a:prstGeom prst="rect">
            <a:avLst/>
          </a:prstGeom>
          <a:solidFill>
            <a:srgbClr val="EEF5F1"/>
          </a:solidFill>
          <a:ln w="10160">
            <a:solidFill>
              <a:srgbClr val="CBDBD2"/>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TextBox 22"/>
          <p:cNvSpPr txBox="1"/>
          <p:nvPr/>
        </p:nvSpPr>
        <p:spPr>
          <a:xfrm>
            <a:off x="731520" y="5404104"/>
            <a:ext cx="2340864" cy="256032"/>
          </a:xfrm>
          <a:prstGeom prst="rect">
            <a:avLst/>
          </a:prstGeom>
          <a:noFill/>
        </p:spPr>
        <p:txBody>
          <a:bodyPr wrap="square" lIns="0" rIns="0" tIns="0" bIns="0" anchor="t">
            <a:spAutoFit/>
          </a:bodyPr>
          <a:lstStyle/>
          <a:p>
            <a:pPr algn="ctr">
              <a:lnSpc>
                <a:spcPts val="1935"/>
              </a:lnSpc>
              <a:spcAft>
                <a:spcPts val="800"/>
              </a:spcAft>
            </a:pPr>
            <a:r>
              <a:rPr sz="1639" b="1">
                <a:solidFill>
                  <a:srgbClr val="276452"/>
                </a:solidFill>
                <a:latin typeface="Liberation Sans"/>
              </a:rPr>
              <a:t>Genetic counselling</a:t>
            </a:r>
          </a:p>
        </p:txBody>
      </p:sp>
      <p:sp>
        <p:nvSpPr>
          <p:cNvPr id="24" name="Right Arrow 23"/>
          <p:cNvSpPr/>
          <p:nvPr/>
        </p:nvSpPr>
        <p:spPr>
          <a:xfrm>
            <a:off x="3209544" y="5413248"/>
            <a:ext cx="219456" cy="164592"/>
          </a:xfrm>
          <a:prstGeom prst="rightArrow">
            <a:avLst/>
          </a:prstGeom>
          <a:solidFill>
            <a:srgbClr val="276452"/>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Rectangle 24"/>
          <p:cNvSpPr/>
          <p:nvPr/>
        </p:nvSpPr>
        <p:spPr>
          <a:xfrm>
            <a:off x="3511296" y="5212080"/>
            <a:ext cx="2450592" cy="585216"/>
          </a:xfrm>
          <a:prstGeom prst="rect">
            <a:avLst/>
          </a:prstGeom>
          <a:solidFill>
            <a:srgbClr val="EEF5F1"/>
          </a:solidFill>
          <a:ln w="10160">
            <a:solidFill>
              <a:srgbClr val="CBDBD2"/>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TextBox 25"/>
          <p:cNvSpPr txBox="1"/>
          <p:nvPr/>
        </p:nvSpPr>
        <p:spPr>
          <a:xfrm>
            <a:off x="3566160" y="5404104"/>
            <a:ext cx="2340864" cy="256032"/>
          </a:xfrm>
          <a:prstGeom prst="rect">
            <a:avLst/>
          </a:prstGeom>
          <a:noFill/>
        </p:spPr>
        <p:txBody>
          <a:bodyPr wrap="square" lIns="0" rIns="0" tIns="0" bIns="0" anchor="t">
            <a:spAutoFit/>
          </a:bodyPr>
          <a:lstStyle/>
          <a:p>
            <a:pPr algn="ctr">
              <a:lnSpc>
                <a:spcPts val="1935"/>
              </a:lnSpc>
              <a:spcAft>
                <a:spcPts val="800"/>
              </a:spcAft>
            </a:pPr>
            <a:r>
              <a:rPr sz="1639" b="1">
                <a:solidFill>
                  <a:srgbClr val="276452"/>
                </a:solidFill>
                <a:latin typeface="Liberation Sans"/>
              </a:rPr>
              <a:t>IVF</a:t>
            </a:r>
          </a:p>
        </p:txBody>
      </p:sp>
      <p:sp>
        <p:nvSpPr>
          <p:cNvPr id="27" name="Right Arrow 26"/>
          <p:cNvSpPr/>
          <p:nvPr/>
        </p:nvSpPr>
        <p:spPr>
          <a:xfrm>
            <a:off x="6044183" y="5413248"/>
            <a:ext cx="219456" cy="164592"/>
          </a:xfrm>
          <a:prstGeom prst="rightArrow">
            <a:avLst/>
          </a:prstGeom>
          <a:solidFill>
            <a:srgbClr val="276452"/>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Rectangle 27"/>
          <p:cNvSpPr/>
          <p:nvPr/>
        </p:nvSpPr>
        <p:spPr>
          <a:xfrm>
            <a:off x="6345936" y="5212080"/>
            <a:ext cx="2450592" cy="585216"/>
          </a:xfrm>
          <a:prstGeom prst="rect">
            <a:avLst/>
          </a:prstGeom>
          <a:solidFill>
            <a:srgbClr val="EEF5F1"/>
          </a:solidFill>
          <a:ln w="10160">
            <a:solidFill>
              <a:srgbClr val="CBDBD2"/>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TextBox 28"/>
          <p:cNvSpPr txBox="1"/>
          <p:nvPr/>
        </p:nvSpPr>
        <p:spPr>
          <a:xfrm>
            <a:off x="6400800" y="5404104"/>
            <a:ext cx="2340864" cy="256032"/>
          </a:xfrm>
          <a:prstGeom prst="rect">
            <a:avLst/>
          </a:prstGeom>
          <a:noFill/>
        </p:spPr>
        <p:txBody>
          <a:bodyPr wrap="square" lIns="0" rIns="0" tIns="0" bIns="0" anchor="t">
            <a:spAutoFit/>
          </a:bodyPr>
          <a:lstStyle/>
          <a:p>
            <a:pPr algn="ctr">
              <a:lnSpc>
                <a:spcPts val="1935"/>
              </a:lnSpc>
              <a:spcAft>
                <a:spcPts val="800"/>
              </a:spcAft>
            </a:pPr>
            <a:r>
              <a:rPr sz="1639" b="1">
                <a:solidFill>
                  <a:srgbClr val="276452"/>
                </a:solidFill>
                <a:latin typeface="Liberation Sans"/>
              </a:rPr>
              <a:t>Embryo testing</a:t>
            </a:r>
          </a:p>
        </p:txBody>
      </p:sp>
      <p:sp>
        <p:nvSpPr>
          <p:cNvPr id="30" name="Right Arrow 29"/>
          <p:cNvSpPr/>
          <p:nvPr/>
        </p:nvSpPr>
        <p:spPr>
          <a:xfrm>
            <a:off x="8878824" y="5413248"/>
            <a:ext cx="219456" cy="164592"/>
          </a:xfrm>
          <a:prstGeom prst="rightArrow">
            <a:avLst/>
          </a:prstGeom>
          <a:solidFill>
            <a:srgbClr val="276452"/>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 name="Rectangle 30"/>
          <p:cNvSpPr/>
          <p:nvPr/>
        </p:nvSpPr>
        <p:spPr>
          <a:xfrm>
            <a:off x="9180576" y="5212080"/>
            <a:ext cx="2450592" cy="585216"/>
          </a:xfrm>
          <a:prstGeom prst="rect">
            <a:avLst/>
          </a:prstGeom>
          <a:solidFill>
            <a:srgbClr val="EEF5F1"/>
          </a:solidFill>
          <a:ln w="10160">
            <a:solidFill>
              <a:srgbClr val="CBDBD2"/>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2" name="TextBox 31"/>
          <p:cNvSpPr txBox="1"/>
          <p:nvPr/>
        </p:nvSpPr>
        <p:spPr>
          <a:xfrm>
            <a:off x="9235440" y="5404104"/>
            <a:ext cx="2340864" cy="256032"/>
          </a:xfrm>
          <a:prstGeom prst="rect">
            <a:avLst/>
          </a:prstGeom>
          <a:noFill/>
        </p:spPr>
        <p:txBody>
          <a:bodyPr wrap="square" lIns="0" rIns="0" tIns="0" bIns="0" anchor="t">
            <a:spAutoFit/>
          </a:bodyPr>
          <a:lstStyle/>
          <a:p>
            <a:pPr algn="ctr">
              <a:lnSpc>
                <a:spcPts val="1935"/>
              </a:lnSpc>
              <a:spcAft>
                <a:spcPts val="800"/>
              </a:spcAft>
            </a:pPr>
            <a:r>
              <a:rPr sz="1639" b="1">
                <a:solidFill>
                  <a:srgbClr val="276452"/>
                </a:solidFill>
                <a:latin typeface="Liberation Sans"/>
              </a:rPr>
              <a:t>Transfer decision</a:t>
            </a:r>
          </a:p>
        </p:txBody>
      </p:sp>
      <p:sp>
        <p:nvSpPr>
          <p:cNvPr id="33" name="TextBox 32"/>
          <p:cNvSpPr txBox="1"/>
          <p:nvPr/>
        </p:nvSpPr>
        <p:spPr>
          <a:xfrm>
            <a:off x="740664" y="6007608"/>
            <a:ext cx="10698480" cy="246888"/>
          </a:xfrm>
          <a:prstGeom prst="rect">
            <a:avLst/>
          </a:prstGeom>
          <a:noFill/>
        </p:spPr>
        <p:txBody>
          <a:bodyPr wrap="square" lIns="0" rIns="0" tIns="0" bIns="0" anchor="t">
            <a:spAutoFit/>
          </a:bodyPr>
          <a:lstStyle/>
          <a:p>
            <a:pPr algn="l">
              <a:lnSpc>
                <a:spcPts val="2005"/>
              </a:lnSpc>
              <a:spcAft>
                <a:spcPts val="800"/>
              </a:spcAft>
            </a:pPr>
            <a:r>
              <a:rPr sz="1700" b="0">
                <a:solidFill>
                  <a:srgbClr val="52635D"/>
                </a:solidFill>
                <a:latin typeface="Liberation Sans"/>
              </a:rPr>
              <a:t>Selection chooses among embryos; it does not repair their DNA.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30352" y="393192"/>
            <a:ext cx="109728" cy="393192"/>
          </a:xfrm>
          <a:prstGeom prst="rect">
            <a:avLst/>
          </a:prstGeom>
          <a:solidFill>
            <a:srgbClr val="276452"/>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786384" y="347472"/>
            <a:ext cx="10835640" cy="512064"/>
          </a:xfrm>
          <a:prstGeom prst="rect">
            <a:avLst/>
          </a:prstGeom>
          <a:noFill/>
        </p:spPr>
        <p:txBody>
          <a:bodyPr wrap="square" lIns="0" rIns="0" tIns="0" bIns="0" anchor="t">
            <a:spAutoFit/>
          </a:bodyPr>
          <a:lstStyle/>
          <a:p>
            <a:pPr algn="l">
              <a:lnSpc>
                <a:spcPts val="3304"/>
              </a:lnSpc>
              <a:spcAft>
                <a:spcPts val="800"/>
              </a:spcAft>
            </a:pPr>
            <a:r>
              <a:rPr sz="2800" b="1">
                <a:solidFill>
                  <a:srgbClr val="24312E"/>
                </a:solidFill>
                <a:latin typeface="Liberation Sans"/>
              </a:rPr>
              <a:t>c. Research paper</a:t>
            </a:r>
          </a:p>
        </p:txBody>
      </p:sp>
      <p:sp>
        <p:nvSpPr>
          <p:cNvPr id="4" name="TextBox 3"/>
          <p:cNvSpPr txBox="1"/>
          <p:nvPr/>
        </p:nvSpPr>
        <p:spPr>
          <a:xfrm>
            <a:off x="786384" y="905256"/>
            <a:ext cx="10789920" cy="274320"/>
          </a:xfrm>
          <a:prstGeom prst="rect">
            <a:avLst/>
          </a:prstGeom>
          <a:noFill/>
        </p:spPr>
        <p:txBody>
          <a:bodyPr wrap="square" lIns="0" rIns="0" tIns="0" bIns="0" anchor="t">
            <a:spAutoFit/>
          </a:bodyPr>
          <a:lstStyle/>
          <a:p>
            <a:pPr algn="l">
              <a:lnSpc>
                <a:spcPts val="1534"/>
              </a:lnSpc>
              <a:spcAft>
                <a:spcPts val="800"/>
              </a:spcAft>
            </a:pPr>
            <a:r>
              <a:rPr sz="1300" b="0">
                <a:solidFill>
                  <a:srgbClr val="52635D"/>
                </a:solidFill>
                <a:latin typeface="Liberation Sans"/>
              </a:rPr>
              <a:t>Lencz and colleagues • eLife</a:t>
            </a:r>
          </a:p>
        </p:txBody>
      </p:sp>
      <p:cxnSp>
        <p:nvCxnSpPr>
          <p:cNvPr id="5" name="Connector 4"/>
          <p:cNvCxnSpPr/>
          <p:nvPr/>
        </p:nvCxnSpPr>
        <p:spPr>
          <a:xfrm>
            <a:off x="548640" y="6373368"/>
            <a:ext cx="11091672" cy="0"/>
          </a:xfrm>
          <a:prstGeom prst="line">
            <a:avLst/>
          </a:prstGeom>
          <a:ln w="12700">
            <a:solidFill>
              <a:srgbClr val="CBDBD2"/>
            </a:solidFill>
          </a:ln>
        </p:spPr>
        <p:style>
          <a:lnRef idx="2">
            <a:schemeClr val="accent1"/>
          </a:lnRef>
          <a:fillRef idx="0">
            <a:schemeClr val="accent1"/>
          </a:fillRef>
          <a:effectRef idx="0">
            <a:schemeClr val="accent1"/>
          </a:effectRef>
          <a:fontRef idx="minor">
            <a:schemeClr val="tx1"/>
          </a:fontRef>
        </p:style>
      </p:cxnSp>
      <p:sp>
        <p:nvSpPr>
          <p:cNvPr id="6" name="TextBox 5"/>
          <p:cNvSpPr txBox="1"/>
          <p:nvPr/>
        </p:nvSpPr>
        <p:spPr>
          <a:xfrm>
            <a:off x="594360" y="6464808"/>
            <a:ext cx="7955279" cy="182880"/>
          </a:xfrm>
          <a:prstGeom prst="rect">
            <a:avLst/>
          </a:prstGeom>
          <a:noFill/>
        </p:spPr>
        <p:txBody>
          <a:bodyPr wrap="square" lIns="0" rIns="0" tIns="0" bIns="0" anchor="t">
            <a:spAutoFit/>
          </a:bodyPr>
          <a:lstStyle/>
          <a:p>
            <a:pPr algn="l">
              <a:lnSpc>
                <a:spcPts val="1121"/>
              </a:lnSpc>
              <a:spcAft>
                <a:spcPts val="800"/>
              </a:spcAft>
            </a:pPr>
            <a:r>
              <a:rPr sz="950" b="0">
                <a:solidFill>
                  <a:srgbClr val="52635D"/>
                </a:solidFill>
                <a:latin typeface="Liberation Sans"/>
              </a:rPr>
              <a:t>Prachi Yadav  |  Fundamental of Genetics</a:t>
            </a:r>
          </a:p>
        </p:txBody>
      </p:sp>
      <p:sp>
        <p:nvSpPr>
          <p:cNvPr id="7" name="TextBox 6"/>
          <p:cNvSpPr txBox="1"/>
          <p:nvPr/>
        </p:nvSpPr>
        <p:spPr>
          <a:xfrm>
            <a:off x="8275320" y="6460236"/>
            <a:ext cx="2880360" cy="210312"/>
          </a:xfrm>
          <a:prstGeom prst="rect">
            <a:avLst/>
          </a:prstGeom>
          <a:noFill/>
        </p:spPr>
        <p:txBody>
          <a:bodyPr wrap="square" lIns="0" rIns="0" tIns="0" bIns="0" anchor="t">
            <a:spAutoFit/>
          </a:bodyPr>
          <a:lstStyle/>
          <a:p>
            <a:pPr algn="r">
              <a:lnSpc>
                <a:spcPts val="1180"/>
              </a:lnSpc>
              <a:spcAft>
                <a:spcPts val="800"/>
              </a:spcAft>
            </a:pPr>
            <a:r>
              <a:rPr sz="1000" b="0">
                <a:solidFill>
                  <a:srgbClr val="52635D"/>
                </a:solidFill>
                <a:latin typeface="Liberation Sans"/>
              </a:rPr>
              <a:t>Sources: [1]</a:t>
            </a:r>
          </a:p>
        </p:txBody>
      </p:sp>
      <p:sp>
        <p:nvSpPr>
          <p:cNvPr id="8" name="TextBox 7"/>
          <p:cNvSpPr txBox="1"/>
          <p:nvPr/>
        </p:nvSpPr>
        <p:spPr>
          <a:xfrm>
            <a:off x="11228832" y="6460236"/>
            <a:ext cx="365760" cy="210312"/>
          </a:xfrm>
          <a:prstGeom prst="rect">
            <a:avLst/>
          </a:prstGeom>
          <a:noFill/>
        </p:spPr>
        <p:txBody>
          <a:bodyPr wrap="square" lIns="0" rIns="0" tIns="0" bIns="0" anchor="t">
            <a:spAutoFit/>
          </a:bodyPr>
          <a:lstStyle/>
          <a:p>
            <a:pPr algn="r">
              <a:lnSpc>
                <a:spcPts val="1180"/>
              </a:lnSpc>
              <a:spcAft>
                <a:spcPts val="800"/>
              </a:spcAft>
            </a:pPr>
            <a:r>
              <a:rPr sz="1000" b="0">
                <a:solidFill>
                  <a:srgbClr val="276452"/>
                </a:solidFill>
                <a:latin typeface="Liberation Sans"/>
              </a:rPr>
              <a:t>7</a:t>
            </a:r>
          </a:p>
        </p:txBody>
      </p:sp>
      <p:sp>
        <p:nvSpPr>
          <p:cNvPr id="9" name="TextBox 8"/>
          <p:cNvSpPr txBox="1"/>
          <p:nvPr/>
        </p:nvSpPr>
        <p:spPr>
          <a:xfrm>
            <a:off x="694944" y="1280160"/>
            <a:ext cx="10844784" cy="768096"/>
          </a:xfrm>
          <a:prstGeom prst="rect">
            <a:avLst/>
          </a:prstGeom>
          <a:noFill/>
        </p:spPr>
        <p:txBody>
          <a:bodyPr wrap="square" lIns="0" rIns="0" tIns="0" bIns="0" anchor="t">
            <a:spAutoFit/>
          </a:bodyPr>
          <a:lstStyle/>
          <a:p>
            <a:pPr algn="l">
              <a:lnSpc>
                <a:spcPts val="2595"/>
              </a:lnSpc>
              <a:spcAft>
                <a:spcPts val="800"/>
              </a:spcAft>
            </a:pPr>
            <a:r>
              <a:rPr sz="2200" b="1">
                <a:solidFill>
                  <a:srgbClr val="276452"/>
                </a:solidFill>
                <a:latin typeface="Liberation Sans"/>
              </a:rPr>
              <a:t>“Utility of polygenic embryo screening for disease depends on the selection strategy”</a:t>
            </a:r>
          </a:p>
        </p:txBody>
      </p:sp>
      <p:sp>
        <p:nvSpPr>
          <p:cNvPr id="10" name="Rectangle 9"/>
          <p:cNvSpPr/>
          <p:nvPr/>
        </p:nvSpPr>
        <p:spPr>
          <a:xfrm>
            <a:off x="658368" y="2267712"/>
            <a:ext cx="5367528" cy="1645920"/>
          </a:xfrm>
          <a:prstGeom prst="rect">
            <a:avLst/>
          </a:prstGeom>
          <a:solidFill>
            <a:srgbClr val="EEF5F1"/>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TextBox 10"/>
          <p:cNvSpPr txBox="1"/>
          <p:nvPr/>
        </p:nvSpPr>
        <p:spPr>
          <a:xfrm>
            <a:off x="859536" y="2432304"/>
            <a:ext cx="4965192" cy="402336"/>
          </a:xfrm>
          <a:prstGeom prst="rect">
            <a:avLst/>
          </a:prstGeom>
          <a:noFill/>
        </p:spPr>
        <p:txBody>
          <a:bodyPr wrap="square" lIns="0" rIns="0" tIns="0" bIns="0" anchor="t">
            <a:spAutoFit/>
          </a:bodyPr>
          <a:lstStyle/>
          <a:p>
            <a:pPr algn="l">
              <a:lnSpc>
                <a:spcPts val="2360"/>
              </a:lnSpc>
              <a:spcAft>
                <a:spcPts val="800"/>
              </a:spcAft>
            </a:pPr>
            <a:r>
              <a:rPr sz="2000" b="1">
                <a:solidFill>
                  <a:srgbClr val="276452"/>
                </a:solidFill>
                <a:latin typeface="Liberation Sans"/>
              </a:rPr>
              <a:t>Aim</a:t>
            </a:r>
          </a:p>
        </p:txBody>
      </p:sp>
      <p:sp>
        <p:nvSpPr>
          <p:cNvPr id="12" name="TextBox 11"/>
          <p:cNvSpPr txBox="1"/>
          <p:nvPr/>
        </p:nvSpPr>
        <p:spPr>
          <a:xfrm>
            <a:off x="859536" y="2871216"/>
            <a:ext cx="4965192" cy="886968"/>
          </a:xfrm>
          <a:prstGeom prst="rect">
            <a:avLst/>
          </a:prstGeom>
          <a:noFill/>
        </p:spPr>
        <p:txBody>
          <a:bodyPr wrap="square" lIns="0" rIns="0" tIns="0" bIns="0" anchor="t">
            <a:spAutoFit/>
          </a:bodyPr>
          <a:lstStyle/>
          <a:p>
            <a:pPr algn="l">
              <a:lnSpc>
                <a:spcPts val="2124"/>
              </a:lnSpc>
              <a:spcAft>
                <a:spcPts val="800"/>
              </a:spcAft>
            </a:pPr>
            <a:r>
              <a:rPr sz="1800" b="0">
                <a:solidFill>
                  <a:srgbClr val="24312E"/>
                </a:solidFill>
                <a:latin typeface="Liberation Sans"/>
              </a:rPr>
              <a:t>Find out how the embryo selection strategy changes the predicted risk of a complex disease.</a:t>
            </a:r>
          </a:p>
        </p:txBody>
      </p:sp>
      <p:sp>
        <p:nvSpPr>
          <p:cNvPr id="13" name="Rectangle 12"/>
          <p:cNvSpPr/>
          <p:nvPr/>
        </p:nvSpPr>
        <p:spPr>
          <a:xfrm>
            <a:off x="6190488" y="2267712"/>
            <a:ext cx="5367528" cy="1645920"/>
          </a:xfrm>
          <a:prstGeom prst="rect">
            <a:avLst/>
          </a:prstGeom>
          <a:solidFill>
            <a:srgbClr val="EEF5F1"/>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TextBox 13"/>
          <p:cNvSpPr txBox="1"/>
          <p:nvPr/>
        </p:nvSpPr>
        <p:spPr>
          <a:xfrm>
            <a:off x="6391655" y="2432304"/>
            <a:ext cx="4965192" cy="402336"/>
          </a:xfrm>
          <a:prstGeom prst="rect">
            <a:avLst/>
          </a:prstGeom>
          <a:noFill/>
        </p:spPr>
        <p:txBody>
          <a:bodyPr wrap="square" lIns="0" rIns="0" tIns="0" bIns="0" anchor="t">
            <a:spAutoFit/>
          </a:bodyPr>
          <a:lstStyle/>
          <a:p>
            <a:pPr algn="l">
              <a:lnSpc>
                <a:spcPts val="2360"/>
              </a:lnSpc>
              <a:spcAft>
                <a:spcPts val="800"/>
              </a:spcAft>
            </a:pPr>
            <a:r>
              <a:rPr sz="2000" b="1">
                <a:solidFill>
                  <a:srgbClr val="276452"/>
                </a:solidFill>
                <a:latin typeface="Liberation Sans"/>
              </a:rPr>
              <a:t>Method</a:t>
            </a:r>
          </a:p>
        </p:txBody>
      </p:sp>
      <p:sp>
        <p:nvSpPr>
          <p:cNvPr id="15" name="TextBox 14"/>
          <p:cNvSpPr txBox="1"/>
          <p:nvPr/>
        </p:nvSpPr>
        <p:spPr>
          <a:xfrm>
            <a:off x="6391655" y="2871216"/>
            <a:ext cx="4965192" cy="886968"/>
          </a:xfrm>
          <a:prstGeom prst="rect">
            <a:avLst/>
          </a:prstGeom>
          <a:noFill/>
        </p:spPr>
        <p:txBody>
          <a:bodyPr wrap="square" lIns="0" rIns="0" tIns="0" bIns="0" anchor="t">
            <a:spAutoFit/>
          </a:bodyPr>
          <a:lstStyle/>
          <a:p>
            <a:pPr algn="l">
              <a:lnSpc>
                <a:spcPts val="2124"/>
              </a:lnSpc>
              <a:spcAft>
                <a:spcPts val="800"/>
              </a:spcAft>
            </a:pPr>
            <a:r>
              <a:rPr sz="1800" b="0">
                <a:solidFill>
                  <a:srgbClr val="24312E"/>
                </a:solidFill>
                <a:latin typeface="Liberation Sans"/>
              </a:rPr>
              <a:t>Used statistical models and simulated offspring based on real genetic data.</a:t>
            </a:r>
          </a:p>
        </p:txBody>
      </p:sp>
      <p:sp>
        <p:nvSpPr>
          <p:cNvPr id="16" name="Rectangle 15"/>
          <p:cNvSpPr/>
          <p:nvPr/>
        </p:nvSpPr>
        <p:spPr>
          <a:xfrm>
            <a:off x="658368" y="4087368"/>
            <a:ext cx="5367528" cy="1609344"/>
          </a:xfrm>
          <a:prstGeom prst="rect">
            <a:avLst/>
          </a:prstGeom>
          <a:solidFill>
            <a:srgbClr val="EEF5F1"/>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TextBox 16"/>
          <p:cNvSpPr txBox="1"/>
          <p:nvPr/>
        </p:nvSpPr>
        <p:spPr>
          <a:xfrm>
            <a:off x="859536" y="4251959"/>
            <a:ext cx="4965192" cy="402336"/>
          </a:xfrm>
          <a:prstGeom prst="rect">
            <a:avLst/>
          </a:prstGeom>
          <a:noFill/>
        </p:spPr>
        <p:txBody>
          <a:bodyPr wrap="square" lIns="0" rIns="0" tIns="0" bIns="0" anchor="t">
            <a:spAutoFit/>
          </a:bodyPr>
          <a:lstStyle/>
          <a:p>
            <a:pPr algn="l">
              <a:lnSpc>
                <a:spcPts val="2360"/>
              </a:lnSpc>
              <a:spcAft>
                <a:spcPts val="800"/>
              </a:spcAft>
            </a:pPr>
            <a:r>
              <a:rPr sz="2000" b="1">
                <a:solidFill>
                  <a:srgbClr val="276452"/>
                </a:solidFill>
                <a:latin typeface="Liberation Sans"/>
              </a:rPr>
              <a:t>Data used</a:t>
            </a:r>
          </a:p>
        </p:txBody>
      </p:sp>
      <p:sp>
        <p:nvSpPr>
          <p:cNvPr id="18" name="TextBox 17"/>
          <p:cNvSpPr txBox="1"/>
          <p:nvPr/>
        </p:nvSpPr>
        <p:spPr>
          <a:xfrm>
            <a:off x="859536" y="4690872"/>
            <a:ext cx="4965192" cy="850392"/>
          </a:xfrm>
          <a:prstGeom prst="rect">
            <a:avLst/>
          </a:prstGeom>
          <a:noFill/>
        </p:spPr>
        <p:txBody>
          <a:bodyPr wrap="square" lIns="0" rIns="0" tIns="0" bIns="0" anchor="t">
            <a:spAutoFit/>
          </a:bodyPr>
          <a:lstStyle/>
          <a:p>
            <a:pPr algn="l">
              <a:lnSpc>
                <a:spcPts val="2124"/>
              </a:lnSpc>
              <a:spcAft>
                <a:spcPts val="800"/>
              </a:spcAft>
            </a:pPr>
            <a:r>
              <a:rPr sz="1800" b="0">
                <a:solidFill>
                  <a:srgbClr val="24312E"/>
                </a:solidFill>
                <a:latin typeface="Liberation Sans"/>
              </a:rPr>
              <a:t>Used genetic data from schizophrenia and Crohn’s disease studies to check the model.</a:t>
            </a:r>
          </a:p>
        </p:txBody>
      </p:sp>
      <p:sp>
        <p:nvSpPr>
          <p:cNvPr id="19" name="Rectangle 18"/>
          <p:cNvSpPr/>
          <p:nvPr/>
        </p:nvSpPr>
        <p:spPr>
          <a:xfrm>
            <a:off x="6190488" y="4087368"/>
            <a:ext cx="5367528" cy="1609344"/>
          </a:xfrm>
          <a:prstGeom prst="rect">
            <a:avLst/>
          </a:prstGeom>
          <a:solidFill>
            <a:srgbClr val="EEF5F1"/>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TextBox 19"/>
          <p:cNvSpPr txBox="1"/>
          <p:nvPr/>
        </p:nvSpPr>
        <p:spPr>
          <a:xfrm>
            <a:off x="6391655" y="4251959"/>
            <a:ext cx="4965192" cy="402336"/>
          </a:xfrm>
          <a:prstGeom prst="rect">
            <a:avLst/>
          </a:prstGeom>
          <a:noFill/>
        </p:spPr>
        <p:txBody>
          <a:bodyPr wrap="square" lIns="0" rIns="0" tIns="0" bIns="0" anchor="t">
            <a:spAutoFit/>
          </a:bodyPr>
          <a:lstStyle/>
          <a:p>
            <a:pPr algn="l">
              <a:lnSpc>
                <a:spcPts val="2360"/>
              </a:lnSpc>
              <a:spcAft>
                <a:spcPts val="800"/>
              </a:spcAft>
            </a:pPr>
            <a:r>
              <a:rPr sz="2000" b="1">
                <a:solidFill>
                  <a:srgbClr val="276452"/>
                </a:solidFill>
                <a:latin typeface="Liberation Sans"/>
              </a:rPr>
              <a:t>What was compared?</a:t>
            </a:r>
          </a:p>
        </p:txBody>
      </p:sp>
      <p:sp>
        <p:nvSpPr>
          <p:cNvPr id="21" name="TextBox 20"/>
          <p:cNvSpPr txBox="1"/>
          <p:nvPr/>
        </p:nvSpPr>
        <p:spPr>
          <a:xfrm>
            <a:off x="6391655" y="4690872"/>
            <a:ext cx="4965192" cy="850392"/>
          </a:xfrm>
          <a:prstGeom prst="rect">
            <a:avLst/>
          </a:prstGeom>
          <a:noFill/>
        </p:spPr>
        <p:txBody>
          <a:bodyPr wrap="square" lIns="0" rIns="0" tIns="0" bIns="0" anchor="t">
            <a:spAutoFit/>
          </a:bodyPr>
          <a:lstStyle/>
          <a:p>
            <a:pPr algn="l">
              <a:lnSpc>
                <a:spcPts val="2124"/>
              </a:lnSpc>
              <a:spcAft>
                <a:spcPts val="800"/>
              </a:spcAft>
            </a:pPr>
            <a:r>
              <a:rPr sz="1800" b="0">
                <a:solidFill>
                  <a:srgbClr val="24312E"/>
                </a:solidFill>
                <a:latin typeface="Liberation Sans"/>
              </a:rPr>
              <a:t>Excluding very high-risk embryos versus choosing the embryo with the lowest risk score.</a:t>
            </a:r>
          </a:p>
        </p:txBody>
      </p:sp>
      <p:sp>
        <p:nvSpPr>
          <p:cNvPr id="22" name="TextBox 21"/>
          <p:cNvSpPr txBox="1"/>
          <p:nvPr/>
        </p:nvSpPr>
        <p:spPr>
          <a:xfrm>
            <a:off x="777240" y="5916168"/>
            <a:ext cx="10698480" cy="274320"/>
          </a:xfrm>
          <a:prstGeom prst="rect">
            <a:avLst/>
          </a:prstGeom>
          <a:noFill/>
        </p:spPr>
        <p:txBody>
          <a:bodyPr wrap="square" lIns="0" rIns="0" tIns="0" bIns="0" anchor="t">
            <a:spAutoFit/>
          </a:bodyPr>
          <a:lstStyle/>
          <a:p>
            <a:pPr algn="l">
              <a:lnSpc>
                <a:spcPts val="2065"/>
              </a:lnSpc>
              <a:spcAft>
                <a:spcPts val="800"/>
              </a:spcAft>
            </a:pPr>
            <a:r>
              <a:rPr sz="1750" b="0">
                <a:solidFill>
                  <a:srgbClr val="52635D"/>
                </a:solidFill>
                <a:latin typeface="Liberation Sans"/>
              </a:rPr>
              <a:t>A polygenic score uses many gene variants to estimate disease risk.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30352" y="393192"/>
            <a:ext cx="109728" cy="393192"/>
          </a:xfrm>
          <a:prstGeom prst="rect">
            <a:avLst/>
          </a:prstGeom>
          <a:solidFill>
            <a:srgbClr val="276452"/>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786384" y="347472"/>
            <a:ext cx="10835640" cy="512064"/>
          </a:xfrm>
          <a:prstGeom prst="rect">
            <a:avLst/>
          </a:prstGeom>
          <a:noFill/>
        </p:spPr>
        <p:txBody>
          <a:bodyPr wrap="square" lIns="0" rIns="0" tIns="0" bIns="0" anchor="t">
            <a:spAutoFit/>
          </a:bodyPr>
          <a:lstStyle/>
          <a:p>
            <a:pPr algn="l">
              <a:lnSpc>
                <a:spcPts val="3304"/>
              </a:lnSpc>
              <a:spcAft>
                <a:spcPts val="800"/>
              </a:spcAft>
            </a:pPr>
            <a:r>
              <a:rPr sz="2800" b="1">
                <a:solidFill>
                  <a:srgbClr val="24312E"/>
                </a:solidFill>
                <a:latin typeface="Liberation Sans"/>
              </a:rPr>
              <a:t>c. Findings of the research paper</a:t>
            </a:r>
          </a:p>
        </p:txBody>
      </p:sp>
      <p:sp>
        <p:nvSpPr>
          <p:cNvPr id="4" name="TextBox 3"/>
          <p:cNvSpPr txBox="1"/>
          <p:nvPr/>
        </p:nvSpPr>
        <p:spPr>
          <a:xfrm>
            <a:off x="786384" y="905256"/>
            <a:ext cx="10789920" cy="274320"/>
          </a:xfrm>
          <a:prstGeom prst="rect">
            <a:avLst/>
          </a:prstGeom>
          <a:noFill/>
        </p:spPr>
        <p:txBody>
          <a:bodyPr wrap="square" lIns="0" rIns="0" tIns="0" bIns="0" anchor="t">
            <a:spAutoFit/>
          </a:bodyPr>
          <a:lstStyle/>
          <a:p>
            <a:pPr algn="l">
              <a:lnSpc>
                <a:spcPts val="1534"/>
              </a:lnSpc>
              <a:spcAft>
                <a:spcPts val="800"/>
              </a:spcAft>
            </a:pPr>
            <a:r>
              <a:rPr sz="1300" b="0">
                <a:solidFill>
                  <a:srgbClr val="52635D"/>
                </a:solidFill>
                <a:latin typeface="Liberation Sans"/>
              </a:rPr>
              <a:t>The selection strategy changed the predicted benefit</a:t>
            </a:r>
          </a:p>
        </p:txBody>
      </p:sp>
      <p:cxnSp>
        <p:nvCxnSpPr>
          <p:cNvPr id="5" name="Connector 4"/>
          <p:cNvCxnSpPr/>
          <p:nvPr/>
        </p:nvCxnSpPr>
        <p:spPr>
          <a:xfrm>
            <a:off x="548640" y="6373368"/>
            <a:ext cx="11091672" cy="0"/>
          </a:xfrm>
          <a:prstGeom prst="line">
            <a:avLst/>
          </a:prstGeom>
          <a:ln w="12700">
            <a:solidFill>
              <a:srgbClr val="CBDBD2"/>
            </a:solidFill>
          </a:ln>
        </p:spPr>
        <p:style>
          <a:lnRef idx="2">
            <a:schemeClr val="accent1"/>
          </a:lnRef>
          <a:fillRef idx="0">
            <a:schemeClr val="accent1"/>
          </a:fillRef>
          <a:effectRef idx="0">
            <a:schemeClr val="accent1"/>
          </a:effectRef>
          <a:fontRef idx="minor">
            <a:schemeClr val="tx1"/>
          </a:fontRef>
        </p:style>
      </p:cxnSp>
      <p:sp>
        <p:nvSpPr>
          <p:cNvPr id="6" name="TextBox 5"/>
          <p:cNvSpPr txBox="1"/>
          <p:nvPr/>
        </p:nvSpPr>
        <p:spPr>
          <a:xfrm>
            <a:off x="594360" y="6464808"/>
            <a:ext cx="7955279" cy="182880"/>
          </a:xfrm>
          <a:prstGeom prst="rect">
            <a:avLst/>
          </a:prstGeom>
          <a:noFill/>
        </p:spPr>
        <p:txBody>
          <a:bodyPr wrap="square" lIns="0" rIns="0" tIns="0" bIns="0" anchor="t">
            <a:spAutoFit/>
          </a:bodyPr>
          <a:lstStyle/>
          <a:p>
            <a:pPr algn="l">
              <a:lnSpc>
                <a:spcPts val="1121"/>
              </a:lnSpc>
              <a:spcAft>
                <a:spcPts val="800"/>
              </a:spcAft>
            </a:pPr>
            <a:r>
              <a:rPr sz="950" b="0">
                <a:solidFill>
                  <a:srgbClr val="52635D"/>
                </a:solidFill>
                <a:latin typeface="Liberation Sans"/>
              </a:rPr>
              <a:t>Prachi Yadav  |  Fundamental of Genetics</a:t>
            </a:r>
          </a:p>
        </p:txBody>
      </p:sp>
      <p:sp>
        <p:nvSpPr>
          <p:cNvPr id="7" name="TextBox 6"/>
          <p:cNvSpPr txBox="1"/>
          <p:nvPr/>
        </p:nvSpPr>
        <p:spPr>
          <a:xfrm>
            <a:off x="8275320" y="6460236"/>
            <a:ext cx="2880360" cy="210312"/>
          </a:xfrm>
          <a:prstGeom prst="rect">
            <a:avLst/>
          </a:prstGeom>
          <a:noFill/>
        </p:spPr>
        <p:txBody>
          <a:bodyPr wrap="square" lIns="0" rIns="0" tIns="0" bIns="0" anchor="t">
            <a:spAutoFit/>
          </a:bodyPr>
          <a:lstStyle/>
          <a:p>
            <a:pPr algn="r">
              <a:lnSpc>
                <a:spcPts val="1180"/>
              </a:lnSpc>
              <a:spcAft>
                <a:spcPts val="800"/>
              </a:spcAft>
            </a:pPr>
            <a:r>
              <a:rPr sz="1000" b="0">
                <a:solidFill>
                  <a:srgbClr val="52635D"/>
                </a:solidFill>
                <a:latin typeface="Liberation Sans"/>
              </a:rPr>
              <a:t>Sources: [1]</a:t>
            </a:r>
          </a:p>
        </p:txBody>
      </p:sp>
      <p:sp>
        <p:nvSpPr>
          <p:cNvPr id="8" name="TextBox 7"/>
          <p:cNvSpPr txBox="1"/>
          <p:nvPr/>
        </p:nvSpPr>
        <p:spPr>
          <a:xfrm>
            <a:off x="11228832" y="6460236"/>
            <a:ext cx="365760" cy="210312"/>
          </a:xfrm>
          <a:prstGeom prst="rect">
            <a:avLst/>
          </a:prstGeom>
          <a:noFill/>
        </p:spPr>
        <p:txBody>
          <a:bodyPr wrap="square" lIns="0" rIns="0" tIns="0" bIns="0" anchor="t">
            <a:spAutoFit/>
          </a:bodyPr>
          <a:lstStyle/>
          <a:p>
            <a:pPr algn="r">
              <a:lnSpc>
                <a:spcPts val="1180"/>
              </a:lnSpc>
              <a:spcAft>
                <a:spcPts val="800"/>
              </a:spcAft>
            </a:pPr>
            <a:r>
              <a:rPr sz="1000" b="0">
                <a:solidFill>
                  <a:srgbClr val="276452"/>
                </a:solidFill>
                <a:latin typeface="Liberation Sans"/>
              </a:rPr>
              <a:t>8</a:t>
            </a:r>
          </a:p>
        </p:txBody>
      </p:sp>
      <p:sp>
        <p:nvSpPr>
          <p:cNvPr id="9" name="Rectangle 8"/>
          <p:cNvSpPr/>
          <p:nvPr/>
        </p:nvSpPr>
        <p:spPr>
          <a:xfrm>
            <a:off x="658368" y="1508760"/>
            <a:ext cx="5367528" cy="2395728"/>
          </a:xfrm>
          <a:prstGeom prst="rect">
            <a:avLst/>
          </a:prstGeom>
          <a:solidFill>
            <a:srgbClr val="EEF5F1"/>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TextBox 9"/>
          <p:cNvSpPr txBox="1"/>
          <p:nvPr/>
        </p:nvSpPr>
        <p:spPr>
          <a:xfrm>
            <a:off x="859536" y="1673351"/>
            <a:ext cx="4965192" cy="402336"/>
          </a:xfrm>
          <a:prstGeom prst="rect">
            <a:avLst/>
          </a:prstGeom>
          <a:noFill/>
        </p:spPr>
        <p:txBody>
          <a:bodyPr wrap="square" lIns="0" rIns="0" tIns="0" bIns="0" anchor="t">
            <a:spAutoFit/>
          </a:bodyPr>
          <a:lstStyle/>
          <a:p>
            <a:pPr algn="l">
              <a:lnSpc>
                <a:spcPts val="2360"/>
              </a:lnSpc>
              <a:spcAft>
                <a:spcPts val="800"/>
              </a:spcAft>
            </a:pPr>
            <a:r>
              <a:rPr sz="2000" b="1">
                <a:solidFill>
                  <a:srgbClr val="276452"/>
                </a:solidFill>
                <a:latin typeface="Liberation Sans"/>
              </a:rPr>
              <a:t>Exclude very high-risk embryos</a:t>
            </a:r>
          </a:p>
        </p:txBody>
      </p:sp>
      <p:sp>
        <p:nvSpPr>
          <p:cNvPr id="11" name="TextBox 10"/>
          <p:cNvSpPr txBox="1"/>
          <p:nvPr/>
        </p:nvSpPr>
        <p:spPr>
          <a:xfrm>
            <a:off x="859536" y="2112264"/>
            <a:ext cx="4965192" cy="1636776"/>
          </a:xfrm>
          <a:prstGeom prst="rect">
            <a:avLst/>
          </a:prstGeom>
          <a:noFill/>
        </p:spPr>
        <p:txBody>
          <a:bodyPr wrap="square" lIns="0" rIns="0" tIns="0" bIns="0" anchor="t">
            <a:spAutoFit/>
          </a:bodyPr>
          <a:lstStyle/>
          <a:p>
            <a:pPr algn="l">
              <a:lnSpc>
                <a:spcPts val="2477"/>
              </a:lnSpc>
              <a:spcAft>
                <a:spcPts val="800"/>
              </a:spcAft>
            </a:pPr>
            <a:r>
              <a:rPr sz="2100" b="0">
                <a:solidFill>
                  <a:srgbClr val="24312E"/>
                </a:solidFill>
                <a:latin typeface="Liberation Sans"/>
              </a:rPr>
              <a:t>Removing only embryos with very high scores gave relatively small predicted risk reductions.</a:t>
            </a:r>
          </a:p>
        </p:txBody>
      </p:sp>
      <p:sp>
        <p:nvSpPr>
          <p:cNvPr id="12" name="Rectangle 11"/>
          <p:cNvSpPr/>
          <p:nvPr/>
        </p:nvSpPr>
        <p:spPr>
          <a:xfrm>
            <a:off x="6190488" y="1508760"/>
            <a:ext cx="5367528" cy="2395728"/>
          </a:xfrm>
          <a:prstGeom prst="rect">
            <a:avLst/>
          </a:prstGeom>
          <a:solidFill>
            <a:srgbClr val="EEF5F1"/>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6391655" y="1673351"/>
            <a:ext cx="4965192" cy="402336"/>
          </a:xfrm>
          <a:prstGeom prst="rect">
            <a:avLst/>
          </a:prstGeom>
          <a:noFill/>
        </p:spPr>
        <p:txBody>
          <a:bodyPr wrap="square" lIns="0" rIns="0" tIns="0" bIns="0" anchor="t">
            <a:spAutoFit/>
          </a:bodyPr>
          <a:lstStyle/>
          <a:p>
            <a:pPr algn="l">
              <a:lnSpc>
                <a:spcPts val="2360"/>
              </a:lnSpc>
              <a:spcAft>
                <a:spcPts val="800"/>
              </a:spcAft>
            </a:pPr>
            <a:r>
              <a:rPr sz="2000" b="1">
                <a:solidFill>
                  <a:srgbClr val="276452"/>
                </a:solidFill>
                <a:latin typeface="Liberation Sans"/>
              </a:rPr>
              <a:t>Choose the lowest-risk embryo</a:t>
            </a:r>
          </a:p>
        </p:txBody>
      </p:sp>
      <p:sp>
        <p:nvSpPr>
          <p:cNvPr id="14" name="TextBox 13"/>
          <p:cNvSpPr txBox="1"/>
          <p:nvPr/>
        </p:nvSpPr>
        <p:spPr>
          <a:xfrm>
            <a:off x="6391655" y="2112264"/>
            <a:ext cx="4965192" cy="1636776"/>
          </a:xfrm>
          <a:prstGeom prst="rect">
            <a:avLst/>
          </a:prstGeom>
          <a:noFill/>
        </p:spPr>
        <p:txBody>
          <a:bodyPr wrap="square" lIns="0" rIns="0" tIns="0" bIns="0" anchor="t">
            <a:spAutoFit/>
          </a:bodyPr>
          <a:lstStyle/>
          <a:p>
            <a:pPr algn="l">
              <a:lnSpc>
                <a:spcPts val="2477"/>
              </a:lnSpc>
              <a:spcAft>
                <a:spcPts val="800"/>
              </a:spcAft>
            </a:pPr>
            <a:r>
              <a:rPr sz="2100" b="0">
                <a:solidFill>
                  <a:srgbClr val="24312E"/>
                </a:solidFill>
                <a:latin typeface="Liberation Sans"/>
              </a:rPr>
              <a:t>Choosing the lowest-score embryo could give much larger relative risk reductions, if enough viable embryos were available.</a:t>
            </a:r>
          </a:p>
        </p:txBody>
      </p:sp>
      <p:sp>
        <p:nvSpPr>
          <p:cNvPr id="15" name="TextBox 14"/>
          <p:cNvSpPr txBox="1"/>
          <p:nvPr/>
        </p:nvSpPr>
        <p:spPr>
          <a:xfrm>
            <a:off x="749808" y="4297680"/>
            <a:ext cx="10698480" cy="365760"/>
          </a:xfrm>
          <a:prstGeom prst="rect">
            <a:avLst/>
          </a:prstGeom>
          <a:noFill/>
        </p:spPr>
        <p:txBody>
          <a:bodyPr wrap="square" lIns="0" rIns="0" tIns="0" bIns="0" anchor="t">
            <a:spAutoFit/>
          </a:bodyPr>
          <a:lstStyle/>
          <a:p>
            <a:pPr algn="l">
              <a:lnSpc>
                <a:spcPts val="2713"/>
              </a:lnSpc>
              <a:spcAft>
                <a:spcPts val="800"/>
              </a:spcAft>
            </a:pPr>
            <a:r>
              <a:rPr sz="2300" b="1">
                <a:solidFill>
                  <a:srgbClr val="276452"/>
                </a:solidFill>
                <a:latin typeface="Liberation Sans"/>
              </a:rPr>
              <a:t>Why did the results vary?</a:t>
            </a:r>
          </a:p>
        </p:txBody>
      </p:sp>
      <p:sp>
        <p:nvSpPr>
          <p:cNvPr id="16" name="TextBox 15"/>
          <p:cNvSpPr txBox="1"/>
          <p:nvPr/>
        </p:nvSpPr>
        <p:spPr>
          <a:xfrm>
            <a:off x="749808" y="4846320"/>
            <a:ext cx="10698480" cy="685800"/>
          </a:xfrm>
          <a:prstGeom prst="rect">
            <a:avLst/>
          </a:prstGeom>
          <a:noFill/>
        </p:spPr>
        <p:txBody>
          <a:bodyPr wrap="square" lIns="0" rIns="0" tIns="0" bIns="0" anchor="t">
            <a:spAutoFit/>
          </a:bodyPr>
          <a:lstStyle/>
          <a:p>
            <a:pPr algn="l">
              <a:lnSpc>
                <a:spcPts val="2477"/>
              </a:lnSpc>
              <a:spcAft>
                <a:spcPts val="800"/>
              </a:spcAft>
            </a:pPr>
            <a:r>
              <a:rPr sz="2100" b="0">
                <a:solidFill>
                  <a:srgbClr val="24312E"/>
                </a:solidFill>
                <a:latin typeface="Liberation Sans"/>
              </a:rPr>
              <a:t>The benefit changed with score accuracy, embryo number, disease frequency, and the parents’ genetic risks.</a:t>
            </a:r>
          </a:p>
        </p:txBody>
      </p:sp>
      <p:sp>
        <p:nvSpPr>
          <p:cNvPr id="17" name="Rectangle 16"/>
          <p:cNvSpPr/>
          <p:nvPr/>
        </p:nvSpPr>
        <p:spPr>
          <a:xfrm>
            <a:off x="594360" y="5687568"/>
            <a:ext cx="11000232" cy="585216"/>
          </a:xfrm>
          <a:prstGeom prst="rect">
            <a:avLst/>
          </a:prstGeom>
          <a:solidFill>
            <a:srgbClr val="EEF5F1"/>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TextBox 17"/>
          <p:cNvSpPr txBox="1"/>
          <p:nvPr/>
        </p:nvSpPr>
        <p:spPr>
          <a:xfrm>
            <a:off x="786384" y="5806440"/>
            <a:ext cx="10607040" cy="365760"/>
          </a:xfrm>
          <a:prstGeom prst="rect">
            <a:avLst/>
          </a:prstGeom>
          <a:noFill/>
        </p:spPr>
        <p:txBody>
          <a:bodyPr wrap="square" lIns="0" rIns="0" tIns="0" bIns="0" anchor="t">
            <a:spAutoFit/>
          </a:bodyPr>
          <a:lstStyle/>
          <a:p>
            <a:pPr algn="l">
              <a:lnSpc>
                <a:spcPts val="2242"/>
              </a:lnSpc>
              <a:spcAft>
                <a:spcPts val="800"/>
              </a:spcAft>
            </a:pPr>
            <a:r>
              <a:rPr sz="1900" b="1">
                <a:solidFill>
                  <a:srgbClr val="276452"/>
                </a:solidFill>
                <a:latin typeface="Liberation Sans"/>
              </a:rPr>
              <a:t>A relative risk reduction does not mean that the disease risk becomes zero.</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30352" y="393192"/>
            <a:ext cx="109728" cy="393192"/>
          </a:xfrm>
          <a:prstGeom prst="rect">
            <a:avLst/>
          </a:prstGeom>
          <a:solidFill>
            <a:srgbClr val="276452"/>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786384" y="347472"/>
            <a:ext cx="10835640" cy="512064"/>
          </a:xfrm>
          <a:prstGeom prst="rect">
            <a:avLst/>
          </a:prstGeom>
          <a:noFill/>
        </p:spPr>
        <p:txBody>
          <a:bodyPr wrap="square" lIns="0" rIns="0" tIns="0" bIns="0" anchor="t">
            <a:spAutoFit/>
          </a:bodyPr>
          <a:lstStyle/>
          <a:p>
            <a:pPr algn="l">
              <a:lnSpc>
                <a:spcPts val="3304"/>
              </a:lnSpc>
              <a:spcAft>
                <a:spcPts val="800"/>
              </a:spcAft>
            </a:pPr>
            <a:r>
              <a:rPr sz="2800" b="1">
                <a:solidFill>
                  <a:srgbClr val="24312E"/>
                </a:solidFill>
                <a:latin typeface="Liberation Sans"/>
              </a:rPr>
              <a:t>c. Limitations and meaning of the paper</a:t>
            </a:r>
          </a:p>
        </p:txBody>
      </p:sp>
      <p:sp>
        <p:nvSpPr>
          <p:cNvPr id="4" name="TextBox 3"/>
          <p:cNvSpPr txBox="1"/>
          <p:nvPr/>
        </p:nvSpPr>
        <p:spPr>
          <a:xfrm>
            <a:off x="786384" y="905256"/>
            <a:ext cx="10789920" cy="274320"/>
          </a:xfrm>
          <a:prstGeom prst="rect">
            <a:avLst/>
          </a:prstGeom>
          <a:noFill/>
        </p:spPr>
        <p:txBody>
          <a:bodyPr wrap="square" lIns="0" rIns="0" tIns="0" bIns="0" anchor="t">
            <a:spAutoFit/>
          </a:bodyPr>
          <a:lstStyle/>
          <a:p>
            <a:pPr algn="l">
              <a:lnSpc>
                <a:spcPts val="1534"/>
              </a:lnSpc>
              <a:spcAft>
                <a:spcPts val="800"/>
              </a:spcAft>
            </a:pPr>
            <a:r>
              <a:rPr sz="1300" b="0">
                <a:solidFill>
                  <a:srgbClr val="52635D"/>
                </a:solidFill>
                <a:latin typeface="Liberation Sans"/>
              </a:rPr>
              <a:t>What we can and cannot conclude</a:t>
            </a:r>
          </a:p>
        </p:txBody>
      </p:sp>
      <p:cxnSp>
        <p:nvCxnSpPr>
          <p:cNvPr id="5" name="Connector 4"/>
          <p:cNvCxnSpPr/>
          <p:nvPr/>
        </p:nvCxnSpPr>
        <p:spPr>
          <a:xfrm>
            <a:off x="548640" y="6373368"/>
            <a:ext cx="11091672" cy="0"/>
          </a:xfrm>
          <a:prstGeom prst="line">
            <a:avLst/>
          </a:prstGeom>
          <a:ln w="12700">
            <a:solidFill>
              <a:srgbClr val="CBDBD2"/>
            </a:solidFill>
          </a:ln>
        </p:spPr>
        <p:style>
          <a:lnRef idx="2">
            <a:schemeClr val="accent1"/>
          </a:lnRef>
          <a:fillRef idx="0">
            <a:schemeClr val="accent1"/>
          </a:fillRef>
          <a:effectRef idx="0">
            <a:schemeClr val="accent1"/>
          </a:effectRef>
          <a:fontRef idx="minor">
            <a:schemeClr val="tx1"/>
          </a:fontRef>
        </p:style>
      </p:cxnSp>
      <p:sp>
        <p:nvSpPr>
          <p:cNvPr id="6" name="TextBox 5"/>
          <p:cNvSpPr txBox="1"/>
          <p:nvPr/>
        </p:nvSpPr>
        <p:spPr>
          <a:xfrm>
            <a:off x="594360" y="6464808"/>
            <a:ext cx="7955279" cy="182880"/>
          </a:xfrm>
          <a:prstGeom prst="rect">
            <a:avLst/>
          </a:prstGeom>
          <a:noFill/>
        </p:spPr>
        <p:txBody>
          <a:bodyPr wrap="square" lIns="0" rIns="0" tIns="0" bIns="0" anchor="t">
            <a:spAutoFit/>
          </a:bodyPr>
          <a:lstStyle/>
          <a:p>
            <a:pPr algn="l">
              <a:lnSpc>
                <a:spcPts val="1121"/>
              </a:lnSpc>
              <a:spcAft>
                <a:spcPts val="800"/>
              </a:spcAft>
            </a:pPr>
            <a:r>
              <a:rPr sz="950" b="0">
                <a:solidFill>
                  <a:srgbClr val="52635D"/>
                </a:solidFill>
                <a:latin typeface="Liberation Sans"/>
              </a:rPr>
              <a:t>Prachi Yadav  |  Fundamental of Genetics</a:t>
            </a:r>
          </a:p>
        </p:txBody>
      </p:sp>
      <p:sp>
        <p:nvSpPr>
          <p:cNvPr id="7" name="TextBox 6"/>
          <p:cNvSpPr txBox="1"/>
          <p:nvPr/>
        </p:nvSpPr>
        <p:spPr>
          <a:xfrm>
            <a:off x="8275320" y="6460236"/>
            <a:ext cx="2880360" cy="210312"/>
          </a:xfrm>
          <a:prstGeom prst="rect">
            <a:avLst/>
          </a:prstGeom>
          <a:noFill/>
        </p:spPr>
        <p:txBody>
          <a:bodyPr wrap="square" lIns="0" rIns="0" tIns="0" bIns="0" anchor="t">
            <a:spAutoFit/>
          </a:bodyPr>
          <a:lstStyle/>
          <a:p>
            <a:pPr algn="r">
              <a:lnSpc>
                <a:spcPts val="1180"/>
              </a:lnSpc>
              <a:spcAft>
                <a:spcPts val="800"/>
              </a:spcAft>
            </a:pPr>
            <a:r>
              <a:rPr sz="1000" b="0">
                <a:solidFill>
                  <a:srgbClr val="52635D"/>
                </a:solidFill>
                <a:latin typeface="Liberation Sans"/>
              </a:rPr>
              <a:t>Sources: [1]</a:t>
            </a:r>
          </a:p>
        </p:txBody>
      </p:sp>
      <p:sp>
        <p:nvSpPr>
          <p:cNvPr id="8" name="TextBox 7"/>
          <p:cNvSpPr txBox="1"/>
          <p:nvPr/>
        </p:nvSpPr>
        <p:spPr>
          <a:xfrm>
            <a:off x="11228832" y="6460236"/>
            <a:ext cx="365760" cy="210312"/>
          </a:xfrm>
          <a:prstGeom prst="rect">
            <a:avLst/>
          </a:prstGeom>
          <a:noFill/>
        </p:spPr>
        <p:txBody>
          <a:bodyPr wrap="square" lIns="0" rIns="0" tIns="0" bIns="0" anchor="t">
            <a:spAutoFit/>
          </a:bodyPr>
          <a:lstStyle/>
          <a:p>
            <a:pPr algn="r">
              <a:lnSpc>
                <a:spcPts val="1180"/>
              </a:lnSpc>
              <a:spcAft>
                <a:spcPts val="800"/>
              </a:spcAft>
            </a:pPr>
            <a:r>
              <a:rPr sz="1000" b="0">
                <a:solidFill>
                  <a:srgbClr val="276452"/>
                </a:solidFill>
                <a:latin typeface="Liberation Sans"/>
              </a:rPr>
              <a:t>9</a:t>
            </a:r>
          </a:p>
        </p:txBody>
      </p:sp>
      <p:sp>
        <p:nvSpPr>
          <p:cNvPr id="9" name="Oval 8"/>
          <p:cNvSpPr/>
          <p:nvPr/>
        </p:nvSpPr>
        <p:spPr>
          <a:xfrm>
            <a:off x="786384" y="1572768"/>
            <a:ext cx="77724" cy="77724"/>
          </a:xfrm>
          <a:prstGeom prst="ellipse">
            <a:avLst/>
          </a:prstGeom>
          <a:solidFill>
            <a:srgbClr val="276452"/>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TextBox 9"/>
          <p:cNvSpPr txBox="1"/>
          <p:nvPr/>
        </p:nvSpPr>
        <p:spPr>
          <a:xfrm>
            <a:off x="1014983" y="1481328"/>
            <a:ext cx="10360152" cy="841248"/>
          </a:xfrm>
          <a:prstGeom prst="rect">
            <a:avLst/>
          </a:prstGeom>
          <a:noFill/>
        </p:spPr>
        <p:txBody>
          <a:bodyPr wrap="square" lIns="0" rIns="0" tIns="0" bIns="0" anchor="t">
            <a:spAutoFit/>
          </a:bodyPr>
          <a:lstStyle/>
          <a:p>
            <a:pPr algn="l">
              <a:lnSpc>
                <a:spcPts val="2595"/>
              </a:lnSpc>
              <a:spcAft>
                <a:spcPts val="800"/>
              </a:spcAft>
            </a:pPr>
            <a:r>
              <a:rPr sz="2200" b="0">
                <a:solidFill>
                  <a:srgbClr val="24312E"/>
                </a:solidFill>
                <a:latin typeface="Liberation Sans"/>
              </a:rPr>
              <a:t>This was a modelling study, not a trial following children after embryo screening.</a:t>
            </a:r>
          </a:p>
        </p:txBody>
      </p:sp>
      <p:sp>
        <p:nvSpPr>
          <p:cNvPr id="11" name="Oval 10"/>
          <p:cNvSpPr/>
          <p:nvPr/>
        </p:nvSpPr>
        <p:spPr>
          <a:xfrm>
            <a:off x="786384" y="2505456"/>
            <a:ext cx="77724" cy="77724"/>
          </a:xfrm>
          <a:prstGeom prst="ellipse">
            <a:avLst/>
          </a:prstGeom>
          <a:solidFill>
            <a:srgbClr val="276452"/>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1014983" y="2414016"/>
            <a:ext cx="10360152" cy="841248"/>
          </a:xfrm>
          <a:prstGeom prst="rect">
            <a:avLst/>
          </a:prstGeom>
          <a:noFill/>
        </p:spPr>
        <p:txBody>
          <a:bodyPr wrap="square" lIns="0" rIns="0" tIns="0" bIns="0" anchor="t">
            <a:spAutoFit/>
          </a:bodyPr>
          <a:lstStyle/>
          <a:p>
            <a:pPr algn="l">
              <a:lnSpc>
                <a:spcPts val="2595"/>
              </a:lnSpc>
              <a:spcAft>
                <a:spcPts val="800"/>
              </a:spcAft>
            </a:pPr>
            <a:r>
              <a:rPr sz="2200" b="0">
                <a:solidFill>
                  <a:srgbClr val="24312E"/>
                </a:solidFill>
                <a:latin typeface="Liberation Sans"/>
              </a:rPr>
              <a:t>Predictions depended on accurate risk scores and enough viable embryos.</a:t>
            </a:r>
          </a:p>
        </p:txBody>
      </p:sp>
      <p:sp>
        <p:nvSpPr>
          <p:cNvPr id="13" name="Oval 12"/>
          <p:cNvSpPr/>
          <p:nvPr/>
        </p:nvSpPr>
        <p:spPr>
          <a:xfrm>
            <a:off x="786384" y="3438144"/>
            <a:ext cx="77724" cy="77724"/>
          </a:xfrm>
          <a:prstGeom prst="ellipse">
            <a:avLst/>
          </a:prstGeom>
          <a:solidFill>
            <a:srgbClr val="276452"/>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TextBox 13"/>
          <p:cNvSpPr txBox="1"/>
          <p:nvPr/>
        </p:nvSpPr>
        <p:spPr>
          <a:xfrm>
            <a:off x="1014983" y="3346704"/>
            <a:ext cx="10360152" cy="841248"/>
          </a:xfrm>
          <a:prstGeom prst="rect">
            <a:avLst/>
          </a:prstGeom>
          <a:noFill/>
        </p:spPr>
        <p:txBody>
          <a:bodyPr wrap="square" lIns="0" rIns="0" tIns="0" bIns="0" anchor="t">
            <a:spAutoFit/>
          </a:bodyPr>
          <a:lstStyle/>
          <a:p>
            <a:pPr algn="l">
              <a:lnSpc>
                <a:spcPts val="2595"/>
              </a:lnSpc>
              <a:spcAft>
                <a:spcPts val="800"/>
              </a:spcAft>
            </a:pPr>
            <a:r>
              <a:rPr sz="2200" b="0">
                <a:solidFill>
                  <a:srgbClr val="24312E"/>
                </a:solidFill>
                <a:latin typeface="Liberation Sans"/>
              </a:rPr>
              <a:t>The model focused on one disease at a time; results for individual couples could differ.</a:t>
            </a:r>
          </a:p>
        </p:txBody>
      </p:sp>
      <p:sp>
        <p:nvSpPr>
          <p:cNvPr id="15" name="Rectangle 14"/>
          <p:cNvSpPr/>
          <p:nvPr/>
        </p:nvSpPr>
        <p:spPr>
          <a:xfrm>
            <a:off x="685800" y="4526280"/>
            <a:ext cx="10808208" cy="1508760"/>
          </a:xfrm>
          <a:prstGeom prst="rect">
            <a:avLst/>
          </a:prstGeom>
          <a:solidFill>
            <a:srgbClr val="EEF5F1"/>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TextBox 15"/>
          <p:cNvSpPr txBox="1"/>
          <p:nvPr/>
        </p:nvSpPr>
        <p:spPr>
          <a:xfrm>
            <a:off x="886968" y="4690872"/>
            <a:ext cx="10405872" cy="402336"/>
          </a:xfrm>
          <a:prstGeom prst="rect">
            <a:avLst/>
          </a:prstGeom>
          <a:noFill/>
        </p:spPr>
        <p:txBody>
          <a:bodyPr wrap="square" lIns="0" rIns="0" tIns="0" bIns="0" anchor="t">
            <a:spAutoFit/>
          </a:bodyPr>
          <a:lstStyle/>
          <a:p>
            <a:pPr algn="l">
              <a:lnSpc>
                <a:spcPts val="2360"/>
              </a:lnSpc>
              <a:spcAft>
                <a:spcPts val="800"/>
              </a:spcAft>
            </a:pPr>
            <a:r>
              <a:rPr sz="2000" b="1">
                <a:solidFill>
                  <a:srgbClr val="276452"/>
                </a:solidFill>
                <a:latin typeface="Liberation Sans"/>
              </a:rPr>
              <a:t>What this means for our topic</a:t>
            </a:r>
          </a:p>
        </p:txBody>
      </p:sp>
      <p:sp>
        <p:nvSpPr>
          <p:cNvPr id="17" name="TextBox 16"/>
          <p:cNvSpPr txBox="1"/>
          <p:nvPr/>
        </p:nvSpPr>
        <p:spPr>
          <a:xfrm>
            <a:off x="886968" y="5129784"/>
            <a:ext cx="10405872" cy="749808"/>
          </a:xfrm>
          <a:prstGeom prst="rect">
            <a:avLst/>
          </a:prstGeom>
          <a:noFill/>
        </p:spPr>
        <p:txBody>
          <a:bodyPr wrap="square" lIns="0" rIns="0" tIns="0" bIns="0" anchor="t">
            <a:spAutoFit/>
          </a:bodyPr>
          <a:lstStyle/>
          <a:p>
            <a:pPr algn="l">
              <a:lnSpc>
                <a:spcPts val="2124"/>
              </a:lnSpc>
              <a:spcAft>
                <a:spcPts val="800"/>
              </a:spcAft>
            </a:pPr>
            <a:r>
              <a:rPr sz="1800" b="0">
                <a:solidFill>
                  <a:srgbClr val="24312E"/>
                </a:solidFill>
                <a:latin typeface="Liberation Sans"/>
              </a:rPr>
              <a:t>The way embryos are ranked matters. But this paper does not prove that screening guarantees a healthy child or that every use is ethically acceptable.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30352" y="393192"/>
            <a:ext cx="109728" cy="393192"/>
          </a:xfrm>
          <a:prstGeom prst="rect">
            <a:avLst/>
          </a:prstGeom>
          <a:solidFill>
            <a:srgbClr val="276452"/>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786384" y="347472"/>
            <a:ext cx="10835640" cy="512064"/>
          </a:xfrm>
          <a:prstGeom prst="rect">
            <a:avLst/>
          </a:prstGeom>
          <a:noFill/>
        </p:spPr>
        <p:txBody>
          <a:bodyPr wrap="square" lIns="0" rIns="0" tIns="0" bIns="0" anchor="t">
            <a:spAutoFit/>
          </a:bodyPr>
          <a:lstStyle/>
          <a:p>
            <a:pPr algn="l">
              <a:lnSpc>
                <a:spcPts val="3304"/>
              </a:lnSpc>
              <a:spcAft>
                <a:spcPts val="800"/>
              </a:spcAft>
            </a:pPr>
            <a:r>
              <a:rPr sz="2800" b="1">
                <a:solidFill>
                  <a:srgbClr val="24312E"/>
                </a:solidFill>
                <a:latin typeface="Liberation Sans"/>
              </a:rPr>
              <a:t>d. Benefits and limitations</a:t>
            </a:r>
          </a:p>
        </p:txBody>
      </p:sp>
      <p:sp>
        <p:nvSpPr>
          <p:cNvPr id="4" name="TextBox 3"/>
          <p:cNvSpPr txBox="1"/>
          <p:nvPr/>
        </p:nvSpPr>
        <p:spPr>
          <a:xfrm>
            <a:off x="786384" y="905256"/>
            <a:ext cx="10789920" cy="274320"/>
          </a:xfrm>
          <a:prstGeom prst="rect">
            <a:avLst/>
          </a:prstGeom>
          <a:noFill/>
        </p:spPr>
        <p:txBody>
          <a:bodyPr wrap="square" lIns="0" rIns="0" tIns="0" bIns="0" anchor="t">
            <a:spAutoFit/>
          </a:bodyPr>
          <a:lstStyle/>
          <a:p>
            <a:pPr algn="l">
              <a:lnSpc>
                <a:spcPts val="1534"/>
              </a:lnSpc>
              <a:spcAft>
                <a:spcPts val="800"/>
              </a:spcAft>
            </a:pPr>
            <a:r>
              <a:rPr sz="1300" b="0">
                <a:solidFill>
                  <a:srgbClr val="52635D"/>
                </a:solidFill>
                <a:latin typeface="Liberation Sans"/>
              </a:rPr>
              <a:t>Possible benefits depend on the practice and the evidence</a:t>
            </a:r>
          </a:p>
        </p:txBody>
      </p:sp>
      <p:cxnSp>
        <p:nvCxnSpPr>
          <p:cNvPr id="5" name="Connector 4"/>
          <p:cNvCxnSpPr/>
          <p:nvPr/>
        </p:nvCxnSpPr>
        <p:spPr>
          <a:xfrm>
            <a:off x="548640" y="6373368"/>
            <a:ext cx="11091672" cy="0"/>
          </a:xfrm>
          <a:prstGeom prst="line">
            <a:avLst/>
          </a:prstGeom>
          <a:ln w="12700">
            <a:solidFill>
              <a:srgbClr val="CBDBD2"/>
            </a:solidFill>
          </a:ln>
        </p:spPr>
        <p:style>
          <a:lnRef idx="2">
            <a:schemeClr val="accent1"/>
          </a:lnRef>
          <a:fillRef idx="0">
            <a:schemeClr val="accent1"/>
          </a:fillRef>
          <a:effectRef idx="0">
            <a:schemeClr val="accent1"/>
          </a:effectRef>
          <a:fontRef idx="minor">
            <a:schemeClr val="tx1"/>
          </a:fontRef>
        </p:style>
      </p:cxnSp>
      <p:sp>
        <p:nvSpPr>
          <p:cNvPr id="6" name="TextBox 5"/>
          <p:cNvSpPr txBox="1"/>
          <p:nvPr/>
        </p:nvSpPr>
        <p:spPr>
          <a:xfrm>
            <a:off x="594360" y="6464808"/>
            <a:ext cx="7955279" cy="182880"/>
          </a:xfrm>
          <a:prstGeom prst="rect">
            <a:avLst/>
          </a:prstGeom>
          <a:noFill/>
        </p:spPr>
        <p:txBody>
          <a:bodyPr wrap="square" lIns="0" rIns="0" tIns="0" bIns="0" anchor="t">
            <a:spAutoFit/>
          </a:bodyPr>
          <a:lstStyle/>
          <a:p>
            <a:pPr algn="l">
              <a:lnSpc>
                <a:spcPts val="1121"/>
              </a:lnSpc>
              <a:spcAft>
                <a:spcPts val="800"/>
              </a:spcAft>
            </a:pPr>
            <a:r>
              <a:rPr sz="950" b="0">
                <a:solidFill>
                  <a:srgbClr val="52635D"/>
                </a:solidFill>
                <a:latin typeface="Liberation Sans"/>
              </a:rPr>
              <a:t>Prachi Yadav  |  Fundamental of Genetics</a:t>
            </a:r>
          </a:p>
        </p:txBody>
      </p:sp>
      <p:sp>
        <p:nvSpPr>
          <p:cNvPr id="7" name="TextBox 6"/>
          <p:cNvSpPr txBox="1"/>
          <p:nvPr/>
        </p:nvSpPr>
        <p:spPr>
          <a:xfrm>
            <a:off x="8275320" y="6460236"/>
            <a:ext cx="2880360" cy="210312"/>
          </a:xfrm>
          <a:prstGeom prst="rect">
            <a:avLst/>
          </a:prstGeom>
          <a:noFill/>
        </p:spPr>
        <p:txBody>
          <a:bodyPr wrap="square" lIns="0" rIns="0" tIns="0" bIns="0" anchor="t">
            <a:spAutoFit/>
          </a:bodyPr>
          <a:lstStyle/>
          <a:p>
            <a:pPr algn="r">
              <a:lnSpc>
                <a:spcPts val="1180"/>
              </a:lnSpc>
              <a:spcAft>
                <a:spcPts val="800"/>
              </a:spcAft>
            </a:pPr>
            <a:r>
              <a:rPr sz="1000" b="0">
                <a:solidFill>
                  <a:srgbClr val="52635D"/>
                </a:solidFill>
                <a:latin typeface="Liberation Sans"/>
              </a:rPr>
              <a:t>Sources: [1], [3]</a:t>
            </a:r>
          </a:p>
        </p:txBody>
      </p:sp>
      <p:sp>
        <p:nvSpPr>
          <p:cNvPr id="8" name="TextBox 7"/>
          <p:cNvSpPr txBox="1"/>
          <p:nvPr/>
        </p:nvSpPr>
        <p:spPr>
          <a:xfrm>
            <a:off x="11228832" y="6460236"/>
            <a:ext cx="365760" cy="210312"/>
          </a:xfrm>
          <a:prstGeom prst="rect">
            <a:avLst/>
          </a:prstGeom>
          <a:noFill/>
        </p:spPr>
        <p:txBody>
          <a:bodyPr wrap="square" lIns="0" rIns="0" tIns="0" bIns="0" anchor="t">
            <a:spAutoFit/>
          </a:bodyPr>
          <a:lstStyle/>
          <a:p>
            <a:pPr algn="r">
              <a:lnSpc>
                <a:spcPts val="1180"/>
              </a:lnSpc>
              <a:spcAft>
                <a:spcPts val="800"/>
              </a:spcAft>
            </a:pPr>
            <a:r>
              <a:rPr sz="1000" b="0">
                <a:solidFill>
                  <a:srgbClr val="276452"/>
                </a:solidFill>
                <a:latin typeface="Liberation Sans"/>
              </a:rPr>
              <a:t>10</a:t>
            </a:r>
          </a:p>
        </p:txBody>
      </p:sp>
      <p:sp>
        <p:nvSpPr>
          <p:cNvPr id="9" name="Rectangle 8"/>
          <p:cNvSpPr/>
          <p:nvPr/>
        </p:nvSpPr>
        <p:spPr>
          <a:xfrm>
            <a:off x="658368" y="1426464"/>
            <a:ext cx="5367528" cy="4233672"/>
          </a:xfrm>
          <a:prstGeom prst="rect">
            <a:avLst/>
          </a:prstGeom>
          <a:solidFill>
            <a:srgbClr val="EEF5F1"/>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TextBox 9"/>
          <p:cNvSpPr txBox="1"/>
          <p:nvPr/>
        </p:nvSpPr>
        <p:spPr>
          <a:xfrm>
            <a:off x="859536" y="1591056"/>
            <a:ext cx="4965192" cy="402336"/>
          </a:xfrm>
          <a:prstGeom prst="rect">
            <a:avLst/>
          </a:prstGeom>
          <a:noFill/>
        </p:spPr>
        <p:txBody>
          <a:bodyPr wrap="square" lIns="0" rIns="0" tIns="0" bIns="0" anchor="t">
            <a:spAutoFit/>
          </a:bodyPr>
          <a:lstStyle/>
          <a:p>
            <a:pPr algn="l">
              <a:lnSpc>
                <a:spcPts val="2360"/>
              </a:lnSpc>
              <a:spcAft>
                <a:spcPts val="800"/>
              </a:spcAft>
            </a:pPr>
            <a:r>
              <a:rPr sz="2000" b="1">
                <a:solidFill>
                  <a:srgbClr val="276452"/>
                </a:solidFill>
                <a:latin typeface="Liberation Sans"/>
              </a:rPr>
              <a:t>Possible benefits</a:t>
            </a:r>
          </a:p>
        </p:txBody>
      </p:sp>
      <p:sp>
        <p:nvSpPr>
          <p:cNvPr id="11" name="TextBox 10"/>
          <p:cNvSpPr txBox="1"/>
          <p:nvPr/>
        </p:nvSpPr>
        <p:spPr>
          <a:xfrm>
            <a:off x="859536" y="2029968"/>
            <a:ext cx="4965192" cy="3474720"/>
          </a:xfrm>
          <a:prstGeom prst="rect">
            <a:avLst/>
          </a:prstGeom>
          <a:noFill/>
        </p:spPr>
        <p:txBody>
          <a:bodyPr wrap="square" lIns="0" rIns="0" tIns="0" bIns="0" anchor="t">
            <a:spAutoFit/>
          </a:bodyPr>
          <a:lstStyle/>
          <a:p>
            <a:pPr algn="l">
              <a:lnSpc>
                <a:spcPts val="2360"/>
              </a:lnSpc>
              <a:spcAft>
                <a:spcPts val="800"/>
              </a:spcAft>
            </a:pPr>
            <a:r>
              <a:rPr sz="2000" b="0">
                <a:solidFill>
                  <a:srgbClr val="24312E"/>
                </a:solidFill>
                <a:latin typeface="Liberation Sans"/>
              </a:rPr>
              <a:t>• Helps families understand inherited risks.
• May reduce the chance of a serious single-gene condition.
• Can give families more reproductive choices.
• Can support informed planning and counselling.</a:t>
            </a:r>
          </a:p>
        </p:txBody>
      </p:sp>
      <p:sp>
        <p:nvSpPr>
          <p:cNvPr id="12" name="Rectangle 11"/>
          <p:cNvSpPr/>
          <p:nvPr/>
        </p:nvSpPr>
        <p:spPr>
          <a:xfrm>
            <a:off x="6190488" y="1426464"/>
            <a:ext cx="5367528" cy="4233672"/>
          </a:xfrm>
          <a:prstGeom prst="rect">
            <a:avLst/>
          </a:prstGeom>
          <a:solidFill>
            <a:srgbClr val="EEF5F1"/>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6391655" y="1591056"/>
            <a:ext cx="4965192" cy="402336"/>
          </a:xfrm>
          <a:prstGeom prst="rect">
            <a:avLst/>
          </a:prstGeom>
          <a:noFill/>
        </p:spPr>
        <p:txBody>
          <a:bodyPr wrap="square" lIns="0" rIns="0" tIns="0" bIns="0" anchor="t">
            <a:spAutoFit/>
          </a:bodyPr>
          <a:lstStyle/>
          <a:p>
            <a:pPr algn="l">
              <a:lnSpc>
                <a:spcPts val="2360"/>
              </a:lnSpc>
              <a:spcAft>
                <a:spcPts val="800"/>
              </a:spcAft>
            </a:pPr>
            <a:r>
              <a:rPr sz="2000" b="1">
                <a:solidFill>
                  <a:srgbClr val="276452"/>
                </a:solidFill>
                <a:latin typeface="Liberation Sans"/>
              </a:rPr>
              <a:t>Limitations</a:t>
            </a:r>
          </a:p>
        </p:txBody>
      </p:sp>
      <p:sp>
        <p:nvSpPr>
          <p:cNvPr id="14" name="TextBox 13"/>
          <p:cNvSpPr txBox="1"/>
          <p:nvPr/>
        </p:nvSpPr>
        <p:spPr>
          <a:xfrm>
            <a:off x="6391655" y="2029968"/>
            <a:ext cx="4965192" cy="3474720"/>
          </a:xfrm>
          <a:prstGeom prst="rect">
            <a:avLst/>
          </a:prstGeom>
          <a:noFill/>
        </p:spPr>
        <p:txBody>
          <a:bodyPr wrap="square" lIns="0" rIns="0" tIns="0" bIns="0" anchor="t">
            <a:spAutoFit/>
          </a:bodyPr>
          <a:lstStyle/>
          <a:p>
            <a:pPr algn="l">
              <a:lnSpc>
                <a:spcPts val="2360"/>
              </a:lnSpc>
              <a:spcAft>
                <a:spcPts val="800"/>
              </a:spcAft>
            </a:pPr>
            <a:r>
              <a:rPr sz="2000" b="0">
                <a:solidFill>
                  <a:srgbClr val="24312E"/>
                </a:solidFill>
                <a:latin typeface="Liberation Sans"/>
              </a:rPr>
              <a:t>• Many traits depend on genes and environment.
• Prediction does not guarantee health.
• IVF can be costly and physically demanding.
• Few embryos, test errors, and unequal access can limit benefit.</a:t>
            </a:r>
          </a:p>
        </p:txBody>
      </p:sp>
      <p:sp>
        <p:nvSpPr>
          <p:cNvPr id="15" name="TextBox 14"/>
          <p:cNvSpPr txBox="1"/>
          <p:nvPr/>
        </p:nvSpPr>
        <p:spPr>
          <a:xfrm>
            <a:off x="786384" y="5925312"/>
            <a:ext cx="10698480" cy="301752"/>
          </a:xfrm>
          <a:prstGeom prst="rect">
            <a:avLst/>
          </a:prstGeom>
          <a:noFill/>
        </p:spPr>
        <p:txBody>
          <a:bodyPr wrap="square" lIns="0" rIns="0" tIns="0" bIns="0" anchor="t">
            <a:spAutoFit/>
          </a:bodyPr>
          <a:lstStyle/>
          <a:p>
            <a:pPr algn="l">
              <a:lnSpc>
                <a:spcPts val="2159"/>
              </a:lnSpc>
              <a:spcAft>
                <a:spcPts val="800"/>
              </a:spcAft>
            </a:pPr>
            <a:r>
              <a:rPr sz="1830" b="1">
                <a:solidFill>
                  <a:srgbClr val="276452"/>
                </a:solidFill>
                <a:latin typeface="Liberation Sans"/>
              </a:rPr>
              <a:t>Strongest case: voluntary, reliable testing for a well-understood serious inherited condition.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30352" y="393192"/>
            <a:ext cx="109728" cy="393192"/>
          </a:xfrm>
          <a:prstGeom prst="rect">
            <a:avLst/>
          </a:prstGeom>
          <a:solidFill>
            <a:srgbClr val="276452"/>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786384" y="347472"/>
            <a:ext cx="10835640" cy="512064"/>
          </a:xfrm>
          <a:prstGeom prst="rect">
            <a:avLst/>
          </a:prstGeom>
          <a:noFill/>
        </p:spPr>
        <p:txBody>
          <a:bodyPr wrap="square" lIns="0" rIns="0" tIns="0" bIns="0" anchor="t">
            <a:spAutoFit/>
          </a:bodyPr>
          <a:lstStyle/>
          <a:p>
            <a:pPr algn="l">
              <a:lnSpc>
                <a:spcPts val="3304"/>
              </a:lnSpc>
              <a:spcAft>
                <a:spcPts val="800"/>
              </a:spcAft>
            </a:pPr>
            <a:r>
              <a:rPr sz="2800" b="1">
                <a:solidFill>
                  <a:srgbClr val="24312E"/>
                </a:solidFill>
                <a:latin typeface="Liberation Sans"/>
              </a:rPr>
              <a:t>e. Ethical implications</a:t>
            </a:r>
          </a:p>
        </p:txBody>
      </p:sp>
      <p:sp>
        <p:nvSpPr>
          <p:cNvPr id="4" name="TextBox 3"/>
          <p:cNvSpPr txBox="1"/>
          <p:nvPr/>
        </p:nvSpPr>
        <p:spPr>
          <a:xfrm>
            <a:off x="786384" y="905256"/>
            <a:ext cx="10789920" cy="274320"/>
          </a:xfrm>
          <a:prstGeom prst="rect">
            <a:avLst/>
          </a:prstGeom>
          <a:noFill/>
        </p:spPr>
        <p:txBody>
          <a:bodyPr wrap="square" lIns="0" rIns="0" tIns="0" bIns="0" anchor="t">
            <a:spAutoFit/>
          </a:bodyPr>
          <a:lstStyle/>
          <a:p>
            <a:pPr algn="l">
              <a:lnSpc>
                <a:spcPts val="1534"/>
              </a:lnSpc>
              <a:spcAft>
                <a:spcPts val="800"/>
              </a:spcAft>
            </a:pPr>
            <a:r>
              <a:rPr sz="1300" b="0">
                <a:solidFill>
                  <a:srgbClr val="52635D"/>
                </a:solidFill>
                <a:latin typeface="Liberation Sans"/>
              </a:rPr>
              <a:t>Scientific ability does not automatically make an action right</a:t>
            </a:r>
          </a:p>
        </p:txBody>
      </p:sp>
      <p:cxnSp>
        <p:nvCxnSpPr>
          <p:cNvPr id="5" name="Connector 4"/>
          <p:cNvCxnSpPr/>
          <p:nvPr/>
        </p:nvCxnSpPr>
        <p:spPr>
          <a:xfrm>
            <a:off x="548640" y="6373368"/>
            <a:ext cx="11091672" cy="0"/>
          </a:xfrm>
          <a:prstGeom prst="line">
            <a:avLst/>
          </a:prstGeom>
          <a:ln w="12700">
            <a:solidFill>
              <a:srgbClr val="CBDBD2"/>
            </a:solidFill>
          </a:ln>
        </p:spPr>
        <p:style>
          <a:lnRef idx="2">
            <a:schemeClr val="accent1"/>
          </a:lnRef>
          <a:fillRef idx="0">
            <a:schemeClr val="accent1"/>
          </a:fillRef>
          <a:effectRef idx="0">
            <a:schemeClr val="accent1"/>
          </a:effectRef>
          <a:fontRef idx="minor">
            <a:schemeClr val="tx1"/>
          </a:fontRef>
        </p:style>
      </p:cxnSp>
      <p:sp>
        <p:nvSpPr>
          <p:cNvPr id="6" name="TextBox 5"/>
          <p:cNvSpPr txBox="1"/>
          <p:nvPr/>
        </p:nvSpPr>
        <p:spPr>
          <a:xfrm>
            <a:off x="594360" y="6464808"/>
            <a:ext cx="7955279" cy="182880"/>
          </a:xfrm>
          <a:prstGeom prst="rect">
            <a:avLst/>
          </a:prstGeom>
          <a:noFill/>
        </p:spPr>
        <p:txBody>
          <a:bodyPr wrap="square" lIns="0" rIns="0" tIns="0" bIns="0" anchor="t">
            <a:spAutoFit/>
          </a:bodyPr>
          <a:lstStyle/>
          <a:p>
            <a:pPr algn="l">
              <a:lnSpc>
                <a:spcPts val="1121"/>
              </a:lnSpc>
              <a:spcAft>
                <a:spcPts val="800"/>
              </a:spcAft>
            </a:pPr>
            <a:r>
              <a:rPr sz="950" b="0">
                <a:solidFill>
                  <a:srgbClr val="52635D"/>
                </a:solidFill>
                <a:latin typeface="Liberation Sans"/>
              </a:rPr>
              <a:t>Prachi Yadav  |  Fundamental of Genetics</a:t>
            </a:r>
          </a:p>
        </p:txBody>
      </p:sp>
      <p:sp>
        <p:nvSpPr>
          <p:cNvPr id="7" name="TextBox 6"/>
          <p:cNvSpPr txBox="1"/>
          <p:nvPr/>
        </p:nvSpPr>
        <p:spPr>
          <a:xfrm>
            <a:off x="8275320" y="6460236"/>
            <a:ext cx="2880360" cy="210312"/>
          </a:xfrm>
          <a:prstGeom prst="rect">
            <a:avLst/>
          </a:prstGeom>
          <a:noFill/>
        </p:spPr>
        <p:txBody>
          <a:bodyPr wrap="square" lIns="0" rIns="0" tIns="0" bIns="0" anchor="t">
            <a:spAutoFit/>
          </a:bodyPr>
          <a:lstStyle/>
          <a:p>
            <a:pPr algn="r">
              <a:lnSpc>
                <a:spcPts val="1180"/>
              </a:lnSpc>
              <a:spcAft>
                <a:spcPts val="800"/>
              </a:spcAft>
            </a:pPr>
            <a:r>
              <a:rPr sz="1000" b="0">
                <a:solidFill>
                  <a:srgbClr val="52635D"/>
                </a:solidFill>
                <a:latin typeface="Liberation Sans"/>
              </a:rPr>
              <a:t>Sources: [3], [4], [6]</a:t>
            </a:r>
          </a:p>
        </p:txBody>
      </p:sp>
      <p:sp>
        <p:nvSpPr>
          <p:cNvPr id="8" name="TextBox 7"/>
          <p:cNvSpPr txBox="1"/>
          <p:nvPr/>
        </p:nvSpPr>
        <p:spPr>
          <a:xfrm>
            <a:off x="11228832" y="6460236"/>
            <a:ext cx="365760" cy="210312"/>
          </a:xfrm>
          <a:prstGeom prst="rect">
            <a:avLst/>
          </a:prstGeom>
          <a:noFill/>
        </p:spPr>
        <p:txBody>
          <a:bodyPr wrap="square" lIns="0" rIns="0" tIns="0" bIns="0" anchor="t">
            <a:spAutoFit/>
          </a:bodyPr>
          <a:lstStyle/>
          <a:p>
            <a:pPr algn="r">
              <a:lnSpc>
                <a:spcPts val="1180"/>
              </a:lnSpc>
              <a:spcAft>
                <a:spcPts val="800"/>
              </a:spcAft>
            </a:pPr>
            <a:r>
              <a:rPr sz="1000" b="0">
                <a:solidFill>
                  <a:srgbClr val="276452"/>
                </a:solidFill>
                <a:latin typeface="Liberation Sans"/>
              </a:rPr>
              <a:t>11</a:t>
            </a:r>
          </a:p>
        </p:txBody>
      </p:sp>
      <p:sp>
        <p:nvSpPr>
          <p:cNvPr id="9" name="Oval 8"/>
          <p:cNvSpPr/>
          <p:nvPr/>
        </p:nvSpPr>
        <p:spPr>
          <a:xfrm>
            <a:off x="777240" y="1508760"/>
            <a:ext cx="77724" cy="77724"/>
          </a:xfrm>
          <a:prstGeom prst="ellipse">
            <a:avLst/>
          </a:prstGeom>
          <a:solidFill>
            <a:srgbClr val="276452"/>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TextBox 9"/>
          <p:cNvSpPr txBox="1"/>
          <p:nvPr/>
        </p:nvSpPr>
        <p:spPr>
          <a:xfrm>
            <a:off x="1005840" y="1417320"/>
            <a:ext cx="10378440" cy="594360"/>
          </a:xfrm>
          <a:prstGeom prst="rect">
            <a:avLst/>
          </a:prstGeom>
          <a:noFill/>
        </p:spPr>
        <p:txBody>
          <a:bodyPr wrap="square" lIns="0" rIns="0" tIns="0" bIns="0" anchor="t">
            <a:spAutoFit/>
          </a:bodyPr>
          <a:lstStyle/>
          <a:p>
            <a:pPr algn="l">
              <a:lnSpc>
                <a:spcPts val="2595"/>
              </a:lnSpc>
              <a:spcAft>
                <a:spcPts val="800"/>
              </a:spcAft>
            </a:pPr>
            <a:r>
              <a:rPr sz="2200" b="0">
                <a:solidFill>
                  <a:srgbClr val="24312E"/>
                </a:solidFill>
                <a:latin typeface="Liberation Sans"/>
              </a:rPr>
              <a:t>Consent: People must be free to accept or refuse testing.</a:t>
            </a:r>
          </a:p>
        </p:txBody>
      </p:sp>
      <p:sp>
        <p:nvSpPr>
          <p:cNvPr id="11" name="Oval 10"/>
          <p:cNvSpPr/>
          <p:nvPr/>
        </p:nvSpPr>
        <p:spPr>
          <a:xfrm>
            <a:off x="777240" y="2194560"/>
            <a:ext cx="77724" cy="77724"/>
          </a:xfrm>
          <a:prstGeom prst="ellipse">
            <a:avLst/>
          </a:prstGeom>
          <a:solidFill>
            <a:srgbClr val="276452"/>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1005840" y="2103120"/>
            <a:ext cx="10378440" cy="594360"/>
          </a:xfrm>
          <a:prstGeom prst="rect">
            <a:avLst/>
          </a:prstGeom>
          <a:noFill/>
        </p:spPr>
        <p:txBody>
          <a:bodyPr wrap="square" lIns="0" rIns="0" tIns="0" bIns="0" anchor="t">
            <a:spAutoFit/>
          </a:bodyPr>
          <a:lstStyle/>
          <a:p>
            <a:pPr algn="l">
              <a:lnSpc>
                <a:spcPts val="2595"/>
              </a:lnSpc>
              <a:spcAft>
                <a:spcPts val="800"/>
              </a:spcAft>
            </a:pPr>
            <a:r>
              <a:rPr sz="2200" b="0">
                <a:solidFill>
                  <a:srgbClr val="24312E"/>
                </a:solidFill>
                <a:latin typeface="Liberation Sans"/>
              </a:rPr>
              <a:t>Disability rights: A condition does not reduce a person’s worth.</a:t>
            </a:r>
          </a:p>
        </p:txBody>
      </p:sp>
      <p:sp>
        <p:nvSpPr>
          <p:cNvPr id="13" name="Oval 12"/>
          <p:cNvSpPr/>
          <p:nvPr/>
        </p:nvSpPr>
        <p:spPr>
          <a:xfrm>
            <a:off x="777240" y="2880360"/>
            <a:ext cx="77724" cy="77724"/>
          </a:xfrm>
          <a:prstGeom prst="ellipse">
            <a:avLst/>
          </a:prstGeom>
          <a:solidFill>
            <a:srgbClr val="276452"/>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TextBox 13"/>
          <p:cNvSpPr txBox="1"/>
          <p:nvPr/>
        </p:nvSpPr>
        <p:spPr>
          <a:xfrm>
            <a:off x="1005840" y="2788920"/>
            <a:ext cx="10378440" cy="594360"/>
          </a:xfrm>
          <a:prstGeom prst="rect">
            <a:avLst/>
          </a:prstGeom>
          <a:noFill/>
        </p:spPr>
        <p:txBody>
          <a:bodyPr wrap="square" lIns="0" rIns="0" tIns="0" bIns="0" anchor="t">
            <a:spAutoFit/>
          </a:bodyPr>
          <a:lstStyle/>
          <a:p>
            <a:pPr algn="l">
              <a:lnSpc>
                <a:spcPts val="2595"/>
              </a:lnSpc>
              <a:spcAft>
                <a:spcPts val="800"/>
              </a:spcAft>
            </a:pPr>
            <a:r>
              <a:rPr sz="2200" b="0">
                <a:solidFill>
                  <a:srgbClr val="24312E"/>
                </a:solidFill>
                <a:latin typeface="Liberation Sans"/>
              </a:rPr>
              <a:t>Fairness: Expensive tests may increase inequality.</a:t>
            </a:r>
          </a:p>
        </p:txBody>
      </p:sp>
      <p:sp>
        <p:nvSpPr>
          <p:cNvPr id="15" name="Oval 14"/>
          <p:cNvSpPr/>
          <p:nvPr/>
        </p:nvSpPr>
        <p:spPr>
          <a:xfrm>
            <a:off x="777240" y="3566160"/>
            <a:ext cx="77724" cy="77724"/>
          </a:xfrm>
          <a:prstGeom prst="ellipse">
            <a:avLst/>
          </a:prstGeom>
          <a:solidFill>
            <a:srgbClr val="276452"/>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TextBox 15"/>
          <p:cNvSpPr txBox="1"/>
          <p:nvPr/>
        </p:nvSpPr>
        <p:spPr>
          <a:xfrm>
            <a:off x="1005840" y="3474720"/>
            <a:ext cx="10378440" cy="594360"/>
          </a:xfrm>
          <a:prstGeom prst="rect">
            <a:avLst/>
          </a:prstGeom>
          <a:noFill/>
        </p:spPr>
        <p:txBody>
          <a:bodyPr wrap="square" lIns="0" rIns="0" tIns="0" bIns="0" anchor="t">
            <a:spAutoFit/>
          </a:bodyPr>
          <a:lstStyle/>
          <a:p>
            <a:pPr algn="l">
              <a:lnSpc>
                <a:spcPts val="2595"/>
              </a:lnSpc>
              <a:spcAft>
                <a:spcPts val="800"/>
              </a:spcAft>
            </a:pPr>
            <a:r>
              <a:rPr sz="2200" b="0">
                <a:solidFill>
                  <a:srgbClr val="24312E"/>
                </a:solidFill>
                <a:latin typeface="Liberation Sans"/>
              </a:rPr>
              <a:t>Privacy: Genetic information also affects relatives.</a:t>
            </a:r>
          </a:p>
        </p:txBody>
      </p:sp>
      <p:sp>
        <p:nvSpPr>
          <p:cNvPr id="17" name="Oval 16"/>
          <p:cNvSpPr/>
          <p:nvPr/>
        </p:nvSpPr>
        <p:spPr>
          <a:xfrm>
            <a:off x="777240" y="4251959"/>
            <a:ext cx="77724" cy="77724"/>
          </a:xfrm>
          <a:prstGeom prst="ellipse">
            <a:avLst/>
          </a:prstGeom>
          <a:solidFill>
            <a:srgbClr val="276452"/>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TextBox 17"/>
          <p:cNvSpPr txBox="1"/>
          <p:nvPr/>
        </p:nvSpPr>
        <p:spPr>
          <a:xfrm>
            <a:off x="1005840" y="4160520"/>
            <a:ext cx="10378440" cy="594360"/>
          </a:xfrm>
          <a:prstGeom prst="rect">
            <a:avLst/>
          </a:prstGeom>
          <a:noFill/>
        </p:spPr>
        <p:txBody>
          <a:bodyPr wrap="square" lIns="0" rIns="0" tIns="0" bIns="0" anchor="t">
            <a:spAutoFit/>
          </a:bodyPr>
          <a:lstStyle/>
          <a:p>
            <a:pPr algn="l">
              <a:lnSpc>
                <a:spcPts val="2595"/>
              </a:lnSpc>
              <a:spcAft>
                <a:spcPts val="800"/>
              </a:spcAft>
            </a:pPr>
            <a:r>
              <a:rPr sz="2200" b="0">
                <a:solidFill>
                  <a:srgbClr val="24312E"/>
                </a:solidFill>
                <a:latin typeface="Liberation Sans"/>
              </a:rPr>
              <a:t>Pressure: Families must not be blamed for declining selection.</a:t>
            </a:r>
          </a:p>
        </p:txBody>
      </p:sp>
      <p:sp>
        <p:nvSpPr>
          <p:cNvPr id="19" name="Oval 18"/>
          <p:cNvSpPr/>
          <p:nvPr/>
        </p:nvSpPr>
        <p:spPr>
          <a:xfrm>
            <a:off x="777240" y="4937759"/>
            <a:ext cx="77724" cy="77724"/>
          </a:xfrm>
          <a:prstGeom prst="ellipse">
            <a:avLst/>
          </a:prstGeom>
          <a:solidFill>
            <a:srgbClr val="276452"/>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TextBox 19"/>
          <p:cNvSpPr txBox="1"/>
          <p:nvPr/>
        </p:nvSpPr>
        <p:spPr>
          <a:xfrm>
            <a:off x="1005840" y="4846320"/>
            <a:ext cx="10378440" cy="594360"/>
          </a:xfrm>
          <a:prstGeom prst="rect">
            <a:avLst/>
          </a:prstGeom>
          <a:noFill/>
        </p:spPr>
        <p:txBody>
          <a:bodyPr wrap="square" lIns="0" rIns="0" tIns="0" bIns="0" anchor="t">
            <a:spAutoFit/>
          </a:bodyPr>
          <a:lstStyle/>
          <a:p>
            <a:pPr algn="l">
              <a:lnSpc>
                <a:spcPts val="2595"/>
              </a:lnSpc>
              <a:spcAft>
                <a:spcPts val="800"/>
              </a:spcAft>
            </a:pPr>
            <a:r>
              <a:rPr sz="2200" b="0">
                <a:solidFill>
                  <a:srgbClr val="24312E"/>
                </a:solidFill>
                <a:latin typeface="Liberation Sans"/>
              </a:rPr>
              <a:t>Embryos: People hold different views about their moral status.</a:t>
            </a:r>
          </a:p>
        </p:txBody>
      </p:sp>
      <p:sp>
        <p:nvSpPr>
          <p:cNvPr id="21" name="Rectangle 20"/>
          <p:cNvSpPr/>
          <p:nvPr/>
        </p:nvSpPr>
        <p:spPr>
          <a:xfrm>
            <a:off x="594360" y="5742432"/>
            <a:ext cx="11000232" cy="585216"/>
          </a:xfrm>
          <a:prstGeom prst="rect">
            <a:avLst/>
          </a:prstGeom>
          <a:solidFill>
            <a:srgbClr val="FAF0E8"/>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TextBox 21"/>
          <p:cNvSpPr txBox="1"/>
          <p:nvPr/>
        </p:nvSpPr>
        <p:spPr>
          <a:xfrm>
            <a:off x="786384" y="5861304"/>
            <a:ext cx="10607040" cy="365760"/>
          </a:xfrm>
          <a:prstGeom prst="rect">
            <a:avLst/>
          </a:prstGeom>
          <a:noFill/>
        </p:spPr>
        <p:txBody>
          <a:bodyPr wrap="square" lIns="0" rIns="0" tIns="0" bIns="0" anchor="t">
            <a:spAutoFit/>
          </a:bodyPr>
          <a:lstStyle/>
          <a:p>
            <a:pPr algn="l">
              <a:lnSpc>
                <a:spcPts val="2360"/>
              </a:lnSpc>
              <a:spcAft>
                <a:spcPts val="800"/>
              </a:spcAft>
            </a:pPr>
            <a:r>
              <a:rPr sz="2000" b="1">
                <a:solidFill>
                  <a:srgbClr val="9B5F42"/>
                </a:solidFill>
                <a:latin typeface="Liberation Sans"/>
              </a:rPr>
              <a:t>Forced sterilization and reproductive discrimination violate basic rights.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30352" y="393192"/>
            <a:ext cx="109728" cy="393192"/>
          </a:xfrm>
          <a:prstGeom prst="rect">
            <a:avLst/>
          </a:prstGeom>
          <a:solidFill>
            <a:srgbClr val="276452"/>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786384" y="347472"/>
            <a:ext cx="10835640" cy="512064"/>
          </a:xfrm>
          <a:prstGeom prst="rect">
            <a:avLst/>
          </a:prstGeom>
          <a:noFill/>
        </p:spPr>
        <p:txBody>
          <a:bodyPr wrap="square" lIns="0" rIns="0" tIns="0" bIns="0" anchor="t">
            <a:spAutoFit/>
          </a:bodyPr>
          <a:lstStyle/>
          <a:p>
            <a:pPr algn="l">
              <a:lnSpc>
                <a:spcPts val="3304"/>
              </a:lnSpc>
              <a:spcAft>
                <a:spcPts val="800"/>
              </a:spcAft>
            </a:pPr>
            <a:r>
              <a:rPr sz="2800" b="1">
                <a:solidFill>
                  <a:srgbClr val="24312E"/>
                </a:solidFill>
                <a:latin typeface="Liberation Sans"/>
              </a:rPr>
              <a:t>e. When could selective reproduction be acceptable?</a:t>
            </a:r>
          </a:p>
        </p:txBody>
      </p:sp>
      <p:sp>
        <p:nvSpPr>
          <p:cNvPr id="4" name="TextBox 3"/>
          <p:cNvSpPr txBox="1"/>
          <p:nvPr/>
        </p:nvSpPr>
        <p:spPr>
          <a:xfrm>
            <a:off x="786384" y="905256"/>
            <a:ext cx="10789920" cy="274320"/>
          </a:xfrm>
          <a:prstGeom prst="rect">
            <a:avLst/>
          </a:prstGeom>
          <a:noFill/>
        </p:spPr>
        <p:txBody>
          <a:bodyPr wrap="square" lIns="0" rIns="0" tIns="0" bIns="0" anchor="t">
            <a:spAutoFit/>
          </a:bodyPr>
          <a:lstStyle/>
          <a:p>
            <a:pPr algn="l">
              <a:lnSpc>
                <a:spcPts val="1534"/>
              </a:lnSpc>
              <a:spcAft>
                <a:spcPts val="800"/>
              </a:spcAft>
            </a:pPr>
            <a:r>
              <a:rPr sz="1300" b="0">
                <a:solidFill>
                  <a:srgbClr val="52635D"/>
                </a:solidFill>
                <a:latin typeface="Liberation Sans"/>
              </a:rPr>
              <a:t>A simple way to think about the question</a:t>
            </a:r>
          </a:p>
        </p:txBody>
      </p:sp>
      <p:cxnSp>
        <p:nvCxnSpPr>
          <p:cNvPr id="5" name="Connector 4"/>
          <p:cNvCxnSpPr/>
          <p:nvPr/>
        </p:nvCxnSpPr>
        <p:spPr>
          <a:xfrm>
            <a:off x="548640" y="6373368"/>
            <a:ext cx="11091672" cy="0"/>
          </a:xfrm>
          <a:prstGeom prst="line">
            <a:avLst/>
          </a:prstGeom>
          <a:ln w="12700">
            <a:solidFill>
              <a:srgbClr val="CBDBD2"/>
            </a:solidFill>
          </a:ln>
        </p:spPr>
        <p:style>
          <a:lnRef idx="2">
            <a:schemeClr val="accent1"/>
          </a:lnRef>
          <a:fillRef idx="0">
            <a:schemeClr val="accent1"/>
          </a:fillRef>
          <a:effectRef idx="0">
            <a:schemeClr val="accent1"/>
          </a:effectRef>
          <a:fontRef idx="minor">
            <a:schemeClr val="tx1"/>
          </a:fontRef>
        </p:style>
      </p:cxnSp>
      <p:sp>
        <p:nvSpPr>
          <p:cNvPr id="6" name="TextBox 5"/>
          <p:cNvSpPr txBox="1"/>
          <p:nvPr/>
        </p:nvSpPr>
        <p:spPr>
          <a:xfrm>
            <a:off x="594360" y="6464808"/>
            <a:ext cx="7955279" cy="182880"/>
          </a:xfrm>
          <a:prstGeom prst="rect">
            <a:avLst/>
          </a:prstGeom>
          <a:noFill/>
        </p:spPr>
        <p:txBody>
          <a:bodyPr wrap="square" lIns="0" rIns="0" tIns="0" bIns="0" anchor="t">
            <a:spAutoFit/>
          </a:bodyPr>
          <a:lstStyle/>
          <a:p>
            <a:pPr algn="l">
              <a:lnSpc>
                <a:spcPts val="1121"/>
              </a:lnSpc>
              <a:spcAft>
                <a:spcPts val="800"/>
              </a:spcAft>
            </a:pPr>
            <a:r>
              <a:rPr sz="950" b="0">
                <a:solidFill>
                  <a:srgbClr val="52635D"/>
                </a:solidFill>
                <a:latin typeface="Liberation Sans"/>
              </a:rPr>
              <a:t>Prachi Yadav  |  Fundamental of Genetics</a:t>
            </a:r>
          </a:p>
        </p:txBody>
      </p:sp>
      <p:sp>
        <p:nvSpPr>
          <p:cNvPr id="7" name="TextBox 6"/>
          <p:cNvSpPr txBox="1"/>
          <p:nvPr/>
        </p:nvSpPr>
        <p:spPr>
          <a:xfrm>
            <a:off x="8275320" y="6460236"/>
            <a:ext cx="2880360" cy="210312"/>
          </a:xfrm>
          <a:prstGeom prst="rect">
            <a:avLst/>
          </a:prstGeom>
          <a:noFill/>
        </p:spPr>
        <p:txBody>
          <a:bodyPr wrap="square" lIns="0" rIns="0" tIns="0" bIns="0" anchor="t">
            <a:spAutoFit/>
          </a:bodyPr>
          <a:lstStyle/>
          <a:p>
            <a:pPr algn="r">
              <a:lnSpc>
                <a:spcPts val="1180"/>
              </a:lnSpc>
              <a:spcAft>
                <a:spcPts val="800"/>
              </a:spcAft>
            </a:pPr>
            <a:r>
              <a:rPr sz="1000" b="0">
                <a:solidFill>
                  <a:srgbClr val="52635D"/>
                </a:solidFill>
                <a:latin typeface="Liberation Sans"/>
              </a:rPr>
              <a:t>Sources: [3], [4], [6]</a:t>
            </a:r>
          </a:p>
        </p:txBody>
      </p:sp>
      <p:sp>
        <p:nvSpPr>
          <p:cNvPr id="8" name="TextBox 7"/>
          <p:cNvSpPr txBox="1"/>
          <p:nvPr/>
        </p:nvSpPr>
        <p:spPr>
          <a:xfrm>
            <a:off x="11228832" y="6460236"/>
            <a:ext cx="365760" cy="210312"/>
          </a:xfrm>
          <a:prstGeom prst="rect">
            <a:avLst/>
          </a:prstGeom>
          <a:noFill/>
        </p:spPr>
        <p:txBody>
          <a:bodyPr wrap="square" lIns="0" rIns="0" tIns="0" bIns="0" anchor="t">
            <a:spAutoFit/>
          </a:bodyPr>
          <a:lstStyle/>
          <a:p>
            <a:pPr algn="r">
              <a:lnSpc>
                <a:spcPts val="1180"/>
              </a:lnSpc>
              <a:spcAft>
                <a:spcPts val="800"/>
              </a:spcAft>
            </a:pPr>
            <a:r>
              <a:rPr sz="1000" b="0">
                <a:solidFill>
                  <a:srgbClr val="276452"/>
                </a:solidFill>
                <a:latin typeface="Liberation Sans"/>
              </a:rPr>
              <a:t>12</a:t>
            </a:r>
          </a:p>
        </p:txBody>
      </p:sp>
      <p:sp>
        <p:nvSpPr>
          <p:cNvPr id="9" name="Rectangle 8"/>
          <p:cNvSpPr/>
          <p:nvPr/>
        </p:nvSpPr>
        <p:spPr>
          <a:xfrm>
            <a:off x="676656" y="1536192"/>
            <a:ext cx="3410712" cy="1636776"/>
          </a:xfrm>
          <a:prstGeom prst="rect">
            <a:avLst/>
          </a:prstGeom>
          <a:solidFill>
            <a:srgbClr val="EEF5F1"/>
          </a:solidFill>
          <a:ln w="10160">
            <a:solidFill>
              <a:srgbClr val="CBDBD2"/>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TextBox 9"/>
          <p:cNvSpPr txBox="1"/>
          <p:nvPr/>
        </p:nvSpPr>
        <p:spPr>
          <a:xfrm>
            <a:off x="822960" y="1737360"/>
            <a:ext cx="3118104" cy="402336"/>
          </a:xfrm>
          <a:prstGeom prst="rect">
            <a:avLst/>
          </a:prstGeom>
          <a:noFill/>
        </p:spPr>
        <p:txBody>
          <a:bodyPr wrap="square" lIns="0" rIns="0" tIns="0" bIns="0" anchor="t">
            <a:spAutoFit/>
          </a:bodyPr>
          <a:lstStyle/>
          <a:p>
            <a:pPr algn="ctr">
              <a:lnSpc>
                <a:spcPts val="2595"/>
              </a:lnSpc>
              <a:spcAft>
                <a:spcPts val="800"/>
              </a:spcAft>
            </a:pPr>
            <a:r>
              <a:rPr sz="2200" b="1">
                <a:solidFill>
                  <a:srgbClr val="276452"/>
                </a:solidFill>
                <a:latin typeface="Liberation Sans"/>
              </a:rPr>
              <a:t>Reliable evidence</a:t>
            </a:r>
          </a:p>
        </p:txBody>
      </p:sp>
      <p:sp>
        <p:nvSpPr>
          <p:cNvPr id="11" name="TextBox 10"/>
          <p:cNvSpPr txBox="1"/>
          <p:nvPr/>
        </p:nvSpPr>
        <p:spPr>
          <a:xfrm>
            <a:off x="859536" y="2350008"/>
            <a:ext cx="3044952" cy="640080"/>
          </a:xfrm>
          <a:prstGeom prst="rect">
            <a:avLst/>
          </a:prstGeom>
          <a:noFill/>
        </p:spPr>
        <p:txBody>
          <a:bodyPr wrap="square" lIns="0" rIns="0" tIns="0" bIns="0" anchor="t">
            <a:spAutoFit/>
          </a:bodyPr>
          <a:lstStyle/>
          <a:p>
            <a:pPr algn="ctr">
              <a:lnSpc>
                <a:spcPts val="2183"/>
              </a:lnSpc>
              <a:spcAft>
                <a:spcPts val="800"/>
              </a:spcAft>
            </a:pPr>
            <a:r>
              <a:rPr sz="1850" b="0">
                <a:solidFill>
                  <a:srgbClr val="24312E"/>
                </a:solidFill>
                <a:latin typeface="Liberation Sans"/>
              </a:rPr>
              <a:t>Does the test predict a clearly defined condition?</a:t>
            </a:r>
          </a:p>
        </p:txBody>
      </p:sp>
      <p:sp>
        <p:nvSpPr>
          <p:cNvPr id="12" name="Right Arrow 11"/>
          <p:cNvSpPr/>
          <p:nvPr/>
        </p:nvSpPr>
        <p:spPr>
          <a:xfrm>
            <a:off x="4169663" y="2249424"/>
            <a:ext cx="219456" cy="182880"/>
          </a:xfrm>
          <a:prstGeom prst="rightArrow">
            <a:avLst/>
          </a:prstGeom>
          <a:solidFill>
            <a:srgbClr val="276452"/>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Rectangle 12"/>
          <p:cNvSpPr/>
          <p:nvPr/>
        </p:nvSpPr>
        <p:spPr>
          <a:xfrm>
            <a:off x="4480560" y="1536192"/>
            <a:ext cx="3410712" cy="1636776"/>
          </a:xfrm>
          <a:prstGeom prst="rect">
            <a:avLst/>
          </a:prstGeom>
          <a:solidFill>
            <a:srgbClr val="EEF5F1"/>
          </a:solidFill>
          <a:ln w="10160">
            <a:solidFill>
              <a:srgbClr val="CBDBD2"/>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TextBox 13"/>
          <p:cNvSpPr txBox="1"/>
          <p:nvPr/>
        </p:nvSpPr>
        <p:spPr>
          <a:xfrm>
            <a:off x="4626864" y="1737360"/>
            <a:ext cx="3118104" cy="402336"/>
          </a:xfrm>
          <a:prstGeom prst="rect">
            <a:avLst/>
          </a:prstGeom>
          <a:noFill/>
        </p:spPr>
        <p:txBody>
          <a:bodyPr wrap="square" lIns="0" rIns="0" tIns="0" bIns="0" anchor="t">
            <a:spAutoFit/>
          </a:bodyPr>
          <a:lstStyle/>
          <a:p>
            <a:pPr algn="ctr">
              <a:lnSpc>
                <a:spcPts val="2595"/>
              </a:lnSpc>
              <a:spcAft>
                <a:spcPts val="800"/>
              </a:spcAft>
            </a:pPr>
            <a:r>
              <a:rPr sz="2200" b="1">
                <a:solidFill>
                  <a:srgbClr val="276452"/>
                </a:solidFill>
                <a:latin typeface="Liberation Sans"/>
              </a:rPr>
              <a:t>Free choice</a:t>
            </a:r>
          </a:p>
        </p:txBody>
      </p:sp>
      <p:sp>
        <p:nvSpPr>
          <p:cNvPr id="15" name="TextBox 14"/>
          <p:cNvSpPr txBox="1"/>
          <p:nvPr/>
        </p:nvSpPr>
        <p:spPr>
          <a:xfrm>
            <a:off x="4663440" y="2350008"/>
            <a:ext cx="3044952" cy="640080"/>
          </a:xfrm>
          <a:prstGeom prst="rect">
            <a:avLst/>
          </a:prstGeom>
          <a:noFill/>
        </p:spPr>
        <p:txBody>
          <a:bodyPr wrap="square" lIns="0" rIns="0" tIns="0" bIns="0" anchor="t">
            <a:spAutoFit/>
          </a:bodyPr>
          <a:lstStyle/>
          <a:p>
            <a:pPr algn="ctr">
              <a:lnSpc>
                <a:spcPts val="2183"/>
              </a:lnSpc>
              <a:spcAft>
                <a:spcPts val="800"/>
              </a:spcAft>
            </a:pPr>
            <a:r>
              <a:rPr sz="1850" b="0">
                <a:solidFill>
                  <a:srgbClr val="24312E"/>
                </a:solidFill>
                <a:latin typeface="Liberation Sans"/>
              </a:rPr>
              <a:t>Can the family refuse without threats or penalties?</a:t>
            </a:r>
          </a:p>
        </p:txBody>
      </p:sp>
      <p:sp>
        <p:nvSpPr>
          <p:cNvPr id="16" name="Right Arrow 15"/>
          <p:cNvSpPr/>
          <p:nvPr/>
        </p:nvSpPr>
        <p:spPr>
          <a:xfrm>
            <a:off x="7973568" y="2249424"/>
            <a:ext cx="219456" cy="182880"/>
          </a:xfrm>
          <a:prstGeom prst="rightArrow">
            <a:avLst/>
          </a:prstGeom>
          <a:solidFill>
            <a:srgbClr val="276452"/>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Rectangle 16"/>
          <p:cNvSpPr/>
          <p:nvPr/>
        </p:nvSpPr>
        <p:spPr>
          <a:xfrm>
            <a:off x="8284464" y="1536192"/>
            <a:ext cx="3410712" cy="1636776"/>
          </a:xfrm>
          <a:prstGeom prst="rect">
            <a:avLst/>
          </a:prstGeom>
          <a:solidFill>
            <a:srgbClr val="EEF5F1"/>
          </a:solidFill>
          <a:ln w="10160">
            <a:solidFill>
              <a:srgbClr val="CBDBD2"/>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TextBox 17"/>
          <p:cNvSpPr txBox="1"/>
          <p:nvPr/>
        </p:nvSpPr>
        <p:spPr>
          <a:xfrm>
            <a:off x="8430768" y="1737360"/>
            <a:ext cx="3118104" cy="402336"/>
          </a:xfrm>
          <a:prstGeom prst="rect">
            <a:avLst/>
          </a:prstGeom>
          <a:noFill/>
        </p:spPr>
        <p:txBody>
          <a:bodyPr wrap="square" lIns="0" rIns="0" tIns="0" bIns="0" anchor="t">
            <a:spAutoFit/>
          </a:bodyPr>
          <a:lstStyle/>
          <a:p>
            <a:pPr algn="ctr">
              <a:lnSpc>
                <a:spcPts val="2595"/>
              </a:lnSpc>
              <a:spcAft>
                <a:spcPts val="800"/>
              </a:spcAft>
            </a:pPr>
            <a:r>
              <a:rPr sz="2200" b="1">
                <a:solidFill>
                  <a:srgbClr val="276452"/>
                </a:solidFill>
                <a:latin typeface="Liberation Sans"/>
              </a:rPr>
              <a:t>Fair safeguards</a:t>
            </a:r>
          </a:p>
        </p:txBody>
      </p:sp>
      <p:sp>
        <p:nvSpPr>
          <p:cNvPr id="19" name="TextBox 18"/>
          <p:cNvSpPr txBox="1"/>
          <p:nvPr/>
        </p:nvSpPr>
        <p:spPr>
          <a:xfrm>
            <a:off x="8467344" y="2350008"/>
            <a:ext cx="3044952" cy="640080"/>
          </a:xfrm>
          <a:prstGeom prst="rect">
            <a:avLst/>
          </a:prstGeom>
          <a:noFill/>
        </p:spPr>
        <p:txBody>
          <a:bodyPr wrap="square" lIns="0" rIns="0" tIns="0" bIns="0" anchor="t">
            <a:spAutoFit/>
          </a:bodyPr>
          <a:lstStyle/>
          <a:p>
            <a:pPr algn="ctr">
              <a:lnSpc>
                <a:spcPts val="2183"/>
              </a:lnSpc>
              <a:spcAft>
                <a:spcPts val="800"/>
              </a:spcAft>
            </a:pPr>
            <a:r>
              <a:rPr sz="1850" b="0">
                <a:solidFill>
                  <a:srgbClr val="24312E"/>
                </a:solidFill>
                <a:latin typeface="Liberation Sans"/>
              </a:rPr>
              <a:t>Are benefits, burdens, rights, and alternatives explained?</a:t>
            </a:r>
          </a:p>
        </p:txBody>
      </p:sp>
      <p:sp>
        <p:nvSpPr>
          <p:cNvPr id="20" name="Rectangle 19"/>
          <p:cNvSpPr/>
          <p:nvPr/>
        </p:nvSpPr>
        <p:spPr>
          <a:xfrm>
            <a:off x="685800" y="3621024"/>
            <a:ext cx="5733288" cy="685800"/>
          </a:xfrm>
          <a:prstGeom prst="rect">
            <a:avLst/>
          </a:prstGeom>
          <a:solidFill>
            <a:srgbClr val="EEF5F1"/>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TextBox 20"/>
          <p:cNvSpPr txBox="1"/>
          <p:nvPr/>
        </p:nvSpPr>
        <p:spPr>
          <a:xfrm>
            <a:off x="822960" y="3739896"/>
            <a:ext cx="5458968" cy="484632"/>
          </a:xfrm>
          <a:prstGeom prst="rect">
            <a:avLst/>
          </a:prstGeom>
          <a:noFill/>
        </p:spPr>
        <p:txBody>
          <a:bodyPr wrap="square" lIns="0" rIns="0" tIns="0" bIns="0" anchor="t">
            <a:spAutoFit/>
          </a:bodyPr>
          <a:lstStyle/>
          <a:p>
            <a:pPr algn="l">
              <a:lnSpc>
                <a:spcPts val="2124"/>
              </a:lnSpc>
              <a:spcAft>
                <a:spcPts val="800"/>
              </a:spcAft>
            </a:pPr>
            <a:r>
              <a:rPr sz="1800" b="0">
                <a:solidFill>
                  <a:srgbClr val="24312E"/>
                </a:solidFill>
                <a:latin typeface="Liberation Sans"/>
              </a:rPr>
              <a:t>Voluntary PGT-M for a serious inherited disorder</a:t>
            </a:r>
          </a:p>
        </p:txBody>
      </p:sp>
      <p:sp>
        <p:nvSpPr>
          <p:cNvPr id="22" name="Rectangle 21"/>
          <p:cNvSpPr/>
          <p:nvPr/>
        </p:nvSpPr>
        <p:spPr>
          <a:xfrm>
            <a:off x="6455664" y="3621024"/>
            <a:ext cx="5029200" cy="685800"/>
          </a:xfrm>
          <a:prstGeom prst="rect">
            <a:avLst/>
          </a:prstGeom>
          <a:solidFill>
            <a:srgbClr val="EEF5F1"/>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TextBox 22"/>
          <p:cNvSpPr txBox="1"/>
          <p:nvPr/>
        </p:nvSpPr>
        <p:spPr>
          <a:xfrm>
            <a:off x="6592824" y="3739896"/>
            <a:ext cx="4754880" cy="484632"/>
          </a:xfrm>
          <a:prstGeom prst="rect">
            <a:avLst/>
          </a:prstGeom>
          <a:noFill/>
        </p:spPr>
        <p:txBody>
          <a:bodyPr wrap="square" lIns="0" rIns="0" tIns="0" bIns="0" anchor="t">
            <a:spAutoFit/>
          </a:bodyPr>
          <a:lstStyle/>
          <a:p>
            <a:pPr algn="l">
              <a:lnSpc>
                <a:spcPts val="2124"/>
              </a:lnSpc>
              <a:spcAft>
                <a:spcPts val="800"/>
              </a:spcAft>
            </a:pPr>
            <a:r>
              <a:rPr sz="1800" b="0">
                <a:solidFill>
                  <a:srgbClr val="24312E"/>
                </a:solidFill>
                <a:latin typeface="Liberation Sans"/>
              </a:rPr>
              <a:t>May be justified after counselling and careful assessment.</a:t>
            </a:r>
          </a:p>
        </p:txBody>
      </p:sp>
      <p:sp>
        <p:nvSpPr>
          <p:cNvPr id="24" name="Rectangle 23"/>
          <p:cNvSpPr/>
          <p:nvPr/>
        </p:nvSpPr>
        <p:spPr>
          <a:xfrm>
            <a:off x="685800" y="4389120"/>
            <a:ext cx="5733288" cy="685800"/>
          </a:xfrm>
          <a:prstGeom prst="rect">
            <a:avLst/>
          </a:prstGeom>
          <a:solidFill>
            <a:srgbClr val="FAFBF8"/>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TextBox 24"/>
          <p:cNvSpPr txBox="1"/>
          <p:nvPr/>
        </p:nvSpPr>
        <p:spPr>
          <a:xfrm>
            <a:off x="822960" y="4507992"/>
            <a:ext cx="5458968" cy="484632"/>
          </a:xfrm>
          <a:prstGeom prst="rect">
            <a:avLst/>
          </a:prstGeom>
          <a:noFill/>
        </p:spPr>
        <p:txBody>
          <a:bodyPr wrap="square" lIns="0" rIns="0" tIns="0" bIns="0" anchor="t">
            <a:spAutoFit/>
          </a:bodyPr>
          <a:lstStyle/>
          <a:p>
            <a:pPr algn="l">
              <a:lnSpc>
                <a:spcPts val="2124"/>
              </a:lnSpc>
              <a:spcAft>
                <a:spcPts val="800"/>
              </a:spcAft>
            </a:pPr>
            <a:r>
              <a:rPr sz="1800" b="0">
                <a:solidFill>
                  <a:srgbClr val="24312E"/>
                </a:solidFill>
                <a:latin typeface="Liberation Sans"/>
              </a:rPr>
              <a:t>Forced sterilization or racial selection</a:t>
            </a:r>
          </a:p>
        </p:txBody>
      </p:sp>
      <p:sp>
        <p:nvSpPr>
          <p:cNvPr id="26" name="Rectangle 25"/>
          <p:cNvSpPr/>
          <p:nvPr/>
        </p:nvSpPr>
        <p:spPr>
          <a:xfrm>
            <a:off x="6455664" y="4389120"/>
            <a:ext cx="5029200" cy="685800"/>
          </a:xfrm>
          <a:prstGeom prst="rect">
            <a:avLst/>
          </a:prstGeom>
          <a:solidFill>
            <a:srgbClr val="FAFBF8"/>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TextBox 26"/>
          <p:cNvSpPr txBox="1"/>
          <p:nvPr/>
        </p:nvSpPr>
        <p:spPr>
          <a:xfrm>
            <a:off x="6592824" y="4507992"/>
            <a:ext cx="4754880" cy="484632"/>
          </a:xfrm>
          <a:prstGeom prst="rect">
            <a:avLst/>
          </a:prstGeom>
          <a:noFill/>
        </p:spPr>
        <p:txBody>
          <a:bodyPr wrap="square" lIns="0" rIns="0" tIns="0" bIns="0" anchor="t">
            <a:spAutoFit/>
          </a:bodyPr>
          <a:lstStyle/>
          <a:p>
            <a:pPr algn="l">
              <a:lnSpc>
                <a:spcPts val="2124"/>
              </a:lnSpc>
              <a:spcAft>
                <a:spcPts val="800"/>
              </a:spcAft>
            </a:pPr>
            <a:r>
              <a:rPr sz="1800" b="0">
                <a:solidFill>
                  <a:srgbClr val="24312E"/>
                </a:solidFill>
                <a:latin typeface="Liberation Sans"/>
              </a:rPr>
              <a:t>Ethically unacceptable.</a:t>
            </a:r>
          </a:p>
        </p:txBody>
      </p:sp>
      <p:sp>
        <p:nvSpPr>
          <p:cNvPr id="28" name="Rectangle 27"/>
          <p:cNvSpPr/>
          <p:nvPr/>
        </p:nvSpPr>
        <p:spPr>
          <a:xfrm>
            <a:off x="685800" y="5157216"/>
            <a:ext cx="5733288" cy="685800"/>
          </a:xfrm>
          <a:prstGeom prst="rect">
            <a:avLst/>
          </a:prstGeom>
          <a:solidFill>
            <a:srgbClr val="EEF5F1"/>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TextBox 28"/>
          <p:cNvSpPr txBox="1"/>
          <p:nvPr/>
        </p:nvSpPr>
        <p:spPr>
          <a:xfrm>
            <a:off x="822960" y="5276088"/>
            <a:ext cx="5458968" cy="484632"/>
          </a:xfrm>
          <a:prstGeom prst="rect">
            <a:avLst/>
          </a:prstGeom>
          <a:noFill/>
        </p:spPr>
        <p:txBody>
          <a:bodyPr wrap="square" lIns="0" rIns="0" tIns="0" bIns="0" anchor="t">
            <a:spAutoFit/>
          </a:bodyPr>
          <a:lstStyle/>
          <a:p>
            <a:pPr algn="l">
              <a:lnSpc>
                <a:spcPts val="2124"/>
              </a:lnSpc>
              <a:spcAft>
                <a:spcPts val="800"/>
              </a:spcAft>
            </a:pPr>
            <a:r>
              <a:rPr sz="1800" b="0">
                <a:solidFill>
                  <a:srgbClr val="24312E"/>
                </a:solidFill>
                <a:latin typeface="Liberation Sans"/>
              </a:rPr>
              <a:t>Promises to create a “perfect” child</a:t>
            </a:r>
          </a:p>
        </p:txBody>
      </p:sp>
      <p:sp>
        <p:nvSpPr>
          <p:cNvPr id="30" name="Rectangle 29"/>
          <p:cNvSpPr/>
          <p:nvPr/>
        </p:nvSpPr>
        <p:spPr>
          <a:xfrm>
            <a:off x="6455664" y="5157216"/>
            <a:ext cx="5029200" cy="685800"/>
          </a:xfrm>
          <a:prstGeom prst="rect">
            <a:avLst/>
          </a:prstGeom>
          <a:solidFill>
            <a:srgbClr val="EEF5F1"/>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 name="TextBox 30"/>
          <p:cNvSpPr txBox="1"/>
          <p:nvPr/>
        </p:nvSpPr>
        <p:spPr>
          <a:xfrm>
            <a:off x="6592824" y="5276088"/>
            <a:ext cx="4754880" cy="484632"/>
          </a:xfrm>
          <a:prstGeom prst="rect">
            <a:avLst/>
          </a:prstGeom>
          <a:noFill/>
        </p:spPr>
        <p:txBody>
          <a:bodyPr wrap="square" lIns="0" rIns="0" tIns="0" bIns="0" anchor="t">
            <a:spAutoFit/>
          </a:bodyPr>
          <a:lstStyle/>
          <a:p>
            <a:pPr algn="l">
              <a:lnSpc>
                <a:spcPts val="2124"/>
              </a:lnSpc>
              <a:spcAft>
                <a:spcPts val="800"/>
              </a:spcAft>
            </a:pPr>
            <a:r>
              <a:rPr sz="1800" b="0">
                <a:solidFill>
                  <a:srgbClr val="24312E"/>
                </a:solidFill>
                <a:latin typeface="Liberation Sans"/>
              </a:rPr>
              <a:t>Not supported by genetic prediction.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30352" y="393192"/>
            <a:ext cx="109728" cy="393192"/>
          </a:xfrm>
          <a:prstGeom prst="rect">
            <a:avLst/>
          </a:prstGeom>
          <a:solidFill>
            <a:srgbClr val="276452"/>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786384" y="347472"/>
            <a:ext cx="10835640" cy="512064"/>
          </a:xfrm>
          <a:prstGeom prst="rect">
            <a:avLst/>
          </a:prstGeom>
          <a:noFill/>
        </p:spPr>
        <p:txBody>
          <a:bodyPr wrap="square" lIns="0" rIns="0" tIns="0" bIns="0" anchor="t">
            <a:spAutoFit/>
          </a:bodyPr>
          <a:lstStyle/>
          <a:p>
            <a:pPr algn="l">
              <a:lnSpc>
                <a:spcPts val="3304"/>
              </a:lnSpc>
              <a:spcAft>
                <a:spcPts val="800"/>
              </a:spcAft>
            </a:pPr>
            <a:r>
              <a:rPr sz="2800" b="1">
                <a:solidFill>
                  <a:srgbClr val="24312E"/>
                </a:solidFill>
                <a:latin typeface="Liberation Sans"/>
              </a:rPr>
              <a:t>f. Future perspective</a:t>
            </a:r>
          </a:p>
        </p:txBody>
      </p:sp>
      <p:sp>
        <p:nvSpPr>
          <p:cNvPr id="4" name="TextBox 3"/>
          <p:cNvSpPr txBox="1"/>
          <p:nvPr/>
        </p:nvSpPr>
        <p:spPr>
          <a:xfrm>
            <a:off x="786384" y="905256"/>
            <a:ext cx="10789920" cy="274320"/>
          </a:xfrm>
          <a:prstGeom prst="rect">
            <a:avLst/>
          </a:prstGeom>
          <a:noFill/>
        </p:spPr>
        <p:txBody>
          <a:bodyPr wrap="square" lIns="0" rIns="0" tIns="0" bIns="0" anchor="t">
            <a:spAutoFit/>
          </a:bodyPr>
          <a:lstStyle/>
          <a:p>
            <a:pPr algn="l">
              <a:lnSpc>
                <a:spcPts val="1534"/>
              </a:lnSpc>
              <a:spcAft>
                <a:spcPts val="800"/>
              </a:spcAft>
            </a:pPr>
            <a:r>
              <a:rPr sz="1300" b="0">
                <a:solidFill>
                  <a:srgbClr val="52635D"/>
                </a:solidFill>
                <a:latin typeface="Liberation Sans"/>
              </a:rPr>
              <a:t>Better evidence and stronger safeguards are both needed</a:t>
            </a:r>
          </a:p>
        </p:txBody>
      </p:sp>
      <p:cxnSp>
        <p:nvCxnSpPr>
          <p:cNvPr id="5" name="Connector 4"/>
          <p:cNvCxnSpPr/>
          <p:nvPr/>
        </p:nvCxnSpPr>
        <p:spPr>
          <a:xfrm>
            <a:off x="548640" y="6373368"/>
            <a:ext cx="11091672" cy="0"/>
          </a:xfrm>
          <a:prstGeom prst="line">
            <a:avLst/>
          </a:prstGeom>
          <a:ln w="12700">
            <a:solidFill>
              <a:srgbClr val="CBDBD2"/>
            </a:solidFill>
          </a:ln>
        </p:spPr>
        <p:style>
          <a:lnRef idx="2">
            <a:schemeClr val="accent1"/>
          </a:lnRef>
          <a:fillRef idx="0">
            <a:schemeClr val="accent1"/>
          </a:fillRef>
          <a:effectRef idx="0">
            <a:schemeClr val="accent1"/>
          </a:effectRef>
          <a:fontRef idx="minor">
            <a:schemeClr val="tx1"/>
          </a:fontRef>
        </p:style>
      </p:cxnSp>
      <p:sp>
        <p:nvSpPr>
          <p:cNvPr id="6" name="TextBox 5"/>
          <p:cNvSpPr txBox="1"/>
          <p:nvPr/>
        </p:nvSpPr>
        <p:spPr>
          <a:xfrm>
            <a:off x="594360" y="6464808"/>
            <a:ext cx="7955279" cy="182880"/>
          </a:xfrm>
          <a:prstGeom prst="rect">
            <a:avLst/>
          </a:prstGeom>
          <a:noFill/>
        </p:spPr>
        <p:txBody>
          <a:bodyPr wrap="square" lIns="0" rIns="0" tIns="0" bIns="0" anchor="t">
            <a:spAutoFit/>
          </a:bodyPr>
          <a:lstStyle/>
          <a:p>
            <a:pPr algn="l">
              <a:lnSpc>
                <a:spcPts val="1121"/>
              </a:lnSpc>
              <a:spcAft>
                <a:spcPts val="800"/>
              </a:spcAft>
            </a:pPr>
            <a:r>
              <a:rPr sz="950" b="0">
                <a:solidFill>
                  <a:srgbClr val="52635D"/>
                </a:solidFill>
                <a:latin typeface="Liberation Sans"/>
              </a:rPr>
              <a:t>Prachi Yadav  |  Fundamental of Genetics</a:t>
            </a:r>
          </a:p>
        </p:txBody>
      </p:sp>
      <p:sp>
        <p:nvSpPr>
          <p:cNvPr id="7" name="TextBox 6"/>
          <p:cNvSpPr txBox="1"/>
          <p:nvPr/>
        </p:nvSpPr>
        <p:spPr>
          <a:xfrm>
            <a:off x="8275320" y="6460236"/>
            <a:ext cx="2880360" cy="210312"/>
          </a:xfrm>
          <a:prstGeom prst="rect">
            <a:avLst/>
          </a:prstGeom>
          <a:noFill/>
        </p:spPr>
        <p:txBody>
          <a:bodyPr wrap="square" lIns="0" rIns="0" tIns="0" bIns="0" anchor="t">
            <a:spAutoFit/>
          </a:bodyPr>
          <a:lstStyle/>
          <a:p>
            <a:pPr algn="r">
              <a:lnSpc>
                <a:spcPts val="1180"/>
              </a:lnSpc>
              <a:spcAft>
                <a:spcPts val="800"/>
              </a:spcAft>
            </a:pPr>
            <a:r>
              <a:rPr sz="1000" b="0">
                <a:solidFill>
                  <a:srgbClr val="52635D"/>
                </a:solidFill>
                <a:latin typeface="Liberation Sans"/>
              </a:rPr>
              <a:t>Sources: [1], [4]</a:t>
            </a:r>
          </a:p>
        </p:txBody>
      </p:sp>
      <p:sp>
        <p:nvSpPr>
          <p:cNvPr id="8" name="TextBox 7"/>
          <p:cNvSpPr txBox="1"/>
          <p:nvPr/>
        </p:nvSpPr>
        <p:spPr>
          <a:xfrm>
            <a:off x="11228832" y="6460236"/>
            <a:ext cx="365760" cy="210312"/>
          </a:xfrm>
          <a:prstGeom prst="rect">
            <a:avLst/>
          </a:prstGeom>
          <a:noFill/>
        </p:spPr>
        <p:txBody>
          <a:bodyPr wrap="square" lIns="0" rIns="0" tIns="0" bIns="0" anchor="t">
            <a:spAutoFit/>
          </a:bodyPr>
          <a:lstStyle/>
          <a:p>
            <a:pPr algn="r">
              <a:lnSpc>
                <a:spcPts val="1180"/>
              </a:lnSpc>
              <a:spcAft>
                <a:spcPts val="800"/>
              </a:spcAft>
            </a:pPr>
            <a:r>
              <a:rPr sz="1000" b="0">
                <a:solidFill>
                  <a:srgbClr val="276452"/>
                </a:solidFill>
                <a:latin typeface="Liberation Sans"/>
              </a:rPr>
              <a:t>13</a:t>
            </a:r>
          </a:p>
        </p:txBody>
      </p:sp>
      <p:sp>
        <p:nvSpPr>
          <p:cNvPr id="9" name="Oval 8"/>
          <p:cNvSpPr/>
          <p:nvPr/>
        </p:nvSpPr>
        <p:spPr>
          <a:xfrm>
            <a:off x="786384" y="1600200"/>
            <a:ext cx="77724" cy="77724"/>
          </a:xfrm>
          <a:prstGeom prst="ellipse">
            <a:avLst/>
          </a:prstGeom>
          <a:solidFill>
            <a:srgbClr val="276452"/>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TextBox 9"/>
          <p:cNvSpPr txBox="1"/>
          <p:nvPr/>
        </p:nvSpPr>
        <p:spPr>
          <a:xfrm>
            <a:off x="1014983" y="1508760"/>
            <a:ext cx="10378440" cy="603504"/>
          </a:xfrm>
          <a:prstGeom prst="rect">
            <a:avLst/>
          </a:prstGeom>
          <a:noFill/>
        </p:spPr>
        <p:txBody>
          <a:bodyPr wrap="square" lIns="0" rIns="0" tIns="0" bIns="0" anchor="t">
            <a:spAutoFit/>
          </a:bodyPr>
          <a:lstStyle/>
          <a:p>
            <a:pPr algn="l">
              <a:lnSpc>
                <a:spcPts val="2595"/>
              </a:lnSpc>
              <a:spcAft>
                <a:spcPts val="800"/>
              </a:spcAft>
            </a:pPr>
            <a:r>
              <a:rPr sz="2200" b="0">
                <a:solidFill>
                  <a:srgbClr val="24312E"/>
                </a:solidFill>
                <a:latin typeface="Liberation Sans"/>
              </a:rPr>
              <a:t>Develop more accurate genetic tests for different populations.</a:t>
            </a:r>
          </a:p>
        </p:txBody>
      </p:sp>
      <p:sp>
        <p:nvSpPr>
          <p:cNvPr id="11" name="Oval 10"/>
          <p:cNvSpPr/>
          <p:nvPr/>
        </p:nvSpPr>
        <p:spPr>
          <a:xfrm>
            <a:off x="786384" y="2295144"/>
            <a:ext cx="77724" cy="77724"/>
          </a:xfrm>
          <a:prstGeom prst="ellipse">
            <a:avLst/>
          </a:prstGeom>
          <a:solidFill>
            <a:srgbClr val="276452"/>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1014983" y="2203704"/>
            <a:ext cx="10378440" cy="603504"/>
          </a:xfrm>
          <a:prstGeom prst="rect">
            <a:avLst/>
          </a:prstGeom>
          <a:noFill/>
        </p:spPr>
        <p:txBody>
          <a:bodyPr wrap="square" lIns="0" rIns="0" tIns="0" bIns="0" anchor="t">
            <a:spAutoFit/>
          </a:bodyPr>
          <a:lstStyle/>
          <a:p>
            <a:pPr algn="l">
              <a:lnSpc>
                <a:spcPts val="2595"/>
              </a:lnSpc>
              <a:spcAft>
                <a:spcPts val="800"/>
              </a:spcAft>
            </a:pPr>
            <a:r>
              <a:rPr sz="2200" b="0">
                <a:solidFill>
                  <a:srgbClr val="24312E"/>
                </a:solidFill>
                <a:latin typeface="Liberation Sans"/>
              </a:rPr>
              <a:t>Study actual health outcomes, not only predicted scores.</a:t>
            </a:r>
          </a:p>
        </p:txBody>
      </p:sp>
      <p:sp>
        <p:nvSpPr>
          <p:cNvPr id="13" name="Oval 12"/>
          <p:cNvSpPr/>
          <p:nvPr/>
        </p:nvSpPr>
        <p:spPr>
          <a:xfrm>
            <a:off x="786384" y="2990088"/>
            <a:ext cx="77724" cy="77724"/>
          </a:xfrm>
          <a:prstGeom prst="ellipse">
            <a:avLst/>
          </a:prstGeom>
          <a:solidFill>
            <a:srgbClr val="276452"/>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TextBox 13"/>
          <p:cNvSpPr txBox="1"/>
          <p:nvPr/>
        </p:nvSpPr>
        <p:spPr>
          <a:xfrm>
            <a:off x="1014983" y="2898648"/>
            <a:ext cx="10378440" cy="603504"/>
          </a:xfrm>
          <a:prstGeom prst="rect">
            <a:avLst/>
          </a:prstGeom>
          <a:noFill/>
        </p:spPr>
        <p:txBody>
          <a:bodyPr wrap="square" lIns="0" rIns="0" tIns="0" bIns="0" anchor="t">
            <a:spAutoFit/>
          </a:bodyPr>
          <a:lstStyle/>
          <a:p>
            <a:pPr algn="l">
              <a:lnSpc>
                <a:spcPts val="2595"/>
              </a:lnSpc>
              <a:spcAft>
                <a:spcPts val="800"/>
              </a:spcAft>
            </a:pPr>
            <a:r>
              <a:rPr sz="2200" b="0">
                <a:solidFill>
                  <a:srgbClr val="24312E"/>
                </a:solidFill>
                <a:latin typeface="Liberation Sans"/>
              </a:rPr>
              <a:t>Explain risks in clear language, including absolute risk.</a:t>
            </a:r>
          </a:p>
        </p:txBody>
      </p:sp>
      <p:sp>
        <p:nvSpPr>
          <p:cNvPr id="15" name="Oval 14"/>
          <p:cNvSpPr/>
          <p:nvPr/>
        </p:nvSpPr>
        <p:spPr>
          <a:xfrm>
            <a:off x="786384" y="3685032"/>
            <a:ext cx="77724" cy="77724"/>
          </a:xfrm>
          <a:prstGeom prst="ellipse">
            <a:avLst/>
          </a:prstGeom>
          <a:solidFill>
            <a:srgbClr val="276452"/>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TextBox 15"/>
          <p:cNvSpPr txBox="1"/>
          <p:nvPr/>
        </p:nvSpPr>
        <p:spPr>
          <a:xfrm>
            <a:off x="1014983" y="3593592"/>
            <a:ext cx="10378440" cy="603504"/>
          </a:xfrm>
          <a:prstGeom prst="rect">
            <a:avLst/>
          </a:prstGeom>
          <a:noFill/>
        </p:spPr>
        <p:txBody>
          <a:bodyPr wrap="square" lIns="0" rIns="0" tIns="0" bIns="0" anchor="t">
            <a:spAutoFit/>
          </a:bodyPr>
          <a:lstStyle/>
          <a:p>
            <a:pPr algn="l">
              <a:lnSpc>
                <a:spcPts val="2595"/>
              </a:lnSpc>
              <a:spcAft>
                <a:spcPts val="800"/>
              </a:spcAft>
            </a:pPr>
            <a:r>
              <a:rPr sz="2200" b="0">
                <a:solidFill>
                  <a:srgbClr val="24312E"/>
                </a:solidFill>
                <a:latin typeface="Liberation Sans"/>
              </a:rPr>
              <a:t>Improve counselling, privacy protection, and fair access.</a:t>
            </a:r>
          </a:p>
        </p:txBody>
      </p:sp>
      <p:sp>
        <p:nvSpPr>
          <p:cNvPr id="17" name="Oval 16"/>
          <p:cNvSpPr/>
          <p:nvPr/>
        </p:nvSpPr>
        <p:spPr>
          <a:xfrm>
            <a:off x="786384" y="4379975"/>
            <a:ext cx="77724" cy="77724"/>
          </a:xfrm>
          <a:prstGeom prst="ellipse">
            <a:avLst/>
          </a:prstGeom>
          <a:solidFill>
            <a:srgbClr val="276452"/>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TextBox 17"/>
          <p:cNvSpPr txBox="1"/>
          <p:nvPr/>
        </p:nvSpPr>
        <p:spPr>
          <a:xfrm>
            <a:off x="1014983" y="4288536"/>
            <a:ext cx="10378440" cy="603504"/>
          </a:xfrm>
          <a:prstGeom prst="rect">
            <a:avLst/>
          </a:prstGeom>
          <a:noFill/>
        </p:spPr>
        <p:txBody>
          <a:bodyPr wrap="square" lIns="0" rIns="0" tIns="0" bIns="0" anchor="t">
            <a:spAutoFit/>
          </a:bodyPr>
          <a:lstStyle/>
          <a:p>
            <a:pPr algn="l">
              <a:lnSpc>
                <a:spcPts val="2595"/>
              </a:lnSpc>
              <a:spcAft>
                <a:spcPts val="800"/>
              </a:spcAft>
            </a:pPr>
            <a:r>
              <a:rPr sz="2200" b="0">
                <a:solidFill>
                  <a:srgbClr val="24312E"/>
                </a:solidFill>
                <a:latin typeface="Liberation Sans"/>
              </a:rPr>
              <a:t>Use strong oversight for heritable genome editing.</a:t>
            </a:r>
          </a:p>
        </p:txBody>
      </p:sp>
      <p:sp>
        <p:nvSpPr>
          <p:cNvPr id="19" name="Oval 18"/>
          <p:cNvSpPr/>
          <p:nvPr/>
        </p:nvSpPr>
        <p:spPr>
          <a:xfrm>
            <a:off x="786384" y="5074919"/>
            <a:ext cx="77724" cy="77724"/>
          </a:xfrm>
          <a:prstGeom prst="ellipse">
            <a:avLst/>
          </a:prstGeom>
          <a:solidFill>
            <a:srgbClr val="276452"/>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TextBox 19"/>
          <p:cNvSpPr txBox="1"/>
          <p:nvPr/>
        </p:nvSpPr>
        <p:spPr>
          <a:xfrm>
            <a:off x="1014983" y="4983479"/>
            <a:ext cx="10378440" cy="603504"/>
          </a:xfrm>
          <a:prstGeom prst="rect">
            <a:avLst/>
          </a:prstGeom>
          <a:noFill/>
        </p:spPr>
        <p:txBody>
          <a:bodyPr wrap="square" lIns="0" rIns="0" tIns="0" bIns="0" anchor="t">
            <a:spAutoFit/>
          </a:bodyPr>
          <a:lstStyle/>
          <a:p>
            <a:pPr algn="l">
              <a:lnSpc>
                <a:spcPts val="2595"/>
              </a:lnSpc>
              <a:spcAft>
                <a:spcPts val="800"/>
              </a:spcAft>
            </a:pPr>
            <a:r>
              <a:rPr sz="2200" b="0">
                <a:solidFill>
                  <a:srgbClr val="24312E"/>
                </a:solidFill>
                <a:latin typeface="Liberation Sans"/>
              </a:rPr>
              <a:t>Include people with genetic conditions in policy discussions.</a:t>
            </a:r>
          </a:p>
        </p:txBody>
      </p:sp>
      <p:sp>
        <p:nvSpPr>
          <p:cNvPr id="21" name="Rectangle 20"/>
          <p:cNvSpPr/>
          <p:nvPr/>
        </p:nvSpPr>
        <p:spPr>
          <a:xfrm>
            <a:off x="594360" y="5760720"/>
            <a:ext cx="11000232" cy="585216"/>
          </a:xfrm>
          <a:prstGeom prst="rect">
            <a:avLst/>
          </a:prstGeom>
          <a:solidFill>
            <a:srgbClr val="EEF5F1"/>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TextBox 21"/>
          <p:cNvSpPr txBox="1"/>
          <p:nvPr/>
        </p:nvSpPr>
        <p:spPr>
          <a:xfrm>
            <a:off x="786384" y="5879592"/>
            <a:ext cx="10607040" cy="365760"/>
          </a:xfrm>
          <a:prstGeom prst="rect">
            <a:avLst/>
          </a:prstGeom>
          <a:noFill/>
        </p:spPr>
        <p:txBody>
          <a:bodyPr wrap="square" lIns="0" rIns="0" tIns="0" bIns="0" anchor="t">
            <a:spAutoFit/>
          </a:bodyPr>
          <a:lstStyle/>
          <a:p>
            <a:pPr algn="l">
              <a:lnSpc>
                <a:spcPts val="2477"/>
              </a:lnSpc>
              <a:spcAft>
                <a:spcPts val="800"/>
              </a:spcAft>
            </a:pPr>
            <a:r>
              <a:rPr sz="2100" b="1">
                <a:solidFill>
                  <a:srgbClr val="276452"/>
                </a:solidFill>
                <a:latin typeface="Liberation Sans"/>
              </a:rPr>
              <a:t>Improve treatment and support as well as prevention.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30352" y="393192"/>
            <a:ext cx="109728" cy="393192"/>
          </a:xfrm>
          <a:prstGeom prst="rect">
            <a:avLst/>
          </a:prstGeom>
          <a:solidFill>
            <a:srgbClr val="276452"/>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786384" y="347472"/>
            <a:ext cx="10835640" cy="512064"/>
          </a:xfrm>
          <a:prstGeom prst="rect">
            <a:avLst/>
          </a:prstGeom>
          <a:noFill/>
        </p:spPr>
        <p:txBody>
          <a:bodyPr wrap="square" lIns="0" rIns="0" tIns="0" bIns="0" anchor="t">
            <a:spAutoFit/>
          </a:bodyPr>
          <a:lstStyle/>
          <a:p>
            <a:pPr algn="l">
              <a:lnSpc>
                <a:spcPts val="3304"/>
              </a:lnSpc>
              <a:spcAft>
                <a:spcPts val="800"/>
              </a:spcAft>
            </a:pPr>
            <a:r>
              <a:rPr sz="2800" b="1">
                <a:solidFill>
                  <a:srgbClr val="24312E"/>
                </a:solidFill>
                <a:latin typeface="Liberation Sans"/>
              </a:rPr>
              <a:t>g. Conclusion</a:t>
            </a:r>
          </a:p>
        </p:txBody>
      </p:sp>
      <p:sp>
        <p:nvSpPr>
          <p:cNvPr id="4" name="TextBox 3"/>
          <p:cNvSpPr txBox="1"/>
          <p:nvPr/>
        </p:nvSpPr>
        <p:spPr>
          <a:xfrm>
            <a:off x="786384" y="905256"/>
            <a:ext cx="10789920" cy="274320"/>
          </a:xfrm>
          <a:prstGeom prst="rect">
            <a:avLst/>
          </a:prstGeom>
          <a:noFill/>
        </p:spPr>
        <p:txBody>
          <a:bodyPr wrap="square" lIns="0" rIns="0" tIns="0" bIns="0" anchor="t">
            <a:spAutoFit/>
          </a:bodyPr>
          <a:lstStyle/>
          <a:p>
            <a:pPr algn="l">
              <a:lnSpc>
                <a:spcPts val="1534"/>
              </a:lnSpc>
              <a:spcAft>
                <a:spcPts val="800"/>
              </a:spcAft>
            </a:pPr>
            <a:r>
              <a:rPr sz="1300" b="0">
                <a:solidFill>
                  <a:srgbClr val="52635D"/>
                </a:solidFill>
                <a:latin typeface="Liberation Sans"/>
              </a:rPr>
              <a:t>A balanced answer to the topic</a:t>
            </a:r>
          </a:p>
        </p:txBody>
      </p:sp>
      <p:cxnSp>
        <p:nvCxnSpPr>
          <p:cNvPr id="5" name="Connector 4"/>
          <p:cNvCxnSpPr/>
          <p:nvPr/>
        </p:nvCxnSpPr>
        <p:spPr>
          <a:xfrm>
            <a:off x="548640" y="6373368"/>
            <a:ext cx="11091672" cy="0"/>
          </a:xfrm>
          <a:prstGeom prst="line">
            <a:avLst/>
          </a:prstGeom>
          <a:ln w="12700">
            <a:solidFill>
              <a:srgbClr val="CBDBD2"/>
            </a:solidFill>
          </a:ln>
        </p:spPr>
        <p:style>
          <a:lnRef idx="2">
            <a:schemeClr val="accent1"/>
          </a:lnRef>
          <a:fillRef idx="0">
            <a:schemeClr val="accent1"/>
          </a:fillRef>
          <a:effectRef idx="0">
            <a:schemeClr val="accent1"/>
          </a:effectRef>
          <a:fontRef idx="minor">
            <a:schemeClr val="tx1"/>
          </a:fontRef>
        </p:style>
      </p:cxnSp>
      <p:sp>
        <p:nvSpPr>
          <p:cNvPr id="6" name="TextBox 5"/>
          <p:cNvSpPr txBox="1"/>
          <p:nvPr/>
        </p:nvSpPr>
        <p:spPr>
          <a:xfrm>
            <a:off x="594360" y="6464808"/>
            <a:ext cx="7955279" cy="182880"/>
          </a:xfrm>
          <a:prstGeom prst="rect">
            <a:avLst/>
          </a:prstGeom>
          <a:noFill/>
        </p:spPr>
        <p:txBody>
          <a:bodyPr wrap="square" lIns="0" rIns="0" tIns="0" bIns="0" anchor="t">
            <a:spAutoFit/>
          </a:bodyPr>
          <a:lstStyle/>
          <a:p>
            <a:pPr algn="l">
              <a:lnSpc>
                <a:spcPts val="1121"/>
              </a:lnSpc>
              <a:spcAft>
                <a:spcPts val="800"/>
              </a:spcAft>
            </a:pPr>
            <a:r>
              <a:rPr sz="950" b="0">
                <a:solidFill>
                  <a:srgbClr val="52635D"/>
                </a:solidFill>
                <a:latin typeface="Liberation Sans"/>
              </a:rPr>
              <a:t>Prachi Yadav  |  Fundamental of Genetics</a:t>
            </a:r>
          </a:p>
        </p:txBody>
      </p:sp>
      <p:sp>
        <p:nvSpPr>
          <p:cNvPr id="7" name="TextBox 6"/>
          <p:cNvSpPr txBox="1"/>
          <p:nvPr/>
        </p:nvSpPr>
        <p:spPr>
          <a:xfrm>
            <a:off x="8275320" y="6460236"/>
            <a:ext cx="2880360" cy="210312"/>
          </a:xfrm>
          <a:prstGeom prst="rect">
            <a:avLst/>
          </a:prstGeom>
          <a:noFill/>
        </p:spPr>
        <p:txBody>
          <a:bodyPr wrap="square" lIns="0" rIns="0" tIns="0" bIns="0" anchor="t">
            <a:spAutoFit/>
          </a:bodyPr>
          <a:lstStyle/>
          <a:p>
            <a:pPr algn="r">
              <a:lnSpc>
                <a:spcPts val="1180"/>
              </a:lnSpc>
              <a:spcAft>
                <a:spcPts val="800"/>
              </a:spcAft>
            </a:pPr>
            <a:r>
              <a:rPr sz="1000" b="0">
                <a:solidFill>
                  <a:srgbClr val="52635D"/>
                </a:solidFill>
                <a:latin typeface="Liberation Sans"/>
              </a:rPr>
              <a:t>Sources: [1], [6]</a:t>
            </a:r>
          </a:p>
        </p:txBody>
      </p:sp>
      <p:sp>
        <p:nvSpPr>
          <p:cNvPr id="8" name="TextBox 7"/>
          <p:cNvSpPr txBox="1"/>
          <p:nvPr/>
        </p:nvSpPr>
        <p:spPr>
          <a:xfrm>
            <a:off x="11228832" y="6460236"/>
            <a:ext cx="365760" cy="210312"/>
          </a:xfrm>
          <a:prstGeom prst="rect">
            <a:avLst/>
          </a:prstGeom>
          <a:noFill/>
        </p:spPr>
        <p:txBody>
          <a:bodyPr wrap="square" lIns="0" rIns="0" tIns="0" bIns="0" anchor="t">
            <a:spAutoFit/>
          </a:bodyPr>
          <a:lstStyle/>
          <a:p>
            <a:pPr algn="r">
              <a:lnSpc>
                <a:spcPts val="1180"/>
              </a:lnSpc>
              <a:spcAft>
                <a:spcPts val="800"/>
              </a:spcAft>
            </a:pPr>
            <a:r>
              <a:rPr sz="1000" b="0">
                <a:solidFill>
                  <a:srgbClr val="276452"/>
                </a:solidFill>
                <a:latin typeface="Liberation Sans"/>
              </a:rPr>
              <a:t>14</a:t>
            </a:r>
          </a:p>
        </p:txBody>
      </p:sp>
      <p:sp>
        <p:nvSpPr>
          <p:cNvPr id="9" name="Rectangle 8"/>
          <p:cNvSpPr/>
          <p:nvPr/>
        </p:nvSpPr>
        <p:spPr>
          <a:xfrm>
            <a:off x="685800" y="1472184"/>
            <a:ext cx="10808208" cy="1362456"/>
          </a:xfrm>
          <a:prstGeom prst="rect">
            <a:avLst/>
          </a:prstGeom>
          <a:solidFill>
            <a:srgbClr val="EEF5F1"/>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TextBox 9"/>
          <p:cNvSpPr txBox="1"/>
          <p:nvPr/>
        </p:nvSpPr>
        <p:spPr>
          <a:xfrm>
            <a:off x="886968" y="1636776"/>
            <a:ext cx="10405872" cy="402336"/>
          </a:xfrm>
          <a:prstGeom prst="rect">
            <a:avLst/>
          </a:prstGeom>
          <a:noFill/>
        </p:spPr>
        <p:txBody>
          <a:bodyPr wrap="square" lIns="0" rIns="0" tIns="0" bIns="0" anchor="t">
            <a:spAutoFit/>
          </a:bodyPr>
          <a:lstStyle/>
          <a:p>
            <a:pPr algn="l">
              <a:lnSpc>
                <a:spcPts val="2360"/>
              </a:lnSpc>
              <a:spcAft>
                <a:spcPts val="800"/>
              </a:spcAft>
            </a:pPr>
            <a:r>
              <a:rPr sz="2000" b="1">
                <a:solidFill>
                  <a:srgbClr val="276452"/>
                </a:solidFill>
                <a:latin typeface="Liberation Sans"/>
              </a:rPr>
              <a:t>Scientifically</a:t>
            </a:r>
          </a:p>
        </p:txBody>
      </p:sp>
      <p:sp>
        <p:nvSpPr>
          <p:cNvPr id="11" name="TextBox 10"/>
          <p:cNvSpPr txBox="1"/>
          <p:nvPr/>
        </p:nvSpPr>
        <p:spPr>
          <a:xfrm>
            <a:off x="886968" y="2075688"/>
            <a:ext cx="10405872" cy="603504"/>
          </a:xfrm>
          <a:prstGeom prst="rect">
            <a:avLst/>
          </a:prstGeom>
          <a:noFill/>
        </p:spPr>
        <p:txBody>
          <a:bodyPr wrap="square" lIns="0" rIns="0" tIns="0" bIns="0" anchor="t">
            <a:spAutoFit/>
          </a:bodyPr>
          <a:lstStyle/>
          <a:p>
            <a:pPr algn="l">
              <a:lnSpc>
                <a:spcPts val="2124"/>
              </a:lnSpc>
              <a:spcAft>
                <a:spcPts val="800"/>
              </a:spcAft>
            </a:pPr>
            <a:r>
              <a:rPr sz="1800" b="0">
                <a:solidFill>
                  <a:srgbClr val="24312E"/>
                </a:solidFill>
                <a:latin typeface="Liberation Sans"/>
              </a:rPr>
              <a:t>Using tests to guide embryo selection can reduce some inherited disease risks. Complex traits remain hard to predict. No test guarantees health.</a:t>
            </a:r>
          </a:p>
        </p:txBody>
      </p:sp>
      <p:sp>
        <p:nvSpPr>
          <p:cNvPr id="12" name="Rectangle 11"/>
          <p:cNvSpPr/>
          <p:nvPr/>
        </p:nvSpPr>
        <p:spPr>
          <a:xfrm>
            <a:off x="685800" y="3035808"/>
            <a:ext cx="10808208" cy="1362456"/>
          </a:xfrm>
          <a:prstGeom prst="rect">
            <a:avLst/>
          </a:prstGeom>
          <a:solidFill>
            <a:srgbClr val="EEF5F1"/>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886968" y="3200400"/>
            <a:ext cx="10405872" cy="402336"/>
          </a:xfrm>
          <a:prstGeom prst="rect">
            <a:avLst/>
          </a:prstGeom>
          <a:noFill/>
        </p:spPr>
        <p:txBody>
          <a:bodyPr wrap="square" lIns="0" rIns="0" tIns="0" bIns="0" anchor="t">
            <a:spAutoFit/>
          </a:bodyPr>
          <a:lstStyle/>
          <a:p>
            <a:pPr algn="l">
              <a:lnSpc>
                <a:spcPts val="2360"/>
              </a:lnSpc>
              <a:spcAft>
                <a:spcPts val="800"/>
              </a:spcAft>
            </a:pPr>
            <a:r>
              <a:rPr sz="2000" b="1">
                <a:solidFill>
                  <a:srgbClr val="276452"/>
                </a:solidFill>
                <a:latin typeface="Liberation Sans"/>
              </a:rPr>
              <a:t>Ethically</a:t>
            </a:r>
          </a:p>
        </p:txBody>
      </p:sp>
      <p:sp>
        <p:nvSpPr>
          <p:cNvPr id="14" name="TextBox 13"/>
          <p:cNvSpPr txBox="1"/>
          <p:nvPr/>
        </p:nvSpPr>
        <p:spPr>
          <a:xfrm>
            <a:off x="886968" y="3639312"/>
            <a:ext cx="10405872" cy="603504"/>
          </a:xfrm>
          <a:prstGeom prst="rect">
            <a:avLst/>
          </a:prstGeom>
          <a:noFill/>
        </p:spPr>
        <p:txBody>
          <a:bodyPr wrap="square" lIns="0" rIns="0" tIns="0" bIns="0" anchor="t">
            <a:spAutoFit/>
          </a:bodyPr>
          <a:lstStyle/>
          <a:p>
            <a:pPr algn="l">
              <a:lnSpc>
                <a:spcPts val="2124"/>
              </a:lnSpc>
              <a:spcAft>
                <a:spcPts val="800"/>
              </a:spcAft>
            </a:pPr>
            <a:r>
              <a:rPr sz="1800" b="0">
                <a:solidFill>
                  <a:srgbClr val="24312E"/>
                </a:solidFill>
                <a:latin typeface="Liberation Sans"/>
              </a:rPr>
              <a:t>Voluntary choices may be acceptable with good evidence, counselling, and safeguards. Coercion and discrimination are not acceptable.</a:t>
            </a:r>
          </a:p>
        </p:txBody>
      </p:sp>
      <p:sp>
        <p:nvSpPr>
          <p:cNvPr id="15" name="Rectangle 14"/>
          <p:cNvSpPr/>
          <p:nvPr/>
        </p:nvSpPr>
        <p:spPr>
          <a:xfrm>
            <a:off x="685800" y="4718304"/>
            <a:ext cx="10808208" cy="1088136"/>
          </a:xfrm>
          <a:prstGeom prst="rect">
            <a:avLst/>
          </a:prstGeom>
          <a:solidFill>
            <a:srgbClr val="276452"/>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TextBox 15"/>
          <p:cNvSpPr txBox="1"/>
          <p:nvPr/>
        </p:nvSpPr>
        <p:spPr>
          <a:xfrm>
            <a:off x="941832" y="4928616"/>
            <a:ext cx="10287000" cy="676656"/>
          </a:xfrm>
          <a:prstGeom prst="rect">
            <a:avLst/>
          </a:prstGeom>
          <a:noFill/>
        </p:spPr>
        <p:txBody>
          <a:bodyPr wrap="square" lIns="0" rIns="0" tIns="0" bIns="0" anchor="t">
            <a:spAutoFit/>
          </a:bodyPr>
          <a:lstStyle/>
          <a:p>
            <a:pPr algn="ctr">
              <a:lnSpc>
                <a:spcPts val="2713"/>
              </a:lnSpc>
              <a:spcAft>
                <a:spcPts val="800"/>
              </a:spcAft>
            </a:pPr>
            <a:r>
              <a:rPr sz="2300" b="1">
                <a:solidFill>
                  <a:srgbClr val="FFFFFF"/>
                </a:solidFill>
                <a:latin typeface="Liberation Sans"/>
              </a:rPr>
              <a:t>Selective reproduction may sometimes be justified for a serious inherited condition—but never as a way to rank human worth.</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30352" y="393192"/>
            <a:ext cx="109728" cy="393192"/>
          </a:xfrm>
          <a:prstGeom prst="rect">
            <a:avLst/>
          </a:prstGeom>
          <a:solidFill>
            <a:srgbClr val="276452"/>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786384" y="347472"/>
            <a:ext cx="10835640" cy="512064"/>
          </a:xfrm>
          <a:prstGeom prst="rect">
            <a:avLst/>
          </a:prstGeom>
          <a:noFill/>
        </p:spPr>
        <p:txBody>
          <a:bodyPr wrap="square" lIns="0" rIns="0" tIns="0" bIns="0" anchor="t">
            <a:spAutoFit/>
          </a:bodyPr>
          <a:lstStyle/>
          <a:p>
            <a:pPr algn="l">
              <a:lnSpc>
                <a:spcPts val="3304"/>
              </a:lnSpc>
              <a:spcAft>
                <a:spcPts val="800"/>
              </a:spcAft>
            </a:pPr>
            <a:r>
              <a:rPr sz="2800" b="1">
                <a:solidFill>
                  <a:srgbClr val="24312E"/>
                </a:solidFill>
                <a:latin typeface="Liberation Sans"/>
              </a:rPr>
              <a:t>h. References</a:t>
            </a:r>
          </a:p>
        </p:txBody>
      </p:sp>
      <p:sp>
        <p:nvSpPr>
          <p:cNvPr id="4" name="TextBox 3"/>
          <p:cNvSpPr txBox="1"/>
          <p:nvPr/>
        </p:nvSpPr>
        <p:spPr>
          <a:xfrm>
            <a:off x="786384" y="905256"/>
            <a:ext cx="10789920" cy="274320"/>
          </a:xfrm>
          <a:prstGeom prst="rect">
            <a:avLst/>
          </a:prstGeom>
          <a:noFill/>
        </p:spPr>
        <p:txBody>
          <a:bodyPr wrap="square" lIns="0" rIns="0" tIns="0" bIns="0" anchor="t">
            <a:spAutoFit/>
          </a:bodyPr>
          <a:lstStyle/>
          <a:p>
            <a:pPr algn="l">
              <a:lnSpc>
                <a:spcPts val="1534"/>
              </a:lnSpc>
              <a:spcAft>
                <a:spcPts val="800"/>
              </a:spcAft>
            </a:pPr>
            <a:r>
              <a:rPr sz="1300" b="0">
                <a:solidFill>
                  <a:srgbClr val="52635D"/>
                </a:solidFill>
                <a:latin typeface="Liberation Sans"/>
              </a:rPr>
              <a:t>One research paper and supporting sources</a:t>
            </a:r>
          </a:p>
        </p:txBody>
      </p:sp>
      <p:cxnSp>
        <p:nvCxnSpPr>
          <p:cNvPr id="5" name="Connector 4"/>
          <p:cNvCxnSpPr/>
          <p:nvPr/>
        </p:nvCxnSpPr>
        <p:spPr>
          <a:xfrm>
            <a:off x="548640" y="6373368"/>
            <a:ext cx="11091672" cy="0"/>
          </a:xfrm>
          <a:prstGeom prst="line">
            <a:avLst/>
          </a:prstGeom>
          <a:ln w="12700">
            <a:solidFill>
              <a:srgbClr val="CBDBD2"/>
            </a:solidFill>
          </a:ln>
        </p:spPr>
        <p:style>
          <a:lnRef idx="2">
            <a:schemeClr val="accent1"/>
          </a:lnRef>
          <a:fillRef idx="0">
            <a:schemeClr val="accent1"/>
          </a:fillRef>
          <a:effectRef idx="0">
            <a:schemeClr val="accent1"/>
          </a:effectRef>
          <a:fontRef idx="minor">
            <a:schemeClr val="tx1"/>
          </a:fontRef>
        </p:style>
      </p:cxnSp>
      <p:sp>
        <p:nvSpPr>
          <p:cNvPr id="6" name="TextBox 5"/>
          <p:cNvSpPr txBox="1"/>
          <p:nvPr/>
        </p:nvSpPr>
        <p:spPr>
          <a:xfrm>
            <a:off x="594360" y="6464808"/>
            <a:ext cx="7955279" cy="182880"/>
          </a:xfrm>
          <a:prstGeom prst="rect">
            <a:avLst/>
          </a:prstGeom>
          <a:noFill/>
        </p:spPr>
        <p:txBody>
          <a:bodyPr wrap="square" lIns="0" rIns="0" tIns="0" bIns="0" anchor="t">
            <a:spAutoFit/>
          </a:bodyPr>
          <a:lstStyle/>
          <a:p>
            <a:pPr algn="l">
              <a:lnSpc>
                <a:spcPts val="1121"/>
              </a:lnSpc>
              <a:spcAft>
                <a:spcPts val="800"/>
              </a:spcAft>
            </a:pPr>
            <a:r>
              <a:rPr sz="950" b="0">
                <a:solidFill>
                  <a:srgbClr val="52635D"/>
                </a:solidFill>
                <a:latin typeface="Liberation Sans"/>
              </a:rPr>
              <a:t>Prachi Yadav  |  Fundamental of Genetics</a:t>
            </a:r>
          </a:p>
        </p:txBody>
      </p:sp>
      <p:sp>
        <p:nvSpPr>
          <p:cNvPr id="7" name="TextBox 6"/>
          <p:cNvSpPr txBox="1"/>
          <p:nvPr/>
        </p:nvSpPr>
        <p:spPr>
          <a:xfrm>
            <a:off x="11228832" y="6460236"/>
            <a:ext cx="365760" cy="210312"/>
          </a:xfrm>
          <a:prstGeom prst="rect">
            <a:avLst/>
          </a:prstGeom>
          <a:noFill/>
        </p:spPr>
        <p:txBody>
          <a:bodyPr wrap="square" lIns="0" rIns="0" tIns="0" bIns="0" anchor="t">
            <a:spAutoFit/>
          </a:bodyPr>
          <a:lstStyle/>
          <a:p>
            <a:pPr algn="r">
              <a:lnSpc>
                <a:spcPts val="1180"/>
              </a:lnSpc>
              <a:spcAft>
                <a:spcPts val="800"/>
              </a:spcAft>
            </a:pPr>
            <a:r>
              <a:rPr sz="1000" b="0">
                <a:solidFill>
                  <a:srgbClr val="276452"/>
                </a:solidFill>
                <a:latin typeface="Liberation Sans"/>
              </a:rPr>
              <a:t>15</a:t>
            </a:r>
          </a:p>
        </p:txBody>
      </p:sp>
      <p:sp>
        <p:nvSpPr>
          <p:cNvPr id="8" name="Rectangle 7"/>
          <p:cNvSpPr/>
          <p:nvPr/>
        </p:nvSpPr>
        <p:spPr>
          <a:xfrm>
            <a:off x="640080" y="1321308"/>
            <a:ext cx="10917936" cy="932688"/>
          </a:xfrm>
          <a:prstGeom prst="rect">
            <a:avLst/>
          </a:prstGeom>
          <a:solidFill>
            <a:srgbClr val="EEF5F1"/>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777240" y="1385316"/>
            <a:ext cx="10607040" cy="557784"/>
          </a:xfrm>
          <a:prstGeom prst="rect">
            <a:avLst/>
          </a:prstGeom>
          <a:noFill/>
        </p:spPr>
        <p:txBody>
          <a:bodyPr wrap="square" lIns="0" rIns="0" tIns="0" bIns="0" anchor="t">
            <a:spAutoFit/>
          </a:bodyPr>
          <a:lstStyle/>
          <a:p>
            <a:pPr algn="l">
              <a:lnSpc>
                <a:spcPts val="1829"/>
              </a:lnSpc>
              <a:spcAft>
                <a:spcPts val="800"/>
              </a:spcAft>
            </a:pPr>
            <a:r>
              <a:rPr sz="1550" b="0">
                <a:solidFill>
                  <a:srgbClr val="24312E"/>
                </a:solidFill>
                <a:latin typeface="Liberation Sans"/>
              </a:rPr>
              <a:t>[1] Lencz, T., Backenroth, D., Granot-Hershkovitz, E., et al. Utility of polygenic embryo screening for disease depends on the selection strategy. eLife, 10, e64716.</a:t>
            </a:r>
          </a:p>
        </p:txBody>
      </p:sp>
      <p:sp>
        <p:nvSpPr>
          <p:cNvPr id="10" name="TextBox 9"/>
          <p:cNvSpPr txBox="1"/>
          <p:nvPr/>
        </p:nvSpPr>
        <p:spPr>
          <a:xfrm>
            <a:off x="777240" y="1965960"/>
            <a:ext cx="10607040" cy="219456"/>
          </a:xfrm>
          <a:prstGeom prst="rect">
            <a:avLst/>
          </a:prstGeom>
          <a:noFill/>
        </p:spPr>
        <p:txBody>
          <a:bodyPr wrap="square" lIns="0" rIns="0" tIns="0" bIns="0" anchor="t">
            <a:spAutoFit/>
          </a:bodyPr>
          <a:lstStyle/>
          <a:p>
            <a:pPr algn="l">
              <a:lnSpc>
                <a:spcPts val="1416"/>
              </a:lnSpc>
              <a:spcAft>
                <a:spcPts val="800"/>
              </a:spcAft>
            </a:pPr>
            <a:r>
              <a:rPr sz="1200" b="0">
                <a:solidFill>
                  <a:srgbClr val="276452"/>
                </a:solidFill>
                <a:latin typeface="Liberation Sans"/>
                <a:hlinkClick r:id="rId2"/>
              </a:rPr>
              <a:t>DOI: 10.7554/eLife.64716</a:t>
            </a:r>
          </a:p>
        </p:txBody>
      </p:sp>
      <p:sp>
        <p:nvSpPr>
          <p:cNvPr id="11" name="TextBox 10"/>
          <p:cNvSpPr txBox="1"/>
          <p:nvPr/>
        </p:nvSpPr>
        <p:spPr>
          <a:xfrm>
            <a:off x="777240" y="2372868"/>
            <a:ext cx="10607040" cy="301752"/>
          </a:xfrm>
          <a:prstGeom prst="rect">
            <a:avLst/>
          </a:prstGeom>
          <a:noFill/>
        </p:spPr>
        <p:txBody>
          <a:bodyPr wrap="square" lIns="0" rIns="0" tIns="0" bIns="0" anchor="t">
            <a:spAutoFit/>
          </a:bodyPr>
          <a:lstStyle/>
          <a:p>
            <a:pPr algn="l">
              <a:lnSpc>
                <a:spcPts val="1817"/>
              </a:lnSpc>
              <a:spcAft>
                <a:spcPts val="800"/>
              </a:spcAft>
            </a:pPr>
            <a:r>
              <a:rPr sz="1540" b="0">
                <a:solidFill>
                  <a:srgbClr val="24312E"/>
                </a:solidFill>
                <a:latin typeface="Liberation Sans"/>
              </a:rPr>
              <a:t>[2] GeneReviews®. HEXA Disorders. NCBI Bookshelf.</a:t>
            </a:r>
          </a:p>
        </p:txBody>
      </p:sp>
      <p:sp>
        <p:nvSpPr>
          <p:cNvPr id="12" name="TextBox 11"/>
          <p:cNvSpPr txBox="1"/>
          <p:nvPr/>
        </p:nvSpPr>
        <p:spPr>
          <a:xfrm>
            <a:off x="777240" y="2706624"/>
            <a:ext cx="10607040" cy="219456"/>
          </a:xfrm>
          <a:prstGeom prst="rect">
            <a:avLst/>
          </a:prstGeom>
          <a:noFill/>
        </p:spPr>
        <p:txBody>
          <a:bodyPr wrap="square" lIns="0" rIns="0" tIns="0" bIns="0" anchor="t">
            <a:spAutoFit/>
          </a:bodyPr>
          <a:lstStyle/>
          <a:p>
            <a:pPr algn="l">
              <a:lnSpc>
                <a:spcPts val="1416"/>
              </a:lnSpc>
              <a:spcAft>
                <a:spcPts val="800"/>
              </a:spcAft>
            </a:pPr>
            <a:r>
              <a:rPr sz="1200" b="0">
                <a:solidFill>
                  <a:srgbClr val="276452"/>
                </a:solidFill>
                <a:latin typeface="Liberation Sans"/>
                <a:hlinkClick r:id="rId3"/>
              </a:rPr>
              <a:t>Open source</a:t>
            </a:r>
          </a:p>
        </p:txBody>
      </p:sp>
      <p:sp>
        <p:nvSpPr>
          <p:cNvPr id="13" name="Rectangle 12"/>
          <p:cNvSpPr/>
          <p:nvPr/>
        </p:nvSpPr>
        <p:spPr>
          <a:xfrm>
            <a:off x="640080" y="3031236"/>
            <a:ext cx="10917936" cy="667512"/>
          </a:xfrm>
          <a:prstGeom prst="rect">
            <a:avLst/>
          </a:prstGeom>
          <a:solidFill>
            <a:srgbClr val="EEF5F1"/>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TextBox 13"/>
          <p:cNvSpPr txBox="1"/>
          <p:nvPr/>
        </p:nvSpPr>
        <p:spPr>
          <a:xfrm>
            <a:off x="777240" y="3095244"/>
            <a:ext cx="10607040" cy="301752"/>
          </a:xfrm>
          <a:prstGeom prst="rect">
            <a:avLst/>
          </a:prstGeom>
          <a:noFill/>
        </p:spPr>
        <p:txBody>
          <a:bodyPr wrap="square" lIns="0" rIns="0" tIns="0" bIns="0" anchor="t">
            <a:spAutoFit/>
          </a:bodyPr>
          <a:lstStyle/>
          <a:p>
            <a:pPr algn="l">
              <a:lnSpc>
                <a:spcPts val="1817"/>
              </a:lnSpc>
              <a:spcAft>
                <a:spcPts val="800"/>
              </a:spcAft>
            </a:pPr>
            <a:r>
              <a:rPr sz="1540" b="0">
                <a:solidFill>
                  <a:srgbClr val="24312E"/>
                </a:solidFill>
                <a:latin typeface="Liberation Sans"/>
              </a:rPr>
              <a:t>[3] Human Fertilisation and Embryology Authority. PGT-M and PGT-SR: patient information.</a:t>
            </a:r>
          </a:p>
        </p:txBody>
      </p:sp>
      <p:sp>
        <p:nvSpPr>
          <p:cNvPr id="15" name="TextBox 14"/>
          <p:cNvSpPr txBox="1"/>
          <p:nvPr/>
        </p:nvSpPr>
        <p:spPr>
          <a:xfrm>
            <a:off x="777240" y="3429000"/>
            <a:ext cx="10607040" cy="219456"/>
          </a:xfrm>
          <a:prstGeom prst="rect">
            <a:avLst/>
          </a:prstGeom>
          <a:noFill/>
        </p:spPr>
        <p:txBody>
          <a:bodyPr wrap="square" lIns="0" rIns="0" tIns="0" bIns="0" anchor="t">
            <a:spAutoFit/>
          </a:bodyPr>
          <a:lstStyle/>
          <a:p>
            <a:pPr algn="l">
              <a:lnSpc>
                <a:spcPts val="1416"/>
              </a:lnSpc>
              <a:spcAft>
                <a:spcPts val="800"/>
              </a:spcAft>
            </a:pPr>
            <a:r>
              <a:rPr sz="1200" b="0">
                <a:solidFill>
                  <a:srgbClr val="276452"/>
                </a:solidFill>
                <a:latin typeface="Liberation Sans"/>
                <a:hlinkClick r:id="rId4"/>
              </a:rPr>
              <a:t>Open source</a:t>
            </a:r>
          </a:p>
        </p:txBody>
      </p:sp>
      <p:sp>
        <p:nvSpPr>
          <p:cNvPr id="16" name="TextBox 15"/>
          <p:cNvSpPr txBox="1"/>
          <p:nvPr/>
        </p:nvSpPr>
        <p:spPr>
          <a:xfrm>
            <a:off x="777240" y="3817620"/>
            <a:ext cx="10607040" cy="301752"/>
          </a:xfrm>
          <a:prstGeom prst="rect">
            <a:avLst/>
          </a:prstGeom>
          <a:noFill/>
        </p:spPr>
        <p:txBody>
          <a:bodyPr wrap="square" lIns="0" rIns="0" tIns="0" bIns="0" anchor="t">
            <a:spAutoFit/>
          </a:bodyPr>
          <a:lstStyle/>
          <a:p>
            <a:pPr algn="l">
              <a:lnSpc>
                <a:spcPts val="1817"/>
              </a:lnSpc>
              <a:spcAft>
                <a:spcPts val="800"/>
              </a:spcAft>
            </a:pPr>
            <a:r>
              <a:rPr sz="1540" b="0">
                <a:solidFill>
                  <a:srgbClr val="24312E"/>
                </a:solidFill>
                <a:latin typeface="Liberation Sans"/>
              </a:rPr>
              <a:t>[4] World Health Organization. Human Genome Editing: Recommendations.</a:t>
            </a:r>
          </a:p>
        </p:txBody>
      </p:sp>
      <p:sp>
        <p:nvSpPr>
          <p:cNvPr id="17" name="TextBox 16"/>
          <p:cNvSpPr txBox="1"/>
          <p:nvPr/>
        </p:nvSpPr>
        <p:spPr>
          <a:xfrm>
            <a:off x="777240" y="4151376"/>
            <a:ext cx="10607040" cy="219456"/>
          </a:xfrm>
          <a:prstGeom prst="rect">
            <a:avLst/>
          </a:prstGeom>
          <a:noFill/>
        </p:spPr>
        <p:txBody>
          <a:bodyPr wrap="square" lIns="0" rIns="0" tIns="0" bIns="0" anchor="t">
            <a:spAutoFit/>
          </a:bodyPr>
          <a:lstStyle/>
          <a:p>
            <a:pPr algn="l">
              <a:lnSpc>
                <a:spcPts val="1416"/>
              </a:lnSpc>
              <a:spcAft>
                <a:spcPts val="800"/>
              </a:spcAft>
            </a:pPr>
            <a:r>
              <a:rPr sz="1200" b="0">
                <a:solidFill>
                  <a:srgbClr val="276452"/>
                </a:solidFill>
                <a:latin typeface="Liberation Sans"/>
                <a:hlinkClick r:id="rId5"/>
              </a:rPr>
              <a:t>Open source</a:t>
            </a:r>
          </a:p>
        </p:txBody>
      </p:sp>
      <p:sp>
        <p:nvSpPr>
          <p:cNvPr id="18" name="Rectangle 17"/>
          <p:cNvSpPr/>
          <p:nvPr/>
        </p:nvSpPr>
        <p:spPr>
          <a:xfrm>
            <a:off x="640080" y="4475988"/>
            <a:ext cx="10917936" cy="667512"/>
          </a:xfrm>
          <a:prstGeom prst="rect">
            <a:avLst/>
          </a:prstGeom>
          <a:solidFill>
            <a:srgbClr val="EEF5F1"/>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777240" y="4539996"/>
            <a:ext cx="10607040" cy="301752"/>
          </a:xfrm>
          <a:prstGeom prst="rect">
            <a:avLst/>
          </a:prstGeom>
          <a:noFill/>
        </p:spPr>
        <p:txBody>
          <a:bodyPr wrap="square" lIns="0" rIns="0" tIns="0" bIns="0" anchor="t">
            <a:spAutoFit/>
          </a:bodyPr>
          <a:lstStyle/>
          <a:p>
            <a:pPr algn="l">
              <a:lnSpc>
                <a:spcPts val="1817"/>
              </a:lnSpc>
              <a:spcAft>
                <a:spcPts val="800"/>
              </a:spcAft>
            </a:pPr>
            <a:r>
              <a:rPr sz="1540" b="0">
                <a:solidFill>
                  <a:srgbClr val="24312E"/>
                </a:solidFill>
                <a:latin typeface="Liberation Sans"/>
              </a:rPr>
              <a:t>[5] United States Holocaust Memorial Museum. Eugenics. Holocaust Encyclopedia.</a:t>
            </a:r>
          </a:p>
        </p:txBody>
      </p:sp>
      <p:sp>
        <p:nvSpPr>
          <p:cNvPr id="20" name="TextBox 19"/>
          <p:cNvSpPr txBox="1"/>
          <p:nvPr/>
        </p:nvSpPr>
        <p:spPr>
          <a:xfrm>
            <a:off x="777240" y="4873752"/>
            <a:ext cx="10607040" cy="219456"/>
          </a:xfrm>
          <a:prstGeom prst="rect">
            <a:avLst/>
          </a:prstGeom>
          <a:noFill/>
        </p:spPr>
        <p:txBody>
          <a:bodyPr wrap="square" lIns="0" rIns="0" tIns="0" bIns="0" anchor="t">
            <a:spAutoFit/>
          </a:bodyPr>
          <a:lstStyle/>
          <a:p>
            <a:pPr algn="l">
              <a:lnSpc>
                <a:spcPts val="1416"/>
              </a:lnSpc>
              <a:spcAft>
                <a:spcPts val="800"/>
              </a:spcAft>
            </a:pPr>
            <a:r>
              <a:rPr sz="1200" b="0">
                <a:solidFill>
                  <a:srgbClr val="276452"/>
                </a:solidFill>
                <a:latin typeface="Liberation Sans"/>
                <a:hlinkClick r:id="rId6"/>
              </a:rPr>
              <a:t>Open source</a:t>
            </a:r>
          </a:p>
        </p:txBody>
      </p:sp>
      <p:sp>
        <p:nvSpPr>
          <p:cNvPr id="21" name="TextBox 20"/>
          <p:cNvSpPr txBox="1"/>
          <p:nvPr/>
        </p:nvSpPr>
        <p:spPr>
          <a:xfrm>
            <a:off x="777240" y="5262372"/>
            <a:ext cx="10607040" cy="301752"/>
          </a:xfrm>
          <a:prstGeom prst="rect">
            <a:avLst/>
          </a:prstGeom>
          <a:noFill/>
        </p:spPr>
        <p:txBody>
          <a:bodyPr wrap="square" lIns="0" rIns="0" tIns="0" bIns="0" anchor="t">
            <a:spAutoFit/>
          </a:bodyPr>
          <a:lstStyle/>
          <a:p>
            <a:pPr algn="l">
              <a:lnSpc>
                <a:spcPts val="1817"/>
              </a:lnSpc>
              <a:spcAft>
                <a:spcPts val="800"/>
              </a:spcAft>
            </a:pPr>
            <a:r>
              <a:rPr sz="1540" b="0">
                <a:solidFill>
                  <a:srgbClr val="24312E"/>
                </a:solidFill>
                <a:latin typeface="Liberation Sans"/>
              </a:rPr>
              <a:t>[6] United Nations. Convention on the Rights of Persons with Disabilities, Article 23.</a:t>
            </a:r>
          </a:p>
        </p:txBody>
      </p:sp>
      <p:sp>
        <p:nvSpPr>
          <p:cNvPr id="22" name="TextBox 21"/>
          <p:cNvSpPr txBox="1"/>
          <p:nvPr/>
        </p:nvSpPr>
        <p:spPr>
          <a:xfrm>
            <a:off x="777240" y="5596128"/>
            <a:ext cx="10607040" cy="219456"/>
          </a:xfrm>
          <a:prstGeom prst="rect">
            <a:avLst/>
          </a:prstGeom>
          <a:noFill/>
        </p:spPr>
        <p:txBody>
          <a:bodyPr wrap="square" lIns="0" rIns="0" tIns="0" bIns="0" anchor="t">
            <a:spAutoFit/>
          </a:bodyPr>
          <a:lstStyle/>
          <a:p>
            <a:pPr algn="l">
              <a:lnSpc>
                <a:spcPts val="1416"/>
              </a:lnSpc>
              <a:spcAft>
                <a:spcPts val="800"/>
              </a:spcAft>
            </a:pPr>
            <a:r>
              <a:rPr sz="1200" b="0">
                <a:solidFill>
                  <a:srgbClr val="276452"/>
                </a:solidFill>
                <a:latin typeface="Liberation Sans"/>
                <a:hlinkClick r:id="rId7"/>
              </a:rPr>
              <a:t>Open source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Eugenics: Can selective reproduction ever be scientifically or ethically justified?</dc:title>
  <dc:subject>Fundamental of Genetics report file</dc:subject>
  <dc:creator>Prachi Yadav</dc:creator>
  <cp:keywords>Genetics, Eugenics, Reproductive ethics</cp:keywords>
  <dc:description/>
  <cp:lastModifiedBy>Steve Canny</cp:lastModifiedBy>
  <cp:revision>1</cp:revision>
  <cp:category/>
</cp:coreProperties>
</file>